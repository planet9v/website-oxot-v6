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up front as a demo. It is a walkthrough of the onboarding process running on an example facility we built ourselves — not a client model, not the twin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what it is and is not. The real twin carries their live data and produces the full artifact set — shown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badges are the two client workshops. Each phase ends in something the client can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three steps live if you can. Toggling one service is the moment people understand what a typed connection register buys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Colouring by zone is the moment the site stops being a picture and becomes an IEC 62443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busway comparison is the strongest moment in the demo — isolation demonstrated rather than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 and provenance is what earns trust with engineers — every number says where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makes OT risk difficult, in one place. Two independent cells is how hyperscalers actually build — which gives the demo a question worth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how little is needed to start. Design documents and ICDs are enough — the first workshop follows within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436540"/>
            <a:ext cx="17183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spc="390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3179490"/>
            <a:ext cx="16089630" cy="2118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81"/>
              </a:lnSpc>
              <a:buNone/>
            </a:pPr>
            <a:r>
              <a:rPr lang="en-US" sz="7800" b="1" spc="-234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we onboard a Cyber Digital Twin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333500" y="5678760"/>
            <a:ext cx="1134122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two workshops — walked through on one worked example: a hyperscale AI datacentre.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333500" y="7317060"/>
            <a:ext cx="7396386" cy="533400"/>
          </a:xfrm>
          <a:prstGeom prst="roundRect">
            <a:avLst>
              <a:gd name="adj" fmla="val 14286"/>
            </a:avLst>
          </a:prstGeom>
          <a:ln w="19050">
            <a:solidFill>
              <a:srgbClr val="C8C4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150" y="7469460"/>
            <a:ext cx="71229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spc="144" kern="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 — NOT A LIVE CLIENT MODEL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410123"/>
            <a:ext cx="1718310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803"/>
              </a:lnSpc>
              <a:buNone/>
            </a:pPr>
            <a:r>
              <a:rPr lang="en-US" sz="4650" b="1" spc="-112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walkthrough is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333500" y="3604915"/>
            <a:ext cx="7648575" cy="334803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6933902"/>
            <a:ext cx="7648575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3604915"/>
            <a:ext cx="7648575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3604915"/>
            <a:ext cx="57150" cy="3348038"/>
          </a:xfrm>
          <a:prstGeom prst="rect">
            <a:avLst/>
          </a:prstGeom>
          <a:solidFill>
            <a:srgbClr val="EE7623"/>
          </a:solidFill>
          <a:ln/>
        </p:spPr>
      </p:sp>
      <p:sp>
        <p:nvSpPr>
          <p:cNvPr id="7" name="Shape 5"/>
          <p:cNvSpPr/>
          <p:nvPr/>
        </p:nvSpPr>
        <p:spPr>
          <a:xfrm>
            <a:off x="8963025" y="3604915"/>
            <a:ext cx="19050" cy="3348038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Text 6"/>
          <p:cNvSpPr/>
          <p:nvPr/>
        </p:nvSpPr>
        <p:spPr>
          <a:xfrm>
            <a:off x="1752600" y="3947815"/>
            <a:ext cx="75333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b="1" spc="21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52600" y="4366915"/>
            <a:ext cx="70539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tour of the onboarding method, running on an example facility we built ourselves.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752600" y="5367040"/>
            <a:ext cx="70539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limited — enough interaction to show what the method feels like, and no more.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305925" y="3604915"/>
            <a:ext cx="7648575" cy="3348038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05925" y="6933902"/>
            <a:ext cx="7648575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05925" y="3604915"/>
            <a:ext cx="7648575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9305925" y="3604915"/>
            <a:ext cx="57150" cy="3348038"/>
          </a:xfrm>
          <a:prstGeom prst="rect">
            <a:avLst/>
          </a:prstGeom>
          <a:solidFill>
            <a:srgbClr val="C8C4B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35450" y="3604915"/>
            <a:ext cx="19050" cy="3348038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9725025" y="3947815"/>
            <a:ext cx="75333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b="1" spc="215" kern="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25025" y="4366915"/>
            <a:ext cx="70539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Cyber Digital Twin itself, which carries your live asset data, configurations, bills of material and threat intelligence.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725025" y="5781377"/>
            <a:ext cx="70539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produces the full artifact set, and we show it separately.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333500" y="7448252"/>
            <a:ext cx="163449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facility will look nothing like the example. The process is the same.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81050"/>
            <a:ext cx="182308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56"/>
              </a:lnSpc>
              <a:buNone/>
            </a:pPr>
            <a:r>
              <a:rPr lang="en-US" sz="4650" b="1" spc="-112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two workshops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57250" y="1583010"/>
            <a:ext cx="164287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workshops are where the model meets the people who run the plant — and where it gets corrected.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57250" y="2459310"/>
            <a:ext cx="3971925" cy="704664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2050" y="2783160"/>
            <a:ext cx="438150" cy="438150"/>
          </a:xfrm>
          <a:prstGeom prst="roundRect">
            <a:avLst>
              <a:gd name="adj" fmla="val 19565"/>
            </a:avLst>
          </a:prstGeom>
          <a:solidFill>
            <a:srgbClr val="E8E5DF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78316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3550" y="2906985"/>
            <a:ext cx="8458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spc="195" kern="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2050" y="3430860"/>
            <a:ext cx="3698558" cy="420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7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Model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62050" y="3984427"/>
            <a:ext cx="346319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your design documents into something you can walk through.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62050" y="8542139"/>
            <a:ext cx="346319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A34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list · Connection register · Navigable model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57775" y="2459310"/>
            <a:ext cx="3971925" cy="7046640"/>
          </a:xfrm>
          <a:prstGeom prst="roundRect">
            <a:avLst>
              <a:gd name="adj" fmla="val 2398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2575" y="2783160"/>
            <a:ext cx="438150" cy="438150"/>
          </a:xfrm>
          <a:prstGeom prst="roundRect">
            <a:avLst>
              <a:gd name="adj" fmla="val 19565"/>
            </a:avLst>
          </a:prstGeom>
          <a:solidFill>
            <a:srgbClr val="EE7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324475" y="278316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34075" y="2906985"/>
            <a:ext cx="14637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spc="19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62575" y="3430860"/>
            <a:ext cx="3463195" cy="802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7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 · Initial Risk Assessment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362575" y="4366543"/>
            <a:ext cx="346319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the model, then walk the floor, and correct it to as-is.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362575" y="8542139"/>
            <a:ext cx="346319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A34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and conduits · SL-T per zone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58300" y="2459310"/>
            <a:ext cx="3971925" cy="704664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63100" y="2783160"/>
            <a:ext cx="438150" cy="438150"/>
          </a:xfrm>
          <a:prstGeom prst="roundRect">
            <a:avLst>
              <a:gd name="adj" fmla="val 19565"/>
            </a:avLst>
          </a:prstGeom>
          <a:solidFill>
            <a:srgbClr val="E8E5DF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278316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34600" y="2906985"/>
            <a:ext cx="8458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spc="195" kern="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63100" y="3430860"/>
            <a:ext cx="3463195" cy="802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7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Risk Assessment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563100" y="4366543"/>
            <a:ext cx="346319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load your safety and reliability work, then ask what failure costs.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563100" y="8542139"/>
            <a:ext cx="346319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A34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 · Threat pathways · Consequence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458825" y="2459310"/>
            <a:ext cx="3971925" cy="7046640"/>
          </a:xfrm>
          <a:prstGeom prst="roundRect">
            <a:avLst>
              <a:gd name="adj" fmla="val 2398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63625" y="2783160"/>
            <a:ext cx="438150" cy="438150"/>
          </a:xfrm>
          <a:prstGeom prst="roundRect">
            <a:avLst>
              <a:gd name="adj" fmla="val 19565"/>
            </a:avLst>
          </a:prstGeom>
          <a:solidFill>
            <a:srgbClr val="EE7623"/>
          </a:solidFill>
          <a:ln/>
        </p:spPr>
      </p:sp>
      <p:sp>
        <p:nvSpPr>
          <p:cNvPr id="27" name="Text 25"/>
          <p:cNvSpPr/>
          <p:nvPr/>
        </p:nvSpPr>
        <p:spPr>
          <a:xfrm>
            <a:off x="13725525" y="278316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335125" y="2906985"/>
            <a:ext cx="14637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spc="19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63625" y="3430860"/>
            <a:ext cx="3698558" cy="420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7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WS-2 · Risk Alignment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3763625" y="3984427"/>
            <a:ext cx="346319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the consequence, then agree what is reasonable to do about it.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3763625" y="8542139"/>
            <a:ext cx="346319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A34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ZCR diagram · Agreed SL-C · NOW / NEXT / NEVER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1818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E8E5D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181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76400" y="781050"/>
            <a:ext cx="302824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Model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52500" y="1522065"/>
            <a:ext cx="151923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in, queryable model out. Nothing is asked of your team yet.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2379762"/>
            <a:ext cx="6833220" cy="71261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50" y="2979837"/>
            <a:ext cx="6795120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589312"/>
            <a:ext cx="64655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8A8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ENGAGEMENT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38250" y="3265587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HLD, DLD and interface control documents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38250" y="4227612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out every asset and every connection between them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38250" y="5189637"/>
            <a:ext cx="68878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each link by service and protocol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38250" y="5765899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geometry so each component can be selected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090520" y="2379762"/>
            <a:ext cx="9244980" cy="7126188"/>
          </a:xfrm>
          <a:prstGeom prst="roundRect">
            <a:avLst>
              <a:gd name="adj" fmla="val 1337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9570" y="2979837"/>
            <a:ext cx="9206880" cy="19050"/>
          </a:xfrm>
          <a:prstGeom prst="rect">
            <a:avLst/>
          </a:prstGeom>
          <a:solidFill>
            <a:srgbClr val="F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8376270" y="2589312"/>
            <a:ext cx="89496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THE MODEL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8376270" y="3265587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220" y="3284637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6820" y="3265587"/>
            <a:ext cx="815542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Fit campus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966820" y="3682752"/>
            <a:ext cx="815542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site: power yard, chiller plant, data hall, support rooms.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376270" y="4256633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220" y="427568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966820" y="4256633"/>
            <a:ext cx="863935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a service — Electricity, then Cooling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8966820" y="4673798"/>
            <a:ext cx="863935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that system lights up. This is how we check a model is complete.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376270" y="5247680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220" y="526673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6820" y="5247680"/>
            <a:ext cx="872669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cabinet, then open Asset List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8966820" y="5664845"/>
            <a:ext cx="872669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Zone, vendor, protocol and firmware — the register behind the picture.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1818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EE7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181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76400" y="781050"/>
            <a:ext cx="7872286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 · Initial Risk Assessment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52500" y="1522065"/>
            <a:ext cx="151923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the model, then walk the floor, and correct it to as-is.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2379762"/>
            <a:ext cx="6833220" cy="71261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50" y="2979837"/>
            <a:ext cx="6795120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589312"/>
            <a:ext cx="64655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8A8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ENGAGEMENT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38250" y="3265587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model with the people who run the plant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38250" y="4227612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floor and fix what the documents got wrong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38250" y="5189637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threat using comparative sector data rather than worst case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38250" y="6151662"/>
            <a:ext cx="68878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initial zones, conduits and SL-T targets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090520" y="2379762"/>
            <a:ext cx="9244980" cy="7126188"/>
          </a:xfrm>
          <a:prstGeom prst="roundRect">
            <a:avLst>
              <a:gd name="adj" fmla="val 1337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9570" y="2979837"/>
            <a:ext cx="9206880" cy="19050"/>
          </a:xfrm>
          <a:prstGeom prst="rect">
            <a:avLst/>
          </a:prstGeom>
          <a:solidFill>
            <a:srgbClr val="F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8376270" y="2589312"/>
            <a:ext cx="89496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THE MODEL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8376270" y="3265587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220" y="3284637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6820" y="3265587"/>
            <a:ext cx="80075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by IEC 62443 Zone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966820" y="3682752"/>
            <a:ext cx="800751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re-reads as zones — IT estate, OT boundary, plant floor.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376270" y="4256633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220" y="427568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966820" y="4256633"/>
            <a:ext cx="88912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Conduits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8966820" y="4673798"/>
            <a:ext cx="832541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crossing between zones. These are what a workshop argues about.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376270" y="5592961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220" y="561201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6820" y="5592961"/>
            <a:ext cx="788096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threat entry point — the engineering workstation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8966820" y="6010126"/>
            <a:ext cx="788096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compromised machine can reach, and where it stops.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1818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E8E5D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181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76400" y="781050"/>
            <a:ext cx="605493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Risk Assessment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52500" y="1522065"/>
            <a:ext cx="151923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load your safety and reliability work, then ask what failure costs.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2379762"/>
            <a:ext cx="6833220" cy="71261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50" y="2979837"/>
            <a:ext cx="6795120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589312"/>
            <a:ext cx="64655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8A8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ENGAGEMENT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38250" y="3265587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failure modes from your FMEA and hazard log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38250" y="4227612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how a failure propagates through real dependencies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38250" y="5189637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attacker pathways and the vulnerabilities they use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38250" y="6151662"/>
            <a:ext cx="68878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number on the consequence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090520" y="2379762"/>
            <a:ext cx="9244980" cy="7126188"/>
          </a:xfrm>
          <a:prstGeom prst="roundRect">
            <a:avLst>
              <a:gd name="adj" fmla="val 1337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9570" y="2979837"/>
            <a:ext cx="9206880" cy="19050"/>
          </a:xfrm>
          <a:prstGeom prst="rect">
            <a:avLst/>
          </a:prstGeom>
          <a:solidFill>
            <a:srgbClr val="F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8376270" y="2589312"/>
            <a:ext cx="89496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THE MODEL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8376270" y="3265587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220" y="3284637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6820" y="3265587"/>
            <a:ext cx="866391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cascading failure from a row CDU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966820" y="3682752"/>
            <a:ext cx="866391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spreads wave by wave — cooling, then the racks behind it.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376270" y="4256633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220" y="427568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966820" y="4256633"/>
            <a:ext cx="88912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consequence figure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8966820" y="4673798"/>
            <a:ext cx="832541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Racks stopped and revenue at risk per hour, from the dependency chain.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376270" y="5592961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220" y="561201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6820" y="5592961"/>
            <a:ext cx="823384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a busway instead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8966820" y="6010126"/>
            <a:ext cx="823384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at the cell boundary. That is the isolation argument, tested.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1818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EE7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1818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76400" y="781050"/>
            <a:ext cx="579774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WS-2 · Risk Alignment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52500" y="1522065"/>
            <a:ext cx="1519237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the consequence, then agree what is reasonable to do about it.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2379762"/>
            <a:ext cx="6833220" cy="71261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50" y="2979837"/>
            <a:ext cx="6795120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589312"/>
            <a:ext cx="64655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8A8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ENGAGEMENT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38250" y="3265587"/>
            <a:ext cx="68878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pathways and where they land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38250" y="3841849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controls each target level asks for, and why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38250" y="4803874"/>
            <a:ext cx="6449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gaps against what is reasonably practicable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38250" y="5765899"/>
            <a:ext cx="68878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achievable level and the order of work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8090520" y="2379762"/>
            <a:ext cx="9244980" cy="7126188"/>
          </a:xfrm>
          <a:prstGeom prst="roundRect">
            <a:avLst>
              <a:gd name="adj" fmla="val 1337"/>
            </a:avLst>
          </a:prstGeom>
          <a:solidFill>
            <a:srgbClr val="FDF6EF"/>
          </a:solidFill>
          <a:ln w="19050">
            <a:solidFill>
              <a:srgbClr val="EE7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9570" y="2979837"/>
            <a:ext cx="9206880" cy="19050"/>
          </a:xfrm>
          <a:prstGeom prst="rect">
            <a:avLst/>
          </a:prstGeom>
          <a:solidFill>
            <a:srgbClr val="F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8376270" y="2589312"/>
            <a:ext cx="89496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575" b="1" spc="20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THE MODEL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8376270" y="3265587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220" y="3284637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6820" y="3265587"/>
            <a:ext cx="82195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the risk portfolio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8966820" y="3682752"/>
            <a:ext cx="82195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ranked by consequence, with the cost of each safeguard.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376270" y="4256633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220" y="427568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966820" y="4256633"/>
            <a:ext cx="83995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Assumptions &amp; Provenance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8966820" y="4673798"/>
            <a:ext cx="83995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number came from, and what moves if we got it wrong.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376270" y="5247680"/>
            <a:ext cx="400050" cy="400050"/>
          </a:xfrm>
          <a:prstGeom prst="roundRect">
            <a:avLst>
              <a:gd name="adj" fmla="val 19048"/>
            </a:avLst>
          </a:prstGeom>
          <a:ln w="19050">
            <a:solidFill>
              <a:srgbClr val="C05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220" y="526673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6820" y="5247680"/>
            <a:ext cx="88912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entry points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8966820" y="5664845"/>
            <a:ext cx="832541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control matters more than another — the basis for NOW/NEXT/NEVER.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81050"/>
            <a:ext cx="180213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hyperscale datacentre, because it is hard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952500" y="1541115"/>
            <a:ext cx="164820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6A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makes OT risk difficult in one place — and two independent cells, which gives the demo a question worth asking: does a compromise in one cell stay in that cell?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760315"/>
            <a:ext cx="5308550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8250" y="304606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D8B23A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293715"/>
            <a:ext cx="5210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38250" y="3769965"/>
            <a:ext cx="487916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intake through MV switchgear, transformers, UPS, generators and per-cell busway to the rack.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89650" y="2760315"/>
            <a:ext cx="5308625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75400" y="304606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F6FD0"/>
          </a:solidFill>
          <a:ln/>
        </p:spPr>
      </p:sp>
      <p:sp>
        <p:nvSpPr>
          <p:cNvPr id="10" name="Text 8"/>
          <p:cNvSpPr/>
          <p:nvPr/>
        </p:nvSpPr>
        <p:spPr>
          <a:xfrm>
            <a:off x="6775400" y="3293715"/>
            <a:ext cx="52108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775400" y="3769965"/>
            <a:ext cx="487923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chillers and towers feeding row CDUs, with direct-to-chip loops into each rack.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26875" y="2760315"/>
            <a:ext cx="5308550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2625" y="304606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2B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12312625" y="3293715"/>
            <a:ext cx="5210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network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312625" y="3769965"/>
            <a:ext cx="487916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demarcs, firewalls, dual spine, per-row distribution, jumpbox and out-of-band console.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52500" y="6247433"/>
            <a:ext cx="5308550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8250" y="6533183"/>
            <a:ext cx="533400" cy="57150"/>
          </a:xfrm>
          <a:prstGeom prst="roundRect">
            <a:avLst>
              <a:gd name="adj" fmla="val 50000"/>
            </a:avLst>
          </a:prstGeom>
          <a:solidFill>
            <a:srgbClr val="A06FD0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6780833"/>
            <a:ext cx="5210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 boundary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257083"/>
            <a:ext cx="487916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OT switch and firewall, data diode, protocol gateway, passive monitoring from the NOC.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489650" y="6247433"/>
            <a:ext cx="5308625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400" y="6533183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483A"/>
          </a:solidFill>
          <a:ln/>
        </p:spPr>
      </p:sp>
      <p:sp>
        <p:nvSpPr>
          <p:cNvPr id="22" name="Text 20"/>
          <p:cNvSpPr/>
          <p:nvPr/>
        </p:nvSpPr>
        <p:spPr>
          <a:xfrm>
            <a:off x="6775400" y="6780833"/>
            <a:ext cx="52108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safety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775400" y="7257083"/>
            <a:ext cx="487923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panels, aspirating detection, suppression and the hardwired interlocks that bypass the network.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026875" y="6247433"/>
            <a:ext cx="5308550" cy="3258517"/>
          </a:xfrm>
          <a:prstGeom prst="roundRect">
            <a:avLst>
              <a:gd name="adj" fmla="val 2923"/>
            </a:avLst>
          </a:prstGeom>
          <a:solidFill>
            <a:srgbClr val="FAF8F4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12625" y="6533183"/>
            <a:ext cx="533400" cy="57150"/>
          </a:xfrm>
          <a:prstGeom prst="roundRect">
            <a:avLst>
              <a:gd name="adj" fmla="val 50000"/>
            </a:avLst>
          </a:prstGeom>
          <a:solidFill>
            <a:srgbClr val="6A6A6D"/>
          </a:solidFill>
          <a:ln/>
        </p:spPr>
      </p:sp>
      <p:sp>
        <p:nvSpPr>
          <p:cNvPr id="26" name="Text 24"/>
          <p:cNvSpPr/>
          <p:nvPr/>
        </p:nvSpPr>
        <p:spPr>
          <a:xfrm>
            <a:off x="12312625" y="6780833"/>
            <a:ext cx="5210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security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312625" y="7257083"/>
            <a:ext cx="487916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detection, mantrap, cameras and door contacts back to the security officer's desk.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495053"/>
            <a:ext cx="17183100" cy="819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92"/>
              </a:lnSpc>
              <a:buNone/>
            </a:pPr>
            <a:r>
              <a:rPr lang="en-US" sz="5400" b="1" spc="-140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see this on your facility?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33500" y="2562597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 documents and interface control documents are enough to begin. We build the first model from what you already have, then correct it with your team on the floor.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33500" y="4467597"/>
            <a:ext cx="8724900" cy="312420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DDD9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3550" y="4810497"/>
            <a:ext cx="87172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b="1" spc="215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START, WE ASK FOR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33550" y="5248647"/>
            <a:ext cx="8717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and detailed level design documents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3550" y="5782047"/>
            <a:ext cx="8717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control documents and P&amp;IDs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33550" y="6315447"/>
            <a:ext cx="8717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FMEA, hazard log and safety-critical item list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33550" y="6848847"/>
            <a:ext cx="8717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6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ConOps and minimum operating requirements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33500" y="8201397"/>
            <a:ext cx="15621000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8563347"/>
            <a:ext cx="5499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spc="252" kern="0" dirty="0">
                <a:solidFill>
                  <a:srgbClr val="8A8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OXOT · OT SECURITY ENGINEERING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74119" y="8544297"/>
            <a:ext cx="15184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info@oxot.nl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2026-08-22T21:36:35Z</dcterms:created>
  <dcterms:modified xsi:type="dcterms:W3CDTF">2026-08-22T21:36:35Z</dcterms:modified>
</cp:coreProperties>
</file>