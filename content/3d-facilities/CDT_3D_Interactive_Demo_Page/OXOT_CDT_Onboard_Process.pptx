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phases, two workshops, three floor walks. The point of the whole method: one dataset produces every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Orange columns are the two client workshops. The floor walks sit under W1 and Phase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asked of the client team yet. Separating routable from hardwired is the step most assessments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 50701 works from worst case. ATQ gives comparative sector threat instead — defensible rather than hypothetical.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Redundancy is encoded from the design, not inferred from feed count — that distinction matters and clients notice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controls get argued from the pathway and the consequence at the end of it, not from a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floor walk is with the high-fidelity model. This is what makes the NOW/NEXT/NEVER call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usual failure is each team getting a different document. Here every team reads the same model through its own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defensibility point — including where SL-C is negotiated down to SL-A, which is the honest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332583"/>
            <a:ext cx="17183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40"/>
              </a:lnSpc>
              <a:buNone/>
            </a:pPr>
            <a:r>
              <a:rPr lang="en-US" sz="1950" b="1" spc="390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OXOT · OT SECURITY ENGINEERING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3075533"/>
            <a:ext cx="16089630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69"/>
              </a:lnSpc>
              <a:buNone/>
            </a:pPr>
            <a:r>
              <a:rPr lang="en-US" sz="8100" b="1" spc="-24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build a Cyber Digital Twin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333500" y="5634186"/>
            <a:ext cx="1134122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A8A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phases, two client workshops, three floor walks — from the client's own documentation to a defensible IEC 62443 determination.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333500" y="7272486"/>
            <a:ext cx="15621000" cy="19050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7634436"/>
            <a:ext cx="160896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98"/>
              </a:lnSpc>
              <a:buNone/>
            </a:pPr>
            <a:r>
              <a:rPr lang="en-US" sz="1800" dirty="0">
                <a:solidFill>
                  <a:srgbClr val="6A6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dataset produces every artifact, so a change in the field propagates everywhere at once.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42950"/>
            <a:ext cx="6353048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87"/>
              </a:lnSpc>
              <a:buNone/>
            </a:pPr>
            <a:r>
              <a:rPr lang="en-US" sz="4050" b="1" spc="-89" kern="0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process, end to end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3729841" y="1028700"/>
            <a:ext cx="40710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1650" b="1" spc="231" kern="0" dirty="0">
                <a:solidFill>
                  <a:srgbClr val="9A9A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OXOT · </a:t>
            </a:r>
            <a:pPr algn="l" indent="0" marL="0">
              <a:lnSpc>
                <a:spcPct val="81481"/>
              </a:lnSpc>
              <a:buNone/>
            </a:pPr>
            <a:r>
              <a:rPr lang="en-US" sz="1650" b="1" spc="231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DIGITAL TWIN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57250" y="1442070"/>
            <a:ext cx="153047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5A5A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built from documentation, corrected against the physical plant, then loaded with safety and reliability data before any control is recommended.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57250" y="3156570"/>
            <a:ext cx="3162300" cy="38100"/>
          </a:xfrm>
          <a:prstGeom prst="rect">
            <a:avLst/>
          </a:prstGeom>
          <a:solidFill>
            <a:srgbClr val="0F0F10"/>
          </a:solidFill>
          <a:ln/>
        </p:spPr>
      </p:sp>
      <p:sp>
        <p:nvSpPr>
          <p:cNvPr id="6" name="Shape 4"/>
          <p:cNvSpPr/>
          <p:nvPr/>
        </p:nvSpPr>
        <p:spPr>
          <a:xfrm>
            <a:off x="857250" y="2604120"/>
            <a:ext cx="647700" cy="419100"/>
          </a:xfrm>
          <a:prstGeom prst="roundRect">
            <a:avLst>
              <a:gd name="adj" fmla="val 18182"/>
            </a:avLst>
          </a:prstGeom>
          <a:solidFill>
            <a:srgbClr val="0F0F10"/>
          </a:solidFill>
          <a:ln/>
        </p:spPr>
      </p:sp>
      <p:sp>
        <p:nvSpPr>
          <p:cNvPr id="7" name="Text 5"/>
          <p:cNvSpPr/>
          <p:nvPr/>
        </p:nvSpPr>
        <p:spPr>
          <a:xfrm>
            <a:off x="933450" y="26041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35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38300" y="2676748"/>
            <a:ext cx="1975254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model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57250" y="3366120"/>
            <a:ext cx="3257169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the asset list, establish every connection, classify services and protocols, separate routable from hardwired.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7250" y="7094413"/>
            <a:ext cx="3162300" cy="1539106"/>
          </a:xfrm>
          <a:prstGeom prst="roundRect">
            <a:avLst>
              <a:gd name="adj" fmla="val 4951"/>
            </a:avLst>
          </a:prstGeom>
          <a:solidFill>
            <a:srgbClr val="0F0F10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7265863"/>
            <a:ext cx="3059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1275" b="1" spc="153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047750" y="7542088"/>
            <a:ext cx="2864739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register · Connection graph · 3D model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4210050" y="3156570"/>
            <a:ext cx="3162300" cy="38100"/>
          </a:xfrm>
          <a:prstGeom prst="rect">
            <a:avLst/>
          </a:prstGeom>
          <a:solidFill>
            <a:srgbClr val="EE7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4210050" y="2604120"/>
            <a:ext cx="647700" cy="419100"/>
          </a:xfrm>
          <a:prstGeom prst="roundRect">
            <a:avLst>
              <a:gd name="adj" fmla="val 18182"/>
            </a:avLst>
          </a:prstGeom>
          <a:solidFill>
            <a:srgbClr val="EE7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286250" y="26041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356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91100" y="2676748"/>
            <a:ext cx="149271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1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4210050" y="3366120"/>
            <a:ext cx="3257169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model with the client, walk the floor, correct to as-is, then frame the threat through ATQ.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10050" y="7094413"/>
            <a:ext cx="3162300" cy="1539106"/>
          </a:xfrm>
          <a:prstGeom prst="roundRect">
            <a:avLst>
              <a:gd name="adj" fmla="val 4951"/>
            </a:avLst>
          </a:prstGeom>
          <a:solidFill>
            <a:srgbClr val="0F0F10"/>
          </a:solidFill>
          <a:ln/>
        </p:spPr>
      </p:sp>
      <p:sp>
        <p:nvSpPr>
          <p:cNvPr id="19" name="Text 17"/>
          <p:cNvSpPr/>
          <p:nvPr/>
        </p:nvSpPr>
        <p:spPr>
          <a:xfrm>
            <a:off x="4400550" y="7265863"/>
            <a:ext cx="3059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1275" b="1" spc="153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4400550" y="7542088"/>
            <a:ext cx="2864739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SL-T zones and conduits · SIL items marked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7562850" y="3156570"/>
            <a:ext cx="3162300" cy="38100"/>
          </a:xfrm>
          <a:prstGeom prst="rect">
            <a:avLst/>
          </a:prstGeom>
          <a:solidFill>
            <a:srgbClr val="0F0F1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62850" y="2604120"/>
            <a:ext cx="647700" cy="419100"/>
          </a:xfrm>
          <a:prstGeom prst="roundRect">
            <a:avLst>
              <a:gd name="adj" fmla="val 18182"/>
            </a:avLst>
          </a:prstGeom>
          <a:solidFill>
            <a:srgbClr val="0F0F10"/>
          </a:solidFill>
          <a:ln/>
        </p:spPr>
      </p:sp>
      <p:sp>
        <p:nvSpPr>
          <p:cNvPr id="23" name="Text 21"/>
          <p:cNvSpPr/>
          <p:nvPr/>
        </p:nvSpPr>
        <p:spPr>
          <a:xfrm>
            <a:off x="7639050" y="26041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35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43900" y="2676748"/>
            <a:ext cx="242857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consequence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7562850" y="3366120"/>
            <a:ext cx="3257169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failure modes to assets, encode redundancy from the design, make every pathway traceable to a physical outcome.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62850" y="7401074"/>
            <a:ext cx="3162300" cy="1232446"/>
          </a:xfrm>
          <a:prstGeom prst="roundRect">
            <a:avLst>
              <a:gd name="adj" fmla="val 6183"/>
            </a:avLst>
          </a:prstGeom>
          <a:solidFill>
            <a:srgbClr val="0F0F10"/>
          </a:solidFill>
          <a:ln/>
        </p:spPr>
      </p:sp>
      <p:sp>
        <p:nvSpPr>
          <p:cNvPr id="27" name="Text 25"/>
          <p:cNvSpPr/>
          <p:nvPr/>
        </p:nvSpPr>
        <p:spPr>
          <a:xfrm>
            <a:off x="7753350" y="7572524"/>
            <a:ext cx="3059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1275" b="1" spc="153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753350" y="7848749"/>
            <a:ext cx="2864739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 model · MoR and operating modes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0915650" y="3156570"/>
            <a:ext cx="3162300" cy="38100"/>
          </a:xfrm>
          <a:prstGeom prst="rect">
            <a:avLst/>
          </a:prstGeom>
          <a:solidFill>
            <a:srgbClr val="EE762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15650" y="2604120"/>
            <a:ext cx="647700" cy="419100"/>
          </a:xfrm>
          <a:prstGeom prst="roundRect">
            <a:avLst>
              <a:gd name="adj" fmla="val 18182"/>
            </a:avLst>
          </a:prstGeom>
          <a:solidFill>
            <a:srgbClr val="EE7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0991850" y="26041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356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696700" y="2676748"/>
            <a:ext cx="154469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2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0915650" y="3366120"/>
            <a:ext cx="3257169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threat actors and pathways on the model, trace to loss, then test gaps against ALARP / SFAIRP.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915650" y="7401074"/>
            <a:ext cx="3162300" cy="1232446"/>
          </a:xfrm>
          <a:prstGeom prst="roundRect">
            <a:avLst>
              <a:gd name="adj" fmla="val 6183"/>
            </a:avLst>
          </a:prstGeom>
          <a:solidFill>
            <a:srgbClr val="0F0F10"/>
          </a:solidFill>
          <a:ln/>
        </p:spPr>
      </p:sp>
      <p:sp>
        <p:nvSpPr>
          <p:cNvPr id="35" name="Text 33"/>
          <p:cNvSpPr/>
          <p:nvPr/>
        </p:nvSpPr>
        <p:spPr>
          <a:xfrm>
            <a:off x="11106150" y="7572524"/>
            <a:ext cx="3059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1275" b="1" spc="153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1106150" y="7848749"/>
            <a:ext cx="2864739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SL-C rationale · ZCR diagram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14268450" y="3156570"/>
            <a:ext cx="3162300" cy="38100"/>
          </a:xfrm>
          <a:prstGeom prst="rect">
            <a:avLst/>
          </a:prstGeom>
          <a:solidFill>
            <a:srgbClr val="0F0F10"/>
          </a:solidFill>
          <a:ln/>
        </p:spPr>
      </p:sp>
      <p:sp>
        <p:nvSpPr>
          <p:cNvPr id="38" name="Shape 36"/>
          <p:cNvSpPr/>
          <p:nvPr/>
        </p:nvSpPr>
        <p:spPr>
          <a:xfrm>
            <a:off x="14268450" y="2604120"/>
            <a:ext cx="647700" cy="419100"/>
          </a:xfrm>
          <a:prstGeom prst="roundRect">
            <a:avLst>
              <a:gd name="adj" fmla="val 18182"/>
            </a:avLst>
          </a:prstGeom>
          <a:solidFill>
            <a:srgbClr val="0F0F10"/>
          </a:solidFill>
          <a:ln/>
        </p:spPr>
      </p:sp>
      <p:sp>
        <p:nvSpPr>
          <p:cNvPr id="39" name="Text 37"/>
          <p:cNvSpPr/>
          <p:nvPr/>
        </p:nvSpPr>
        <p:spPr>
          <a:xfrm>
            <a:off x="14344650" y="260412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135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049500" y="2676748"/>
            <a:ext cx="186630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&amp; report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4268450" y="3366120"/>
            <a:ext cx="3257169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fidelity with configurations and bills of material, walk the floor again, then deliver the roadmap.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4268450" y="7094413"/>
            <a:ext cx="3162300" cy="1539106"/>
          </a:xfrm>
          <a:prstGeom prst="roundRect">
            <a:avLst>
              <a:gd name="adj" fmla="val 4951"/>
            </a:avLst>
          </a:prstGeom>
          <a:solidFill>
            <a:srgbClr val="0F0F10"/>
          </a:solidFill>
          <a:ln/>
        </p:spPr>
      </p:sp>
      <p:sp>
        <p:nvSpPr>
          <p:cNvPr id="43" name="Text 41"/>
          <p:cNvSpPr/>
          <p:nvPr/>
        </p:nvSpPr>
        <p:spPr>
          <a:xfrm>
            <a:off x="14458950" y="7265863"/>
            <a:ext cx="3059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27"/>
              </a:lnSpc>
              <a:buNone/>
            </a:pPr>
            <a:r>
              <a:rPr lang="en-US" sz="1275" b="1" spc="153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4458950" y="7542088"/>
            <a:ext cx="2864739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/ NEXT / NEVER · Target architecture · Readout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4210050" y="8881170"/>
            <a:ext cx="3162300" cy="28575"/>
          </a:xfrm>
          <a:prstGeom prst="rect">
            <a:avLst/>
          </a:prstGeom>
          <a:solidFill>
            <a:srgbClr val="E3B48C"/>
          </a:solidFill>
          <a:ln/>
        </p:spPr>
      </p:sp>
      <p:sp>
        <p:nvSpPr>
          <p:cNvPr id="46" name="Text 44"/>
          <p:cNvSpPr/>
          <p:nvPr/>
        </p:nvSpPr>
        <p:spPr>
          <a:xfrm>
            <a:off x="4210050" y="9024045"/>
            <a:ext cx="325716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575" b="1" spc="95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 WALK 1 — CONFIRM AS-IS</a:t>
            </a:r>
            <a:endParaRPr lang="en-US" sz="1575" dirty="0"/>
          </a:p>
        </p:txBody>
      </p:sp>
      <p:sp>
        <p:nvSpPr>
          <p:cNvPr id="47" name="Shape 45"/>
          <p:cNvSpPr/>
          <p:nvPr/>
        </p:nvSpPr>
        <p:spPr>
          <a:xfrm>
            <a:off x="14268450" y="8881170"/>
            <a:ext cx="3162300" cy="28575"/>
          </a:xfrm>
          <a:prstGeom prst="rect">
            <a:avLst/>
          </a:prstGeom>
          <a:solidFill>
            <a:srgbClr val="E3B48C"/>
          </a:solidFill>
          <a:ln/>
        </p:spPr>
      </p:sp>
      <p:sp>
        <p:nvSpPr>
          <p:cNvPr id="48" name="Text 46"/>
          <p:cNvSpPr/>
          <p:nvPr/>
        </p:nvSpPr>
        <p:spPr>
          <a:xfrm>
            <a:off x="14268450" y="9024045"/>
            <a:ext cx="3257169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575" b="1" spc="95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 WALK 2 — CONFIRM HIGH-FIDELITY MODEL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64977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0F0F10"/>
          </a:solidFill>
          <a:ln/>
        </p:spPr>
      </p:sp>
      <p:sp>
        <p:nvSpPr>
          <p:cNvPr id="3" name="Text 1"/>
          <p:cNvSpPr/>
          <p:nvPr/>
        </p:nvSpPr>
        <p:spPr>
          <a:xfrm>
            <a:off x="819150" y="764977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00200" y="742950"/>
            <a:ext cx="4382051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86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model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857250" y="1491928"/>
            <a:ext cx="1525524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5A5A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in, queryable model out. Nothing is asked of the client team at this stage.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57250" y="2335783"/>
            <a:ext cx="4872112" cy="7208267"/>
          </a:xfrm>
          <a:prstGeom prst="roundRect">
            <a:avLst>
              <a:gd name="adj" fmla="val 1955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6300" y="2354833"/>
            <a:ext cx="483401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8" name="Shape 6"/>
          <p:cNvSpPr/>
          <p:nvPr/>
        </p:nvSpPr>
        <p:spPr>
          <a:xfrm>
            <a:off x="876300" y="2888233"/>
            <a:ext cx="483401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526283"/>
            <a:ext cx="45218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4900" y="31358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design (HLD)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900" y="365975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level design (DLD)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900" y="418363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control document (ICD)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900" y="470750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 equipment schedules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04900" y="52313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Descriptions and narratives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977012" y="2335783"/>
            <a:ext cx="6333902" cy="7208267"/>
          </a:xfrm>
          <a:prstGeom prst="roundRect">
            <a:avLst>
              <a:gd name="adj" fmla="val 1504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6062" y="2354833"/>
            <a:ext cx="629580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96062" y="2888233"/>
            <a:ext cx="629580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6224662" y="2526283"/>
            <a:ext cx="60274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24662" y="3135883"/>
            <a:ext cx="64224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the </a:t>
            </a:r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list </a:t>
            </a:r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documentation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24662" y="3659758"/>
            <a:ext cx="64224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every </a:t>
            </a:r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</a:t>
            </a:r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assets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224662" y="4183633"/>
            <a:ext cx="64224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</a:t>
            </a:r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</a:t>
            </a:r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what flows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224662" y="4707508"/>
            <a:ext cx="64224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</a:t>
            </a:r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protocols </a:t>
            </a:r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how it is carried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224662" y="5231383"/>
            <a:ext cx="64224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routable from hardwired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558564" y="2335783"/>
            <a:ext cx="4872186" cy="7208267"/>
          </a:xfrm>
          <a:prstGeom prst="roundRect">
            <a:avLst>
              <a:gd name="adj" fmla="val 1955"/>
            </a:avLst>
          </a:prstGeom>
          <a:solidFill>
            <a:srgbClr val="0F0F10"/>
          </a:solidFill>
          <a:ln w="19050">
            <a:solidFill>
              <a:srgbClr val="0F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7614" y="2354833"/>
            <a:ext cx="4834086" cy="55245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77614" y="2888233"/>
            <a:ext cx="4834086" cy="19050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6214" y="2526283"/>
            <a:ext cx="45219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6214" y="313588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register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806214" y="3659758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graph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806214" y="418363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and protocol inventory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806214" y="4707508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model of the facility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64977"/>
            <a:ext cx="819150" cy="552450"/>
          </a:xfrm>
          <a:prstGeom prst="roundRect">
            <a:avLst>
              <a:gd name="adj" fmla="val 17241"/>
            </a:avLst>
          </a:prstGeom>
          <a:solidFill>
            <a:srgbClr val="EE7623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764977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866900" y="742950"/>
            <a:ext cx="10728714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86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1 — Initial Risk Assessment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857250" y="1491928"/>
            <a:ext cx="1525524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5A5A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model, walk the floor, correct to as-is, then frame the threat.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57250" y="2335783"/>
            <a:ext cx="4872112" cy="7208267"/>
          </a:xfrm>
          <a:prstGeom prst="roundRect">
            <a:avLst>
              <a:gd name="adj" fmla="val 1955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6300" y="2354833"/>
            <a:ext cx="483401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8" name="Shape 6"/>
          <p:cNvSpPr/>
          <p:nvPr/>
        </p:nvSpPr>
        <p:spPr>
          <a:xfrm>
            <a:off x="876300" y="2888233"/>
            <a:ext cx="483401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526283"/>
            <a:ext cx="45218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4900" y="31358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from Phase 1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900" y="365975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review and corrections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900" y="418363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threat intelligence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900" y="470750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Client, equipment and facility profile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04900" y="52313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977012" y="2335783"/>
            <a:ext cx="6333902" cy="7208267"/>
          </a:xfrm>
          <a:prstGeom prst="roundRect">
            <a:avLst>
              <a:gd name="adj" fmla="val 1504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6062" y="2354833"/>
            <a:ext cx="629580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96062" y="2888233"/>
            <a:ext cx="629580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6224662" y="2526283"/>
            <a:ext cx="60274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24662" y="3135883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model with the client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24662" y="3645247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the floor </a:t>
            </a:r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confirm against as-is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224662" y="4154612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where documents and plant disagree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224662" y="4663976"/>
            <a:ext cx="6013760" cy="113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the threat landscape. TS 50701 uses worst case; we apply comparative sector threats through </a:t>
            </a:r>
            <a:pPr algn="l" indent="0" marL="0">
              <a:lnSpc>
                <a:spcPct val="122159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ATQ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224662" y="5906319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SIL-rated items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558564" y="2335783"/>
            <a:ext cx="4872186" cy="7208267"/>
          </a:xfrm>
          <a:prstGeom prst="roundRect">
            <a:avLst>
              <a:gd name="adj" fmla="val 1955"/>
            </a:avLst>
          </a:prstGeom>
          <a:solidFill>
            <a:srgbClr val="0F0F10"/>
          </a:solidFill>
          <a:ln w="19050">
            <a:solidFill>
              <a:srgbClr val="0F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7614" y="2354833"/>
            <a:ext cx="4834086" cy="55245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77614" y="2888233"/>
            <a:ext cx="4834086" cy="19050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6214" y="2526283"/>
            <a:ext cx="45219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6214" y="313588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As-is corrections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806214" y="3659758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SL-T zones and conduits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806214" y="418363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registry, SIL items marked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64977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0F0F10"/>
          </a:solidFill>
          <a:ln/>
        </p:spPr>
      </p:sp>
      <p:sp>
        <p:nvSpPr>
          <p:cNvPr id="3" name="Text 1"/>
          <p:cNvSpPr/>
          <p:nvPr/>
        </p:nvSpPr>
        <p:spPr>
          <a:xfrm>
            <a:off x="819150" y="764977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00200" y="742950"/>
            <a:ext cx="5420387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86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consequence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857250" y="1491928"/>
            <a:ext cx="1525524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5A5A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safety and reliability teams' own work, built into the model.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57250" y="2335783"/>
            <a:ext cx="4872112" cy="7208267"/>
          </a:xfrm>
          <a:prstGeom prst="roundRect">
            <a:avLst>
              <a:gd name="adj" fmla="val 1955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6300" y="2354833"/>
            <a:ext cx="483401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8" name="Shape 6"/>
          <p:cNvSpPr/>
          <p:nvPr/>
        </p:nvSpPr>
        <p:spPr>
          <a:xfrm>
            <a:off x="876300" y="2888233"/>
            <a:ext cx="483401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526283"/>
            <a:ext cx="45218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4900" y="31358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team: FMEA, hazard log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900" y="365975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critical item list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900" y="418363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critical item list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900" y="470750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ConOps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04900" y="52313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operating requirements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977012" y="2335783"/>
            <a:ext cx="6333902" cy="7208267"/>
          </a:xfrm>
          <a:prstGeom prst="roundRect">
            <a:avLst>
              <a:gd name="adj" fmla="val 1504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6062" y="2354833"/>
            <a:ext cx="629580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96062" y="2888233"/>
            <a:ext cx="629580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6224662" y="2526283"/>
            <a:ext cx="60274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24662" y="3135883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</a:t>
            </a:r>
            <a:pPr algn="l" indent="0" marL="0">
              <a:lnSpc>
                <a:spcPct val="122159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modes </a:t>
            </a:r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assets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24662" y="3645247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impacts and </a:t>
            </a:r>
            <a:pPr algn="l" indent="0" marL="0">
              <a:lnSpc>
                <a:spcPct val="122159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consequences </a:t>
            </a:r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the model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224662" y="4154612"/>
            <a:ext cx="6013760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 redundancy from the design, not from feed count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224662" y="5030465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 MoR thresholds and operating modes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224662" y="5539829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 pathway traceable to a physical outcome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558564" y="2335783"/>
            <a:ext cx="4872186" cy="7208267"/>
          </a:xfrm>
          <a:prstGeom prst="roundRect">
            <a:avLst>
              <a:gd name="adj" fmla="val 1955"/>
            </a:avLst>
          </a:prstGeom>
          <a:solidFill>
            <a:srgbClr val="0F0F10"/>
          </a:solidFill>
          <a:ln w="19050">
            <a:solidFill>
              <a:srgbClr val="0F0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7614" y="2354833"/>
            <a:ext cx="4834086" cy="55245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77614" y="2888233"/>
            <a:ext cx="4834086" cy="19050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6214" y="2526283"/>
            <a:ext cx="45219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6214" y="313588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modes on assets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806214" y="3659758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 model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806214" y="418363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 and operating modes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64977"/>
            <a:ext cx="819150" cy="552450"/>
          </a:xfrm>
          <a:prstGeom prst="roundRect">
            <a:avLst>
              <a:gd name="adj" fmla="val 17241"/>
            </a:avLst>
          </a:prstGeom>
          <a:solidFill>
            <a:srgbClr val="EE7623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764977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866900" y="742950"/>
            <a:ext cx="8581891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86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2 — Risk Alignment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857250" y="1491928"/>
            <a:ext cx="1525524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5A5A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consequence, then agree what is reasonable to do about it.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57250" y="2335783"/>
            <a:ext cx="4872112" cy="7208267"/>
          </a:xfrm>
          <a:prstGeom prst="roundRect">
            <a:avLst>
              <a:gd name="adj" fmla="val 1955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6300" y="2354833"/>
            <a:ext cx="483401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8" name="Shape 6"/>
          <p:cNvSpPr/>
          <p:nvPr/>
        </p:nvSpPr>
        <p:spPr>
          <a:xfrm>
            <a:off x="876300" y="2888233"/>
            <a:ext cx="483401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526283"/>
            <a:ext cx="45218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4900" y="31358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Consequence-loaded model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900" y="3659758"/>
            <a:ext cx="45081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TACAM </a:t>
            </a:r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typical vulnerabilities by equipment class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900" y="455510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 profiles from ATQ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900" y="50789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SL-T from Workshop 1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977012" y="2335783"/>
            <a:ext cx="6333902" cy="7208267"/>
          </a:xfrm>
          <a:prstGeom prst="roundRect">
            <a:avLst>
              <a:gd name="adj" fmla="val 1504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6062" y="2354833"/>
            <a:ext cx="629580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96062" y="2888233"/>
            <a:ext cx="629580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6224662" y="2526283"/>
            <a:ext cx="60274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24662" y="3135883"/>
            <a:ext cx="642246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</a:t>
            </a:r>
            <a:pPr algn="l" indent="0" marL="0">
              <a:lnSpc>
                <a:spcPct val="120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actors and pathways </a:t>
            </a:r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model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224662" y="3614514"/>
            <a:ext cx="601376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to fat-tail loss, critical loss and safety consequence — our own </a:t>
            </a:r>
            <a:pPr algn="l" indent="0" marL="0">
              <a:lnSpc>
                <a:spcPct val="120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 model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224662" y="4438427"/>
            <a:ext cx="601376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controls the SL-T ratings require, and why, grounded in pathway and consequence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224662" y="5262339"/>
            <a:ext cx="601376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architectural gaps against </a:t>
            </a:r>
            <a:pPr algn="l" indent="0" marL="0">
              <a:lnSpc>
                <a:spcPct val="120833"/>
              </a:lnSpc>
              <a:buNone/>
            </a:pPr>
            <a:r>
              <a:rPr lang="en-US" sz="18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ALARP / SFAIRP </a:t>
            </a:r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reasonable SL-C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224662" y="6086252"/>
            <a:ext cx="642246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 the flat network view of the 3D model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558564" y="2335783"/>
            <a:ext cx="4872186" cy="7208267"/>
          </a:xfrm>
          <a:prstGeom prst="roundRect">
            <a:avLst>
              <a:gd name="adj" fmla="val 1955"/>
            </a:avLst>
          </a:prstGeom>
          <a:solidFill>
            <a:srgbClr val="0F0F10"/>
          </a:solidFill>
          <a:ln w="19050">
            <a:solidFill>
              <a:srgbClr val="0F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7614" y="2354833"/>
            <a:ext cx="4834086" cy="55245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12577614" y="2888233"/>
            <a:ext cx="4834086" cy="19050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6214" y="2526283"/>
            <a:ext cx="45219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6214" y="313588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pathways and consequence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806214" y="3659758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SL-C rationale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806214" y="4183633"/>
            <a:ext cx="48145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ZCR diagram — zones and conduits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64977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0F0F10"/>
          </a:solidFill>
          <a:ln/>
        </p:spPr>
      </p:sp>
      <p:sp>
        <p:nvSpPr>
          <p:cNvPr id="3" name="Text 1"/>
          <p:cNvSpPr/>
          <p:nvPr/>
        </p:nvSpPr>
        <p:spPr>
          <a:xfrm>
            <a:off x="819150" y="764977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600200" y="742950"/>
            <a:ext cx="4129199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86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&amp; report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857250" y="1491928"/>
            <a:ext cx="1525524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5A5A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the model to the fidelity of the actual facility, then deliver the roadmap.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57250" y="2335783"/>
            <a:ext cx="4872112" cy="7208267"/>
          </a:xfrm>
          <a:prstGeom prst="roundRect">
            <a:avLst>
              <a:gd name="adj" fmla="val 1955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6300" y="2354833"/>
            <a:ext cx="483401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8" name="Shape 6"/>
          <p:cNvSpPr/>
          <p:nvPr/>
        </p:nvSpPr>
        <p:spPr>
          <a:xfrm>
            <a:off x="876300" y="2888233"/>
            <a:ext cx="483401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526283"/>
            <a:ext cx="45218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4900" y="313588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Samples and configurations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04900" y="3659758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SBOMs and HBOMs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4900" y="4183633"/>
            <a:ext cx="4814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and firewall configurations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4900" y="4707508"/>
            <a:ext cx="45081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SL-C and security requirements by zone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977012" y="2335783"/>
            <a:ext cx="6333902" cy="7208267"/>
          </a:xfrm>
          <a:prstGeom prst="roundRect">
            <a:avLst>
              <a:gd name="adj" fmla="val 1504"/>
            </a:avLst>
          </a:prstGeom>
          <a:ln w="19050">
            <a:solidFill>
              <a:srgbClr val="DDD9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6062" y="2354833"/>
            <a:ext cx="6295802" cy="552450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96062" y="2888233"/>
            <a:ext cx="6295802" cy="1905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6224662" y="2526283"/>
            <a:ext cx="60274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8A8A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24662" y="3135883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SL-C and requirements per asset by zone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224662" y="3645247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model fidelity to the actual facility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24662" y="4154612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the floor again </a:t>
            </a:r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improved model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224662" y="4663976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analysis SL-C against SL-A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224662" y="5173340"/>
            <a:ext cx="6422462" cy="404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59"/>
              </a:lnSpc>
              <a:buNone/>
            </a:pPr>
            <a:r>
              <a:rPr lang="en-US" sz="1950" dirty="0">
                <a:solidFill>
                  <a:srgbClr val="2626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target reference architecture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558564" y="2335783"/>
            <a:ext cx="4872186" cy="7208267"/>
          </a:xfrm>
          <a:prstGeom prst="roundRect">
            <a:avLst>
              <a:gd name="adj" fmla="val 1955"/>
            </a:avLst>
          </a:prstGeom>
          <a:solidFill>
            <a:srgbClr val="0F0F10"/>
          </a:solidFill>
          <a:ln w="19050">
            <a:solidFill>
              <a:srgbClr val="0F0F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7614" y="2354833"/>
            <a:ext cx="4834086" cy="55245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12577614" y="2888233"/>
            <a:ext cx="4834086" cy="19050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6214" y="2526283"/>
            <a:ext cx="45219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1500" b="1" spc="195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6214" y="3135883"/>
            <a:ext cx="481457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/ NEXT / NEVER report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806214" y="3614514"/>
            <a:ext cx="450819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reference architecture (IEC 62443)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2806214" y="4438427"/>
            <a:ext cx="481457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SL-C to SL-A gap analysis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2806214" y="4917058"/>
            <a:ext cx="481457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Roadmap, priority actions, quick wins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2806214" y="5395689"/>
            <a:ext cx="481457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D8D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readout + long-form report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42950"/>
            <a:ext cx="18230850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86"/>
              </a:lnSpc>
              <a:buNone/>
            </a:pPr>
            <a:r>
              <a:rPr lang="en-US" sz="4350" b="1" spc="-96" kern="0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outputs go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57250" y="1491928"/>
            <a:ext cx="1538325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5A5A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dataset, every team. The usual failure of an OT assessment is that each team receives a different document and none of them reconcile.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57250" y="2760538"/>
            <a:ext cx="8153400" cy="47625"/>
          </a:xfrm>
          <a:prstGeom prst="rect">
            <a:avLst/>
          </a:prstGeom>
          <a:solidFill>
            <a:srgbClr val="EE7623"/>
          </a:solidFill>
          <a:ln/>
        </p:spPr>
      </p:sp>
      <p:sp>
        <p:nvSpPr>
          <p:cNvPr id="5" name="Text 3"/>
          <p:cNvSpPr/>
          <p:nvPr/>
        </p:nvSpPr>
        <p:spPr>
          <a:xfrm>
            <a:off x="895350" y="3055813"/>
            <a:ext cx="888492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1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Executives and risk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895350" y="3577754"/>
            <a:ext cx="831951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briefing and readout. Input to the organisational risk ledger where the sponsor is organisational. Consequence tied to numbers, top down.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77350" y="2760538"/>
            <a:ext cx="8153400" cy="47625"/>
          </a:xfrm>
          <a:prstGeom prst="rect">
            <a:avLst/>
          </a:prstGeom>
          <a:solidFill>
            <a:srgbClr val="0F0F10"/>
          </a:solidFill>
          <a:ln/>
        </p:spPr>
      </p:sp>
      <p:sp>
        <p:nvSpPr>
          <p:cNvPr id="8" name="Text 6"/>
          <p:cNvSpPr/>
          <p:nvPr/>
        </p:nvSpPr>
        <p:spPr>
          <a:xfrm>
            <a:off x="9315450" y="3055813"/>
            <a:ext cx="888492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1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managers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315450" y="3577754"/>
            <a:ext cx="83195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SecRAC for the facility. Zone and conduit responsibilities, and the controls that apply to plant they operate day to day.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57250" y="6471345"/>
            <a:ext cx="8153400" cy="47625"/>
          </a:xfrm>
          <a:prstGeom prst="rect">
            <a:avLst/>
          </a:prstGeom>
          <a:solidFill>
            <a:srgbClr val="0F0F10"/>
          </a:solidFill>
          <a:ln/>
        </p:spPr>
      </p:sp>
      <p:sp>
        <p:nvSpPr>
          <p:cNvPr id="11" name="Text 9"/>
          <p:cNvSpPr/>
          <p:nvPr/>
        </p:nvSpPr>
        <p:spPr>
          <a:xfrm>
            <a:off x="895350" y="6766620"/>
            <a:ext cx="888492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1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and reliability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95350" y="7288560"/>
            <a:ext cx="83195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and safety critical items returned to the hazard log, so the safety team's own artifact stays current.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6471345"/>
            <a:ext cx="8153400" cy="47625"/>
          </a:xfrm>
          <a:prstGeom prst="rect">
            <a:avLst/>
          </a:prstGeom>
          <a:solidFill>
            <a:srgbClr val="0F0F10"/>
          </a:solidFill>
          <a:ln/>
        </p:spPr>
      </p:sp>
      <p:sp>
        <p:nvSpPr>
          <p:cNvPr id="14" name="Text 12"/>
          <p:cNvSpPr/>
          <p:nvPr/>
        </p:nvSpPr>
        <p:spPr>
          <a:xfrm>
            <a:off x="9315450" y="6766620"/>
            <a:ext cx="888492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12"/>
              </a:lnSpc>
              <a:buNone/>
            </a:pPr>
            <a:r>
              <a:rPr lang="en-US" sz="2550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IT, OT, controls, network, operations, security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315450" y="7288560"/>
            <a:ext cx="83195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3A3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detailed report aligned to IEC 62443 and CLC/TS 50701, and the model itself. Bottom-up engineering view that earns trust.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007171"/>
            <a:ext cx="17183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40"/>
              </a:lnSpc>
              <a:buNone/>
            </a:pPr>
            <a:r>
              <a:rPr lang="en-US" sz="1950" b="1" spc="390" kern="0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OUTCOME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2750121"/>
            <a:ext cx="16089630" cy="2424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51"/>
              </a:lnSpc>
              <a:buNone/>
            </a:pPr>
            <a:r>
              <a:rPr lang="en-US" sz="5400" b="1" spc="-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formal, defensible process and artifact set for an IEC 62443 determination of SL-C — including where it is negotiated down to SL-A.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5555679"/>
            <a:ext cx="1130198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A8A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Consequence-driven reporting from the top down, an engineering and operations view from the bottom up, and one common set of information for every team.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33500" y="7689279"/>
            <a:ext cx="15621000" cy="19050"/>
          </a:xfrm>
          <a:prstGeom prst="rect">
            <a:avLst/>
          </a:prstGeom>
          <a:solidFill>
            <a:srgbClr val="232326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8051229"/>
            <a:ext cx="54207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1800" b="1" spc="252" kern="0" dirty="0">
                <a:solidFill>
                  <a:srgbClr val="6A6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OXOT · OT SECURITY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51795" y="8051229"/>
            <a:ext cx="154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1800" b="1" dirty="0">
                <a:solidFill>
                  <a:srgbClr val="EE7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info@oxot.nl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2026-08-22T21:29:49Z</dcterms:created>
  <dcterms:modified xsi:type="dcterms:W3CDTF">2026-08-22T21:29:49Z</dcterms:modified>
</cp:coreProperties>
</file>