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95300" y="690563"/>
            <a:ext cx="6781800" cy="19050"/>
          </a:xfrm>
          <a:prstGeom prst="rect">
            <a:avLst/>
          </a:prstGeom>
          <a:solidFill>
            <a:srgbClr val="14233B"/>
          </a:solidFill>
          <a:ln/>
        </p:spPr>
      </p:sp>
      <p:sp>
        <p:nvSpPr>
          <p:cNvPr id="3" name="Text 1"/>
          <p:cNvSpPr/>
          <p:nvPr/>
        </p:nvSpPr>
        <p:spPr>
          <a:xfrm>
            <a:off x="495300" y="419100"/>
            <a:ext cx="779562" cy="214313"/>
          </a:xfrm>
          <a:prstGeom prst="rect">
            <a:avLst/>
          </a:prstGeom>
          <a:noFill/>
          <a:ln/>
        </p:spPr>
        <p:txBody>
          <a:bodyPr wrap="square" lIns="25400" tIns="25400" rIns="25400" bIns="25400" rtlCol="0" anchor="t">
            <a:normAutofit/>
          </a:bodyPr>
          <a:lstStyle/>
          <a:p>
            <a:pPr algn="l" indent="0" marL="0">
              <a:buNone/>
            </a:pPr>
            <a:r>
              <a:rPr lang="en-US" sz="1275" spc="488" kern="0" dirty="0">
                <a:solidFill>
                  <a:srgbClr val="14233B"/>
                </a:solidFill>
                <a:latin typeface="Arial" pitchFamily="34" charset="0"/>
                <a:ea typeface="Arial" pitchFamily="34" charset="-122"/>
                <a:cs typeface="Arial" pitchFamily="34" charset="-120"/>
              </a:rPr>
              <a:t>O</a:t>
            </a:r>
            <a:pPr algn="l" indent="0" marL="0">
              <a:buNone/>
            </a:pPr>
            <a:r>
              <a:rPr lang="en-US" sz="1275" spc="488" kern="0" dirty="0">
                <a:solidFill>
                  <a:srgbClr val="FF7900"/>
                </a:solidFill>
                <a:latin typeface="Arial" pitchFamily="34" charset="0"/>
                <a:ea typeface="Arial" pitchFamily="34" charset="-122"/>
                <a:cs typeface="Arial" pitchFamily="34" charset="-120"/>
              </a:rPr>
              <a:t>X</a:t>
            </a:r>
            <a:pPr algn="l" indent="0" marL="0">
              <a:buNone/>
            </a:pPr>
            <a:r>
              <a:rPr lang="en-US" sz="1275" spc="488" kern="0" dirty="0">
                <a:solidFill>
                  <a:srgbClr val="14233B"/>
                </a:solidFill>
                <a:latin typeface="Arial" pitchFamily="34" charset="0"/>
                <a:ea typeface="Arial" pitchFamily="34" charset="-122"/>
                <a:cs typeface="Arial" pitchFamily="34" charset="-120"/>
              </a:rPr>
              <a:t>OT</a:t>
            </a:r>
            <a:endParaRPr lang="en-US" sz="1275" dirty="0"/>
          </a:p>
        </p:txBody>
      </p:sp>
      <p:sp>
        <p:nvSpPr>
          <p:cNvPr id="4" name="Text 2"/>
          <p:cNvSpPr/>
          <p:nvPr/>
        </p:nvSpPr>
        <p:spPr>
          <a:xfrm>
            <a:off x="1322487" y="485775"/>
            <a:ext cx="1845841" cy="138113"/>
          </a:xfrm>
          <a:prstGeom prst="rect">
            <a:avLst/>
          </a:prstGeom>
          <a:noFill/>
          <a:ln/>
        </p:spPr>
        <p:txBody>
          <a:bodyPr wrap="square" lIns="25400" tIns="25400" rIns="25400" bIns="25400" rtlCol="0" anchor="t">
            <a:normAutofit/>
          </a:bodyPr>
          <a:lstStyle/>
          <a:p>
            <a:pPr algn="l" indent="0" marL="0">
              <a:buNone/>
            </a:pPr>
            <a:r>
              <a:rPr lang="en-US" sz="675" b="1" spc="225" kern="0" dirty="0">
                <a:solidFill>
                  <a:srgbClr val="8A8676"/>
                </a:solidFill>
                <a:latin typeface="Arial" pitchFamily="34" charset="0"/>
                <a:ea typeface="Arial" pitchFamily="34" charset="-122"/>
                <a:cs typeface="Arial" pitchFamily="34" charset="-120"/>
              </a:rPr>
              <a:t>COMPANY INTRODUCTION</a:t>
            </a:r>
            <a:endParaRPr lang="en-US" sz="675" dirty="0"/>
          </a:p>
        </p:txBody>
      </p:sp>
      <p:sp>
        <p:nvSpPr>
          <p:cNvPr id="5" name="Text 3"/>
          <p:cNvSpPr/>
          <p:nvPr/>
        </p:nvSpPr>
        <p:spPr>
          <a:xfrm>
            <a:off x="4006007" y="485775"/>
            <a:ext cx="3598203" cy="133350"/>
          </a:xfrm>
          <a:prstGeom prst="rect">
            <a:avLst/>
          </a:prstGeom>
          <a:noFill/>
          <a:ln/>
        </p:spPr>
        <p:txBody>
          <a:bodyPr wrap="square" lIns="25400" tIns="25400" rIns="25400" bIns="25400" rtlCol="0" anchor="t">
            <a:normAutofit/>
          </a:bodyPr>
          <a:lstStyle/>
          <a:p>
            <a:pPr algn="l" indent="0" marL="0">
              <a:buNone/>
            </a:pPr>
            <a:r>
              <a:rPr lang="en-US" sz="675" spc="120" kern="0" dirty="0">
                <a:solidFill>
                  <a:srgbClr val="8A8676"/>
                </a:solidFill>
                <a:latin typeface="Arial" pitchFamily="34" charset="0"/>
                <a:ea typeface="Arial" pitchFamily="34" charset="-122"/>
                <a:cs typeface="Arial" pitchFamily="34" charset="-120"/>
              </a:rPr>
              <a:t>OPERATIONAL EXCELLENCE IN OPERATIONAL TECHNOLOGY</a:t>
            </a:r>
            <a:endParaRPr lang="en-US" sz="675" dirty="0"/>
          </a:p>
        </p:txBody>
      </p:sp>
      <p:sp>
        <p:nvSpPr>
          <p:cNvPr id="6" name="Text 4"/>
          <p:cNvSpPr/>
          <p:nvPr/>
        </p:nvSpPr>
        <p:spPr>
          <a:xfrm>
            <a:off x="495300" y="957263"/>
            <a:ext cx="7459980" cy="161925"/>
          </a:xfrm>
          <a:prstGeom prst="rect">
            <a:avLst/>
          </a:prstGeom>
          <a:noFill/>
          <a:ln/>
        </p:spPr>
        <p:txBody>
          <a:bodyPr wrap="square" lIns="25400" tIns="25400" rIns="25400" bIns="25400" rtlCol="0" anchor="t">
            <a:normAutofit/>
          </a:bodyPr>
          <a:lstStyle/>
          <a:p>
            <a:pPr algn="l" indent="0" marL="0">
              <a:buNone/>
            </a:pPr>
            <a:r>
              <a:rPr lang="en-US" sz="825" b="1" spc="225" kern="0" dirty="0">
                <a:solidFill>
                  <a:srgbClr val="FF7900"/>
                </a:solidFill>
                <a:latin typeface="Arial" pitchFamily="34" charset="0"/>
                <a:ea typeface="Arial" pitchFamily="34" charset="-122"/>
                <a:cs typeface="Arial" pitchFamily="34" charset="-120"/>
              </a:rPr>
              <a:t>ABOUT OXOT</a:t>
            </a:r>
            <a:endParaRPr lang="en-US" sz="825" dirty="0"/>
          </a:p>
        </p:txBody>
      </p:sp>
      <p:sp>
        <p:nvSpPr>
          <p:cNvPr id="7" name="Text 5"/>
          <p:cNvSpPr/>
          <p:nvPr/>
        </p:nvSpPr>
        <p:spPr>
          <a:xfrm>
            <a:off x="495300" y="1185863"/>
            <a:ext cx="7459980" cy="428997"/>
          </a:xfrm>
          <a:prstGeom prst="rect">
            <a:avLst/>
          </a:prstGeom>
          <a:noFill/>
          <a:ln/>
        </p:spPr>
        <p:txBody>
          <a:bodyPr wrap="square" lIns="25400" tIns="25400" rIns="25400" bIns="25400" rtlCol="0" anchor="t">
            <a:normAutofit/>
          </a:bodyPr>
          <a:lstStyle/>
          <a:p>
            <a:pPr algn="l" indent="0" marL="0">
              <a:lnSpc>
                <a:spcPct val="94345"/>
              </a:lnSpc>
              <a:buNone/>
            </a:pPr>
            <a:r>
              <a:rPr lang="en-US" sz="2850" b="1" spc="-45" kern="0" dirty="0">
                <a:solidFill>
                  <a:srgbClr val="14233B"/>
                </a:solidFill>
                <a:latin typeface="Georgia" pitchFamily="34" charset="0"/>
                <a:ea typeface="Georgia" pitchFamily="34" charset="-122"/>
                <a:cs typeface="Georgia" pitchFamily="34" charset="-120"/>
              </a:rPr>
              <a:t>Meet the team that thinks OT-first.</a:t>
            </a:r>
            <a:endParaRPr lang="en-US" sz="2850" dirty="0"/>
          </a:p>
        </p:txBody>
      </p:sp>
      <p:sp>
        <p:nvSpPr>
          <p:cNvPr id="8" name="Shape 6"/>
          <p:cNvSpPr/>
          <p:nvPr/>
        </p:nvSpPr>
        <p:spPr>
          <a:xfrm>
            <a:off x="495300" y="1719635"/>
            <a:ext cx="400050" cy="19050"/>
          </a:xfrm>
          <a:prstGeom prst="rect">
            <a:avLst/>
          </a:prstGeom>
          <a:solidFill>
            <a:srgbClr val="FF7900"/>
          </a:solidFill>
          <a:ln/>
        </p:spPr>
      </p:sp>
      <p:sp>
        <p:nvSpPr>
          <p:cNvPr id="9" name="Text 7"/>
          <p:cNvSpPr/>
          <p:nvPr/>
        </p:nvSpPr>
        <p:spPr>
          <a:xfrm>
            <a:off x="495300" y="1852985"/>
            <a:ext cx="6475095" cy="423863"/>
          </a:xfrm>
          <a:prstGeom prst="rect">
            <a:avLst/>
          </a:prstGeom>
          <a:noFill/>
          <a:ln/>
        </p:spPr>
        <p:txBody>
          <a:bodyPr wrap="square" lIns="25400" tIns="25400" rIns="25400" bIns="25400" rtlCol="0" anchor="t">
            <a:normAutofit/>
          </a:bodyPr>
          <a:lstStyle/>
          <a:p>
            <a:pPr algn="l" indent="0" marL="0">
              <a:lnSpc>
                <a:spcPct val="130645"/>
              </a:lnSpc>
              <a:buNone/>
            </a:pPr>
            <a:r>
              <a:rPr lang="en-US" sz="1013" dirty="0">
                <a:solidFill>
                  <a:srgbClr val="3C4757"/>
                </a:solidFill>
                <a:latin typeface="Arial" pitchFamily="34" charset="0"/>
                <a:ea typeface="Arial" pitchFamily="34" charset="-122"/>
                <a:cs typeface="Arial" pitchFamily="34" charset="-120"/>
              </a:rPr>
              <a:t>Practical OT security, built by people who understand industrial systems, operational constraints and business risk.</a:t>
            </a:r>
            <a:endParaRPr lang="en-US" sz="1013" dirty="0"/>
          </a:p>
        </p:txBody>
      </p:sp>
      <p:sp>
        <p:nvSpPr>
          <p:cNvPr id="10" name="Text 8"/>
          <p:cNvSpPr/>
          <p:nvPr/>
        </p:nvSpPr>
        <p:spPr>
          <a:xfrm>
            <a:off x="495300" y="2410197"/>
            <a:ext cx="3900577"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WHO IS OXOT</a:t>
            </a:r>
            <a:endParaRPr lang="en-US" sz="750" dirty="0"/>
          </a:p>
        </p:txBody>
      </p:sp>
      <p:sp>
        <p:nvSpPr>
          <p:cNvPr id="11" name="Shape 9"/>
          <p:cNvSpPr/>
          <p:nvPr/>
        </p:nvSpPr>
        <p:spPr>
          <a:xfrm>
            <a:off x="495300" y="2586410"/>
            <a:ext cx="400050" cy="19050"/>
          </a:xfrm>
          <a:prstGeom prst="rect">
            <a:avLst/>
          </a:prstGeom>
          <a:solidFill>
            <a:srgbClr val="FF7900"/>
          </a:solidFill>
          <a:ln/>
        </p:spPr>
      </p:sp>
      <p:sp>
        <p:nvSpPr>
          <p:cNvPr id="12" name="Text 10"/>
          <p:cNvSpPr/>
          <p:nvPr/>
        </p:nvSpPr>
        <p:spPr>
          <a:xfrm>
            <a:off x="495300" y="2710235"/>
            <a:ext cx="3652358" cy="552450"/>
          </a:xfrm>
          <a:prstGeom prst="rect">
            <a:avLst/>
          </a:prstGeom>
          <a:noFill/>
          <a:ln/>
        </p:spPr>
        <p:txBody>
          <a:bodyPr wrap="square" lIns="25400" tIns="25400" rIns="25400" bIns="25400" rtlCol="0" anchor="t">
            <a:normAutofit/>
          </a:bodyPr>
          <a:lstStyle/>
          <a:p>
            <a:pPr algn="l" indent="0" marL="0">
              <a:lnSpc>
                <a:spcPct val="128571"/>
              </a:lnSpc>
              <a:buNone/>
            </a:pPr>
            <a:r>
              <a:rPr lang="en-US" sz="900" dirty="0">
                <a:solidFill>
                  <a:srgbClr val="3C4757"/>
                </a:solidFill>
                <a:latin typeface="Arial" pitchFamily="34" charset="0"/>
                <a:ea typeface="Arial" pitchFamily="34" charset="-122"/>
                <a:cs typeface="Arial" pitchFamily="34" charset="-120"/>
              </a:rPr>
              <a:t>OXOT is a Dutch cybersecurity company specialized in securing industrial environments where Operational Technology is critical to business continuity.</a:t>
            </a:r>
            <a:endParaRPr lang="en-US" sz="900" dirty="0"/>
          </a:p>
        </p:txBody>
      </p:sp>
      <p:sp>
        <p:nvSpPr>
          <p:cNvPr id="13" name="Text 11"/>
          <p:cNvSpPr/>
          <p:nvPr/>
        </p:nvSpPr>
        <p:spPr>
          <a:xfrm>
            <a:off x="495300" y="3310310"/>
            <a:ext cx="3652358" cy="895350"/>
          </a:xfrm>
          <a:prstGeom prst="rect">
            <a:avLst/>
          </a:prstGeom>
          <a:noFill/>
          <a:ln/>
        </p:spPr>
        <p:txBody>
          <a:bodyPr wrap="square" lIns="25400" tIns="25400" rIns="25400" bIns="25400" rtlCol="0" anchor="t">
            <a:normAutofit/>
          </a:bodyPr>
          <a:lstStyle/>
          <a:p>
            <a:pPr algn="l" indent="0" marL="0">
              <a:lnSpc>
                <a:spcPct val="128571"/>
              </a:lnSpc>
              <a:buNone/>
            </a:pPr>
            <a:r>
              <a:rPr lang="en-US" sz="900" dirty="0">
                <a:solidFill>
                  <a:srgbClr val="3C4757"/>
                </a:solidFill>
                <a:latin typeface="Arial" pitchFamily="34" charset="0"/>
                <a:ea typeface="Arial" pitchFamily="34" charset="-122"/>
                <a:cs typeface="Arial" pitchFamily="34" charset="-120"/>
              </a:rPr>
              <a:t>Founded by former Fox-IT / NCC OT security leads, OXOT combines deep OT security expertise, hands-on experience in critical infrastructure and advanced data-driven capabilities. The team brings experience from complex environments such as energy, water, logistics and manufacturing.</a:t>
            </a:r>
            <a:endParaRPr lang="en-US" sz="900" dirty="0"/>
          </a:p>
        </p:txBody>
      </p:sp>
      <p:sp>
        <p:nvSpPr>
          <p:cNvPr id="14" name="Text 12"/>
          <p:cNvSpPr/>
          <p:nvPr/>
        </p:nvSpPr>
        <p:spPr>
          <a:xfrm>
            <a:off x="495300" y="4253285"/>
            <a:ext cx="3652358" cy="552450"/>
          </a:xfrm>
          <a:prstGeom prst="rect">
            <a:avLst/>
          </a:prstGeom>
          <a:noFill/>
          <a:ln/>
        </p:spPr>
        <p:txBody>
          <a:bodyPr wrap="square" lIns="25400" tIns="25400" rIns="25400" bIns="25400" rtlCol="0" anchor="t">
            <a:normAutofit/>
          </a:bodyPr>
          <a:lstStyle/>
          <a:p>
            <a:pPr algn="l" indent="0" marL="0">
              <a:lnSpc>
                <a:spcPct val="128571"/>
              </a:lnSpc>
              <a:buNone/>
            </a:pPr>
            <a:r>
              <a:rPr lang="en-US" sz="900" dirty="0">
                <a:solidFill>
                  <a:srgbClr val="3C4757"/>
                </a:solidFill>
                <a:latin typeface="Arial" pitchFamily="34" charset="0"/>
                <a:ea typeface="Arial" pitchFamily="34" charset="-122"/>
                <a:cs typeface="Arial" pitchFamily="34" charset="-120"/>
              </a:rPr>
              <a:t>We understand that OT security is not about creating more reports. It is about helping organizations make better decisions, reduce operational risk and improve resilience without disrupting production.</a:t>
            </a:r>
            <a:endParaRPr lang="en-US" sz="900" dirty="0"/>
          </a:p>
        </p:txBody>
      </p:sp>
      <p:sp>
        <p:nvSpPr>
          <p:cNvPr id="15" name="Text 13"/>
          <p:cNvSpPr/>
          <p:nvPr/>
        </p:nvSpPr>
        <p:spPr>
          <a:xfrm>
            <a:off x="4193679" y="2410197"/>
            <a:ext cx="3391763"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WHAT MAKES OXOT DIFFERENT</a:t>
            </a:r>
            <a:endParaRPr lang="en-US" sz="750" dirty="0"/>
          </a:p>
        </p:txBody>
      </p:sp>
      <p:sp>
        <p:nvSpPr>
          <p:cNvPr id="16" name="Shape 14"/>
          <p:cNvSpPr/>
          <p:nvPr/>
        </p:nvSpPr>
        <p:spPr>
          <a:xfrm>
            <a:off x="4193679" y="2586410"/>
            <a:ext cx="400050" cy="19050"/>
          </a:xfrm>
          <a:prstGeom prst="rect">
            <a:avLst/>
          </a:prstGeom>
          <a:solidFill>
            <a:srgbClr val="FF7900"/>
          </a:solidFill>
          <a:ln/>
        </p:spPr>
      </p:sp>
      <p:sp>
        <p:nvSpPr>
          <p:cNvPr id="17" name="Shape 15"/>
          <p:cNvSpPr/>
          <p:nvPr/>
        </p:nvSpPr>
        <p:spPr>
          <a:xfrm>
            <a:off x="4193679" y="2710235"/>
            <a:ext cx="3083421" cy="1930822"/>
          </a:xfrm>
          <a:prstGeom prst="roundRect">
            <a:avLst>
              <a:gd name="adj" fmla="val 3947"/>
            </a:avLst>
          </a:prstGeom>
          <a:solidFill>
            <a:srgbClr val="F5F8FC"/>
          </a:solidFill>
          <a:ln w="9525">
            <a:solidFill>
              <a:srgbClr val="D7E1EF"/>
            </a:solidFill>
            <a:prstDash val="solid"/>
          </a:ln>
        </p:spPr>
      </p:sp>
      <p:sp>
        <p:nvSpPr>
          <p:cNvPr id="18" name="Text 16"/>
          <p:cNvSpPr/>
          <p:nvPr/>
        </p:nvSpPr>
        <p:spPr>
          <a:xfrm>
            <a:off x="4346079" y="2843585"/>
            <a:ext cx="114300" cy="185961"/>
          </a:xfrm>
          <a:prstGeom prst="rect">
            <a:avLst/>
          </a:prstGeom>
          <a:noFill/>
          <a:ln/>
        </p:spPr>
        <p:txBody>
          <a:bodyPr wrap="square" lIns="25400" tIns="25400" rIns="25400" bIns="25400" rtlCol="0" anchor="t">
            <a:normAutofit/>
          </a:bodyPr>
          <a:lstStyle/>
          <a:p>
            <a:pPr algn="l" indent="0" marL="0">
              <a:lnSpc>
                <a:spcPct val="114231"/>
              </a:lnSpc>
              <a:buNone/>
            </a:pPr>
            <a:r>
              <a:rPr lang="en-US" sz="825" dirty="0">
                <a:solidFill>
                  <a:srgbClr val="FF7900"/>
                </a:solidFill>
                <a:latin typeface="Arial" pitchFamily="34" charset="0"/>
                <a:ea typeface="Arial" pitchFamily="34" charset="-122"/>
                <a:cs typeface="Arial" pitchFamily="34" charset="-120"/>
              </a:rPr>
              <a:t>·</a:t>
            </a:r>
            <a:endParaRPr lang="en-US" sz="825" dirty="0"/>
          </a:p>
        </p:txBody>
      </p:sp>
      <p:sp>
        <p:nvSpPr>
          <p:cNvPr id="19" name="Text 17"/>
          <p:cNvSpPr/>
          <p:nvPr/>
        </p:nvSpPr>
        <p:spPr>
          <a:xfrm>
            <a:off x="4457179" y="2843585"/>
            <a:ext cx="2754109" cy="185961"/>
          </a:xfrm>
          <a:prstGeom prst="rect">
            <a:avLst/>
          </a:prstGeom>
          <a:noFill/>
          <a:ln/>
        </p:spPr>
        <p:txBody>
          <a:bodyPr wrap="square" lIns="25400" tIns="25400" rIns="25400" bIns="25400" rtlCol="0" anchor="t">
            <a:normAutofit/>
          </a:bodyPr>
          <a:lstStyle/>
          <a:p>
            <a:pPr algn="l" indent="0" marL="0">
              <a:lnSpc>
                <a:spcPct val="115000"/>
              </a:lnSpc>
              <a:buNone/>
            </a:pPr>
            <a:r>
              <a:rPr lang="en-US" sz="863" dirty="0">
                <a:solidFill>
                  <a:srgbClr val="3C4757"/>
                </a:solidFill>
                <a:latin typeface="Arial" pitchFamily="34" charset="0"/>
                <a:ea typeface="Arial" pitchFamily="34" charset="-122"/>
                <a:cs typeface="Arial" pitchFamily="34" charset="-120"/>
              </a:rPr>
              <a:t>OT-first thinking, not IT security copied into the plant</a:t>
            </a:r>
            <a:endParaRPr lang="en-US" sz="863" dirty="0"/>
          </a:p>
        </p:txBody>
      </p:sp>
      <p:sp>
        <p:nvSpPr>
          <p:cNvPr id="20" name="Text 18"/>
          <p:cNvSpPr/>
          <p:nvPr/>
        </p:nvSpPr>
        <p:spPr>
          <a:xfrm>
            <a:off x="4346079" y="3058120"/>
            <a:ext cx="114300" cy="185961"/>
          </a:xfrm>
          <a:prstGeom prst="rect">
            <a:avLst/>
          </a:prstGeom>
          <a:noFill/>
          <a:ln/>
        </p:spPr>
        <p:txBody>
          <a:bodyPr wrap="square" lIns="25400" tIns="25400" rIns="25400" bIns="25400" rtlCol="0" anchor="t">
            <a:normAutofit/>
          </a:bodyPr>
          <a:lstStyle/>
          <a:p>
            <a:pPr algn="l" indent="0" marL="0">
              <a:lnSpc>
                <a:spcPct val="114231"/>
              </a:lnSpc>
              <a:buNone/>
            </a:pPr>
            <a:r>
              <a:rPr lang="en-US" sz="825" dirty="0">
                <a:solidFill>
                  <a:srgbClr val="FF7900"/>
                </a:solidFill>
                <a:latin typeface="Arial" pitchFamily="34" charset="0"/>
                <a:ea typeface="Arial" pitchFamily="34" charset="-122"/>
                <a:cs typeface="Arial" pitchFamily="34" charset="-120"/>
              </a:rPr>
              <a:t>·</a:t>
            </a:r>
            <a:endParaRPr lang="en-US" sz="825" dirty="0"/>
          </a:p>
        </p:txBody>
      </p:sp>
      <p:sp>
        <p:nvSpPr>
          <p:cNvPr id="21" name="Text 19"/>
          <p:cNvSpPr/>
          <p:nvPr/>
        </p:nvSpPr>
        <p:spPr>
          <a:xfrm>
            <a:off x="4457179" y="3058120"/>
            <a:ext cx="2844805" cy="185961"/>
          </a:xfrm>
          <a:prstGeom prst="rect">
            <a:avLst/>
          </a:prstGeom>
          <a:noFill/>
          <a:ln/>
        </p:spPr>
        <p:txBody>
          <a:bodyPr wrap="square" lIns="25400" tIns="25400" rIns="25400" bIns="25400" rtlCol="0" anchor="t">
            <a:normAutofit/>
          </a:bodyPr>
          <a:lstStyle/>
          <a:p>
            <a:pPr algn="l" indent="0" marL="0">
              <a:lnSpc>
                <a:spcPct val="115000"/>
              </a:lnSpc>
              <a:buNone/>
            </a:pPr>
            <a:r>
              <a:rPr lang="en-US" sz="863" dirty="0">
                <a:solidFill>
                  <a:srgbClr val="3C4757"/>
                </a:solidFill>
                <a:latin typeface="Arial" pitchFamily="34" charset="0"/>
                <a:ea typeface="Arial" pitchFamily="34" charset="-122"/>
                <a:cs typeface="Arial" pitchFamily="34" charset="-120"/>
              </a:rPr>
              <a:t>Practical experience in critical industrial environments</a:t>
            </a:r>
            <a:endParaRPr lang="en-US" sz="863" dirty="0"/>
          </a:p>
        </p:txBody>
      </p:sp>
      <p:sp>
        <p:nvSpPr>
          <p:cNvPr id="22" name="Text 20"/>
          <p:cNvSpPr/>
          <p:nvPr/>
        </p:nvSpPr>
        <p:spPr>
          <a:xfrm>
            <a:off x="4346079" y="3272656"/>
            <a:ext cx="114300" cy="333821"/>
          </a:xfrm>
          <a:prstGeom prst="rect">
            <a:avLst/>
          </a:prstGeom>
          <a:noFill/>
          <a:ln/>
        </p:spPr>
        <p:txBody>
          <a:bodyPr wrap="square" lIns="25400" tIns="25400" rIns="25400" bIns="25400" rtlCol="0" anchor="t">
            <a:normAutofit/>
          </a:bodyPr>
          <a:lstStyle/>
          <a:p>
            <a:pPr algn="l" indent="0" marL="0">
              <a:lnSpc>
                <a:spcPct val="114231"/>
              </a:lnSpc>
              <a:buNone/>
            </a:pPr>
            <a:r>
              <a:rPr lang="en-US" sz="825" dirty="0">
                <a:solidFill>
                  <a:srgbClr val="FF7900"/>
                </a:solidFill>
                <a:latin typeface="Arial" pitchFamily="34" charset="0"/>
                <a:ea typeface="Arial" pitchFamily="34" charset="-122"/>
                <a:cs typeface="Arial" pitchFamily="34" charset="-120"/>
              </a:rPr>
              <a:t>·</a:t>
            </a:r>
            <a:endParaRPr lang="en-US" sz="825" dirty="0"/>
          </a:p>
        </p:txBody>
      </p:sp>
      <p:sp>
        <p:nvSpPr>
          <p:cNvPr id="23" name="Text 21"/>
          <p:cNvSpPr/>
          <p:nvPr/>
        </p:nvSpPr>
        <p:spPr>
          <a:xfrm>
            <a:off x="4457179" y="3272656"/>
            <a:ext cx="2747547" cy="333821"/>
          </a:xfrm>
          <a:prstGeom prst="rect">
            <a:avLst/>
          </a:prstGeom>
          <a:noFill/>
          <a:ln/>
        </p:spPr>
        <p:txBody>
          <a:bodyPr wrap="square" lIns="25400" tIns="25400" rIns="25400" bIns="25400" rtlCol="0" anchor="t">
            <a:normAutofit/>
          </a:bodyPr>
          <a:lstStyle/>
          <a:p>
            <a:pPr algn="l" indent="0" marL="0">
              <a:lnSpc>
                <a:spcPct val="115000"/>
              </a:lnSpc>
              <a:buNone/>
            </a:pPr>
            <a:r>
              <a:rPr lang="en-US" sz="863" dirty="0">
                <a:solidFill>
                  <a:srgbClr val="3C4757"/>
                </a:solidFill>
                <a:latin typeface="Arial" pitchFamily="34" charset="0"/>
                <a:ea typeface="Arial" pitchFamily="34" charset="-122"/>
                <a:cs typeface="Arial" pitchFamily="34" charset="-120"/>
              </a:rPr>
              <a:t>Clear communication for both technical and executive stakeholders</a:t>
            </a:r>
            <a:endParaRPr lang="en-US" sz="863" dirty="0"/>
          </a:p>
        </p:txBody>
      </p:sp>
      <p:sp>
        <p:nvSpPr>
          <p:cNvPr id="24" name="Text 22"/>
          <p:cNvSpPr/>
          <p:nvPr/>
        </p:nvSpPr>
        <p:spPr>
          <a:xfrm>
            <a:off x="4346079" y="3635053"/>
            <a:ext cx="114300" cy="333821"/>
          </a:xfrm>
          <a:prstGeom prst="rect">
            <a:avLst/>
          </a:prstGeom>
          <a:noFill/>
          <a:ln/>
        </p:spPr>
        <p:txBody>
          <a:bodyPr wrap="square" lIns="25400" tIns="25400" rIns="25400" bIns="25400" rtlCol="0" anchor="t">
            <a:normAutofit/>
          </a:bodyPr>
          <a:lstStyle/>
          <a:p>
            <a:pPr algn="l" indent="0" marL="0">
              <a:lnSpc>
                <a:spcPct val="114231"/>
              </a:lnSpc>
              <a:buNone/>
            </a:pPr>
            <a:r>
              <a:rPr lang="en-US" sz="825" dirty="0">
                <a:solidFill>
                  <a:srgbClr val="FF7900"/>
                </a:solidFill>
                <a:latin typeface="Arial" pitchFamily="34" charset="0"/>
                <a:ea typeface="Arial" pitchFamily="34" charset="-122"/>
                <a:cs typeface="Arial" pitchFamily="34" charset="-120"/>
              </a:rPr>
              <a:t>·</a:t>
            </a:r>
            <a:endParaRPr lang="en-US" sz="825" dirty="0"/>
          </a:p>
        </p:txBody>
      </p:sp>
      <p:sp>
        <p:nvSpPr>
          <p:cNvPr id="25" name="Text 23"/>
          <p:cNvSpPr/>
          <p:nvPr/>
        </p:nvSpPr>
        <p:spPr>
          <a:xfrm>
            <a:off x="4457179" y="3635053"/>
            <a:ext cx="2747547" cy="333821"/>
          </a:xfrm>
          <a:prstGeom prst="rect">
            <a:avLst/>
          </a:prstGeom>
          <a:noFill/>
          <a:ln/>
        </p:spPr>
        <p:txBody>
          <a:bodyPr wrap="square" lIns="25400" tIns="25400" rIns="25400" bIns="25400" rtlCol="0" anchor="t">
            <a:normAutofit/>
          </a:bodyPr>
          <a:lstStyle/>
          <a:p>
            <a:pPr algn="l" indent="0" marL="0">
              <a:lnSpc>
                <a:spcPct val="115000"/>
              </a:lnSpc>
              <a:buNone/>
            </a:pPr>
            <a:r>
              <a:rPr lang="en-US" sz="863" dirty="0">
                <a:solidFill>
                  <a:srgbClr val="3C4757"/>
                </a:solidFill>
                <a:latin typeface="Arial" pitchFamily="34" charset="0"/>
                <a:ea typeface="Arial" pitchFamily="34" charset="-122"/>
                <a:cs typeface="Arial" pitchFamily="34" charset="-120"/>
              </a:rPr>
              <a:t>Risk-based prioritization instead of generic control checklists</a:t>
            </a:r>
            <a:endParaRPr lang="en-US" sz="863" dirty="0"/>
          </a:p>
        </p:txBody>
      </p:sp>
      <p:sp>
        <p:nvSpPr>
          <p:cNvPr id="26" name="Text 24"/>
          <p:cNvSpPr/>
          <p:nvPr/>
        </p:nvSpPr>
        <p:spPr>
          <a:xfrm>
            <a:off x="4346079" y="3997449"/>
            <a:ext cx="114300" cy="185961"/>
          </a:xfrm>
          <a:prstGeom prst="rect">
            <a:avLst/>
          </a:prstGeom>
          <a:noFill/>
          <a:ln/>
        </p:spPr>
        <p:txBody>
          <a:bodyPr wrap="square" lIns="25400" tIns="25400" rIns="25400" bIns="25400" rtlCol="0" anchor="t">
            <a:normAutofit/>
          </a:bodyPr>
          <a:lstStyle/>
          <a:p>
            <a:pPr algn="l" indent="0" marL="0">
              <a:lnSpc>
                <a:spcPct val="114231"/>
              </a:lnSpc>
              <a:buNone/>
            </a:pPr>
            <a:r>
              <a:rPr lang="en-US" sz="825" dirty="0">
                <a:solidFill>
                  <a:srgbClr val="FF7900"/>
                </a:solidFill>
                <a:latin typeface="Arial" pitchFamily="34" charset="0"/>
                <a:ea typeface="Arial" pitchFamily="34" charset="-122"/>
                <a:cs typeface="Arial" pitchFamily="34" charset="-120"/>
              </a:rPr>
              <a:t>·</a:t>
            </a:r>
            <a:endParaRPr lang="en-US" sz="825" dirty="0"/>
          </a:p>
        </p:txBody>
      </p:sp>
      <p:sp>
        <p:nvSpPr>
          <p:cNvPr id="27" name="Text 25"/>
          <p:cNvSpPr/>
          <p:nvPr/>
        </p:nvSpPr>
        <p:spPr>
          <a:xfrm>
            <a:off x="4457179" y="3997449"/>
            <a:ext cx="2922813" cy="185961"/>
          </a:xfrm>
          <a:prstGeom prst="rect">
            <a:avLst/>
          </a:prstGeom>
          <a:noFill/>
          <a:ln/>
        </p:spPr>
        <p:txBody>
          <a:bodyPr wrap="square" lIns="25400" tIns="25400" rIns="25400" bIns="25400" rtlCol="0" anchor="t">
            <a:normAutofit/>
          </a:bodyPr>
          <a:lstStyle/>
          <a:p>
            <a:pPr algn="l" indent="0" marL="0">
              <a:lnSpc>
                <a:spcPct val="115000"/>
              </a:lnSpc>
              <a:buNone/>
            </a:pPr>
            <a:r>
              <a:rPr lang="en-US" sz="863" dirty="0">
                <a:solidFill>
                  <a:srgbClr val="3C4757"/>
                </a:solidFill>
                <a:latin typeface="Arial" pitchFamily="34" charset="0"/>
                <a:ea typeface="Arial" pitchFamily="34" charset="-122"/>
                <a:cs typeface="Arial" pitchFamily="34" charset="-120"/>
              </a:rPr>
              <a:t>Scalable approach using Cyber Digital Twin capabilities</a:t>
            </a:r>
            <a:endParaRPr lang="en-US" sz="863" dirty="0"/>
          </a:p>
        </p:txBody>
      </p:sp>
      <p:sp>
        <p:nvSpPr>
          <p:cNvPr id="28" name="Text 26"/>
          <p:cNvSpPr/>
          <p:nvPr/>
        </p:nvSpPr>
        <p:spPr>
          <a:xfrm>
            <a:off x="4346079" y="4211985"/>
            <a:ext cx="114300" cy="333821"/>
          </a:xfrm>
          <a:prstGeom prst="rect">
            <a:avLst/>
          </a:prstGeom>
          <a:noFill/>
          <a:ln/>
        </p:spPr>
        <p:txBody>
          <a:bodyPr wrap="square" lIns="25400" tIns="25400" rIns="25400" bIns="25400" rtlCol="0" anchor="t">
            <a:normAutofit/>
          </a:bodyPr>
          <a:lstStyle/>
          <a:p>
            <a:pPr algn="l" indent="0" marL="0">
              <a:lnSpc>
                <a:spcPct val="114231"/>
              </a:lnSpc>
              <a:buNone/>
            </a:pPr>
            <a:r>
              <a:rPr lang="en-US" sz="825" dirty="0">
                <a:solidFill>
                  <a:srgbClr val="FF7900"/>
                </a:solidFill>
                <a:latin typeface="Arial" pitchFamily="34" charset="0"/>
                <a:ea typeface="Arial" pitchFamily="34" charset="-122"/>
                <a:cs typeface="Arial" pitchFamily="34" charset="-120"/>
              </a:rPr>
              <a:t>·</a:t>
            </a:r>
            <a:endParaRPr lang="en-US" sz="825" dirty="0"/>
          </a:p>
        </p:txBody>
      </p:sp>
      <p:sp>
        <p:nvSpPr>
          <p:cNvPr id="29" name="Text 27"/>
          <p:cNvSpPr/>
          <p:nvPr/>
        </p:nvSpPr>
        <p:spPr>
          <a:xfrm>
            <a:off x="4457179" y="4211985"/>
            <a:ext cx="2747547" cy="333821"/>
          </a:xfrm>
          <a:prstGeom prst="rect">
            <a:avLst/>
          </a:prstGeom>
          <a:noFill/>
          <a:ln/>
        </p:spPr>
        <p:txBody>
          <a:bodyPr wrap="square" lIns="25400" tIns="25400" rIns="25400" bIns="25400" rtlCol="0" anchor="t">
            <a:normAutofit/>
          </a:bodyPr>
          <a:lstStyle/>
          <a:p>
            <a:pPr algn="l" indent="0" marL="0">
              <a:lnSpc>
                <a:spcPct val="115000"/>
              </a:lnSpc>
              <a:buNone/>
            </a:pPr>
            <a:r>
              <a:rPr lang="en-US" sz="863" dirty="0">
                <a:solidFill>
                  <a:srgbClr val="3C4757"/>
                </a:solidFill>
                <a:latin typeface="Arial" pitchFamily="34" charset="0"/>
                <a:ea typeface="Arial" pitchFamily="34" charset="-122"/>
                <a:cs typeface="Arial" pitchFamily="34" charset="-120"/>
              </a:rPr>
              <a:t>Focus on capability transfer, helping organizations build and retain scarce OT security expertise internally</a:t>
            </a:r>
            <a:endParaRPr lang="en-US" sz="863" dirty="0"/>
          </a:p>
        </p:txBody>
      </p:sp>
      <p:sp>
        <p:nvSpPr>
          <p:cNvPr id="30" name="Text 28"/>
          <p:cNvSpPr/>
          <p:nvPr/>
        </p:nvSpPr>
        <p:spPr>
          <a:xfrm>
            <a:off x="495300" y="4920035"/>
            <a:ext cx="7459980"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WHAT WE DO</a:t>
            </a:r>
            <a:endParaRPr lang="en-US" sz="750" dirty="0"/>
          </a:p>
        </p:txBody>
      </p:sp>
      <p:sp>
        <p:nvSpPr>
          <p:cNvPr id="31" name="Shape 29"/>
          <p:cNvSpPr/>
          <p:nvPr/>
        </p:nvSpPr>
        <p:spPr>
          <a:xfrm>
            <a:off x="495300" y="5096247"/>
            <a:ext cx="400050" cy="19050"/>
          </a:xfrm>
          <a:prstGeom prst="rect">
            <a:avLst/>
          </a:prstGeom>
          <a:solidFill>
            <a:srgbClr val="FF7900"/>
          </a:solidFill>
          <a:ln/>
        </p:spPr>
      </p:sp>
      <p:sp>
        <p:nvSpPr>
          <p:cNvPr id="32" name="Text 30"/>
          <p:cNvSpPr/>
          <p:nvPr/>
        </p:nvSpPr>
        <p:spPr>
          <a:xfrm>
            <a:off x="495300" y="5220072"/>
            <a:ext cx="6769418" cy="381000"/>
          </a:xfrm>
          <a:prstGeom prst="rect">
            <a:avLst/>
          </a:prstGeom>
          <a:noFill/>
          <a:ln/>
        </p:spPr>
        <p:txBody>
          <a:bodyPr wrap="square" lIns="25400" tIns="25400" rIns="25400" bIns="25400" rtlCol="0" anchor="t">
            <a:normAutofit/>
          </a:bodyPr>
          <a:lstStyle/>
          <a:p>
            <a:pPr algn="l" indent="0" marL="0">
              <a:lnSpc>
                <a:spcPct val="128571"/>
              </a:lnSpc>
              <a:buNone/>
            </a:pPr>
            <a:r>
              <a:rPr lang="en-US" sz="900" dirty="0">
                <a:solidFill>
                  <a:srgbClr val="3C4757"/>
                </a:solidFill>
                <a:latin typeface="Arial" pitchFamily="34" charset="0"/>
                <a:ea typeface="Arial" pitchFamily="34" charset="-122"/>
                <a:cs typeface="Arial" pitchFamily="34" charset="-120"/>
              </a:rPr>
              <a:t>OXOT is an operational-technology (OT) cybersecurity consultancy. We help industrial operators, manufacturers and integrators secure their systems — from assessments and architecture to the Cyber Digital Twin and long-term security programmes.</a:t>
            </a:r>
            <a:endParaRPr lang="en-US" sz="900" dirty="0"/>
          </a:p>
        </p:txBody>
      </p:sp>
      <p:sp>
        <p:nvSpPr>
          <p:cNvPr id="33" name="Text 31"/>
          <p:cNvSpPr/>
          <p:nvPr/>
        </p:nvSpPr>
        <p:spPr>
          <a:xfrm>
            <a:off x="495300" y="5715372"/>
            <a:ext cx="7459980"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FOUNDERS</a:t>
            </a:r>
            <a:endParaRPr lang="en-US" sz="750" dirty="0"/>
          </a:p>
        </p:txBody>
      </p:sp>
      <p:sp>
        <p:nvSpPr>
          <p:cNvPr id="34" name="Shape 32"/>
          <p:cNvSpPr/>
          <p:nvPr/>
        </p:nvSpPr>
        <p:spPr>
          <a:xfrm>
            <a:off x="495300" y="5891585"/>
            <a:ext cx="400050" cy="19050"/>
          </a:xfrm>
          <a:prstGeom prst="rect">
            <a:avLst/>
          </a:prstGeom>
          <a:solidFill>
            <a:srgbClr val="FF7900"/>
          </a:solidFill>
          <a:ln/>
        </p:spPr>
      </p:sp>
      <p:sp>
        <p:nvSpPr>
          <p:cNvPr id="35" name="Shape 33"/>
          <p:cNvSpPr/>
          <p:nvPr/>
        </p:nvSpPr>
        <p:spPr>
          <a:xfrm>
            <a:off x="495300" y="6015410"/>
            <a:ext cx="2190750" cy="2719015"/>
          </a:xfrm>
          <a:prstGeom prst="roundRect">
            <a:avLst>
              <a:gd name="adj" fmla="val 3913"/>
            </a:avLst>
          </a:prstGeom>
          <a:solidFill>
            <a:srgbClr val="FFFFFF"/>
          </a:solidFill>
          <a:ln w="9525">
            <a:solidFill>
              <a:srgbClr val="E2DCCE"/>
            </a:solidFill>
            <a:prstDash val="solid"/>
          </a:ln>
        </p:spPr>
      </p:sp>
      <p:sp>
        <p:nvSpPr>
          <p:cNvPr id="36" name="Text 34"/>
          <p:cNvSpPr/>
          <p:nvPr/>
        </p:nvSpPr>
        <p:spPr>
          <a:xfrm>
            <a:off x="638175" y="6139235"/>
            <a:ext cx="2095500"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14233B"/>
                </a:solidFill>
                <a:latin typeface="Georgia" pitchFamily="34" charset="0"/>
                <a:ea typeface="Georgia" pitchFamily="34" charset="-122"/>
                <a:cs typeface="Georgia" pitchFamily="34" charset="-120"/>
              </a:rPr>
              <a:t>Vincent de Mildt</a:t>
            </a:r>
            <a:endParaRPr lang="en-US" sz="1350" dirty="0"/>
          </a:p>
        </p:txBody>
      </p:sp>
      <p:sp>
        <p:nvSpPr>
          <p:cNvPr id="37" name="Text 35"/>
          <p:cNvSpPr/>
          <p:nvPr/>
        </p:nvSpPr>
        <p:spPr>
          <a:xfrm>
            <a:off x="638175" y="6372597"/>
            <a:ext cx="2095500" cy="133350"/>
          </a:xfrm>
          <a:prstGeom prst="rect">
            <a:avLst/>
          </a:prstGeom>
          <a:noFill/>
          <a:ln/>
        </p:spPr>
        <p:txBody>
          <a:bodyPr wrap="square" lIns="25400" tIns="25400" rIns="25400" bIns="25400" rtlCol="0" anchor="t">
            <a:normAutofit/>
          </a:bodyPr>
          <a:lstStyle/>
          <a:p>
            <a:pPr algn="l" indent="0" marL="0">
              <a:buNone/>
            </a:pPr>
            <a:r>
              <a:rPr lang="en-US" sz="638" b="1" spc="135" kern="0" dirty="0">
                <a:solidFill>
                  <a:srgbClr val="FF7900"/>
                </a:solidFill>
                <a:latin typeface="Arial" pitchFamily="34" charset="0"/>
                <a:ea typeface="Arial" pitchFamily="34" charset="-122"/>
                <a:cs typeface="Arial" pitchFamily="34" charset="-120"/>
              </a:rPr>
              <a:t>CO-FOUNDER</a:t>
            </a:r>
            <a:endParaRPr lang="en-US" sz="638" dirty="0"/>
          </a:p>
        </p:txBody>
      </p:sp>
      <p:sp>
        <p:nvSpPr>
          <p:cNvPr id="38" name="Text 36"/>
          <p:cNvSpPr/>
          <p:nvPr/>
        </p:nvSpPr>
        <p:spPr>
          <a:xfrm>
            <a:off x="638175" y="6544047"/>
            <a:ext cx="1981200" cy="1483965"/>
          </a:xfrm>
          <a:prstGeom prst="rect">
            <a:avLst/>
          </a:prstGeom>
          <a:noFill/>
          <a:ln/>
        </p:spPr>
        <p:txBody>
          <a:bodyPr wrap="square" lIns="25400" tIns="25400" rIns="25400" bIns="25400" rtlCol="0" anchor="t">
            <a:normAutofit/>
          </a:bodyPr>
          <a:lstStyle/>
          <a:p>
            <a:pPr algn="l" indent="0" marL="0">
              <a:lnSpc>
                <a:spcPct val="116769"/>
              </a:lnSpc>
              <a:buNone/>
            </a:pPr>
            <a:r>
              <a:rPr lang="en-US" sz="825" dirty="0">
                <a:solidFill>
                  <a:srgbClr val="3C4757"/>
                </a:solidFill>
                <a:latin typeface="Arial" pitchFamily="34" charset="0"/>
                <a:ea typeface="Arial" pitchFamily="34" charset="-122"/>
                <a:cs typeface="Arial" pitchFamily="34" charset="-120"/>
              </a:rPr>
              <a:t>For over two decades, Vincent has worked alongside operators, executives and security teams across critical infrastructure. He understands the realities of industrial environments: complex operations, limited downtime, legacy systems and the need to keep production running safely — and translates that complexity into clear priorities and measurable progress.</a:t>
            </a:r>
            <a:endParaRPr lang="en-US" sz="825" dirty="0"/>
          </a:p>
        </p:txBody>
      </p:sp>
      <p:sp>
        <p:nvSpPr>
          <p:cNvPr id="39" name="Shape 37"/>
          <p:cNvSpPr/>
          <p:nvPr/>
        </p:nvSpPr>
        <p:spPr>
          <a:xfrm>
            <a:off x="638175" y="8248650"/>
            <a:ext cx="1905000" cy="9525"/>
          </a:xfrm>
          <a:prstGeom prst="rect">
            <a:avLst/>
          </a:prstGeom>
          <a:solidFill>
            <a:srgbClr val="E2DCCE"/>
          </a:solidFill>
          <a:ln/>
        </p:spPr>
      </p:sp>
      <p:sp>
        <p:nvSpPr>
          <p:cNvPr id="40" name="Text 38"/>
          <p:cNvSpPr/>
          <p:nvPr/>
        </p:nvSpPr>
        <p:spPr>
          <a:xfrm>
            <a:off x="638175" y="8343900"/>
            <a:ext cx="1981200" cy="304800"/>
          </a:xfrm>
          <a:prstGeom prst="rect">
            <a:avLst/>
          </a:prstGeom>
          <a:noFill/>
          <a:ln/>
        </p:spPr>
        <p:txBody>
          <a:bodyPr wrap="square" lIns="25400" tIns="25400" rIns="25400" bIns="25400" rtlCol="0" anchor="t">
            <a:normAutofit/>
          </a:bodyPr>
          <a:lstStyle/>
          <a:p>
            <a:pPr algn="l" indent="0" marL="0">
              <a:lnSpc>
                <a:spcPct val="121739"/>
              </a:lnSpc>
              <a:buNone/>
            </a:pPr>
            <a:r>
              <a:rPr lang="en-US" sz="750" b="1" dirty="0">
                <a:solidFill>
                  <a:srgbClr val="1E3A6E"/>
                </a:solidFill>
                <a:latin typeface="Arial" pitchFamily="34" charset="0"/>
                <a:ea typeface="Arial" pitchFamily="34" charset="-122"/>
                <a:cs typeface="Arial" pitchFamily="34" charset="-120"/>
              </a:rPr>
              <a:t>Focus: business development, strategic partnerships, customer success.</a:t>
            </a:r>
            <a:endParaRPr lang="en-US" sz="750" dirty="0"/>
          </a:p>
        </p:txBody>
      </p:sp>
      <p:sp>
        <p:nvSpPr>
          <p:cNvPr id="41" name="Shape 39"/>
          <p:cNvSpPr/>
          <p:nvPr/>
        </p:nvSpPr>
        <p:spPr>
          <a:xfrm>
            <a:off x="2790825" y="6015410"/>
            <a:ext cx="2190750" cy="2719015"/>
          </a:xfrm>
          <a:prstGeom prst="roundRect">
            <a:avLst>
              <a:gd name="adj" fmla="val 3913"/>
            </a:avLst>
          </a:prstGeom>
          <a:solidFill>
            <a:srgbClr val="FFFFFF"/>
          </a:solidFill>
          <a:ln w="9525">
            <a:solidFill>
              <a:srgbClr val="E2DCCE"/>
            </a:solidFill>
            <a:prstDash val="solid"/>
          </a:ln>
        </p:spPr>
      </p:sp>
      <p:sp>
        <p:nvSpPr>
          <p:cNvPr id="42" name="Text 40"/>
          <p:cNvSpPr/>
          <p:nvPr/>
        </p:nvSpPr>
        <p:spPr>
          <a:xfrm>
            <a:off x="2933700" y="6139235"/>
            <a:ext cx="2095500"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14233B"/>
                </a:solidFill>
                <a:latin typeface="Georgia" pitchFamily="34" charset="0"/>
                <a:ea typeface="Georgia" pitchFamily="34" charset="-122"/>
                <a:cs typeface="Georgia" pitchFamily="34" charset="-120"/>
              </a:rPr>
              <a:t>Gerben van der Lei</a:t>
            </a:r>
            <a:endParaRPr lang="en-US" sz="1350" dirty="0"/>
          </a:p>
        </p:txBody>
      </p:sp>
      <p:sp>
        <p:nvSpPr>
          <p:cNvPr id="43" name="Text 41"/>
          <p:cNvSpPr/>
          <p:nvPr/>
        </p:nvSpPr>
        <p:spPr>
          <a:xfrm>
            <a:off x="2933700" y="6372597"/>
            <a:ext cx="2095500" cy="133350"/>
          </a:xfrm>
          <a:prstGeom prst="rect">
            <a:avLst/>
          </a:prstGeom>
          <a:noFill/>
          <a:ln/>
        </p:spPr>
        <p:txBody>
          <a:bodyPr wrap="square" lIns="25400" tIns="25400" rIns="25400" bIns="25400" rtlCol="0" anchor="t">
            <a:normAutofit/>
          </a:bodyPr>
          <a:lstStyle/>
          <a:p>
            <a:pPr algn="l" indent="0" marL="0">
              <a:buNone/>
            </a:pPr>
            <a:r>
              <a:rPr lang="en-US" sz="638" b="1" spc="135" kern="0" dirty="0">
                <a:solidFill>
                  <a:srgbClr val="FF7900"/>
                </a:solidFill>
                <a:latin typeface="Arial" pitchFamily="34" charset="0"/>
                <a:ea typeface="Arial" pitchFamily="34" charset="-122"/>
                <a:cs typeface="Arial" pitchFamily="34" charset="-120"/>
              </a:rPr>
              <a:t>CO-FOUNDER</a:t>
            </a:r>
            <a:endParaRPr lang="en-US" sz="638" dirty="0"/>
          </a:p>
        </p:txBody>
      </p:sp>
      <p:sp>
        <p:nvSpPr>
          <p:cNvPr id="44" name="Text 42"/>
          <p:cNvSpPr/>
          <p:nvPr/>
        </p:nvSpPr>
        <p:spPr>
          <a:xfrm>
            <a:off x="2933700" y="6544047"/>
            <a:ext cx="1981200" cy="1483965"/>
          </a:xfrm>
          <a:prstGeom prst="rect">
            <a:avLst/>
          </a:prstGeom>
          <a:noFill/>
          <a:ln/>
        </p:spPr>
        <p:txBody>
          <a:bodyPr wrap="square" lIns="25400" tIns="25400" rIns="25400" bIns="25400" rtlCol="0" anchor="t">
            <a:normAutofit/>
          </a:bodyPr>
          <a:lstStyle/>
          <a:p>
            <a:pPr algn="l" indent="0" marL="0">
              <a:lnSpc>
                <a:spcPct val="116769"/>
              </a:lnSpc>
              <a:buNone/>
            </a:pPr>
            <a:r>
              <a:rPr lang="en-US" sz="825" dirty="0">
                <a:solidFill>
                  <a:srgbClr val="3C4757"/>
                </a:solidFill>
                <a:latin typeface="Arial" pitchFamily="34" charset="0"/>
                <a:ea typeface="Arial" pitchFamily="34" charset="-122"/>
                <a:cs typeface="Arial" pitchFamily="34" charset="-120"/>
              </a:rPr>
              <a:t>Gerben has spent his career close to the engineering reality of critical infrastructure and industrial systems, knowing the process, the network and the constraints operations teams work under. He turns complex industrial environments into structured models, realistic threat scenarios and practical security improvements that work in production.</a:t>
            </a:r>
            <a:endParaRPr lang="en-US" sz="825" dirty="0"/>
          </a:p>
        </p:txBody>
      </p:sp>
      <p:sp>
        <p:nvSpPr>
          <p:cNvPr id="45" name="Shape 43"/>
          <p:cNvSpPr/>
          <p:nvPr/>
        </p:nvSpPr>
        <p:spPr>
          <a:xfrm>
            <a:off x="2933700" y="8248650"/>
            <a:ext cx="1905000" cy="9525"/>
          </a:xfrm>
          <a:prstGeom prst="rect">
            <a:avLst/>
          </a:prstGeom>
          <a:solidFill>
            <a:srgbClr val="E2DCCE"/>
          </a:solidFill>
          <a:ln/>
        </p:spPr>
      </p:sp>
      <p:sp>
        <p:nvSpPr>
          <p:cNvPr id="46" name="Text 44"/>
          <p:cNvSpPr/>
          <p:nvPr/>
        </p:nvSpPr>
        <p:spPr>
          <a:xfrm>
            <a:off x="2933700" y="8343900"/>
            <a:ext cx="1981200" cy="304800"/>
          </a:xfrm>
          <a:prstGeom prst="rect">
            <a:avLst/>
          </a:prstGeom>
          <a:noFill/>
          <a:ln/>
        </p:spPr>
        <p:txBody>
          <a:bodyPr wrap="square" lIns="25400" tIns="25400" rIns="25400" bIns="25400" rtlCol="0" anchor="t">
            <a:normAutofit/>
          </a:bodyPr>
          <a:lstStyle/>
          <a:p>
            <a:pPr algn="l" indent="0" marL="0">
              <a:lnSpc>
                <a:spcPct val="121739"/>
              </a:lnSpc>
              <a:buNone/>
            </a:pPr>
            <a:r>
              <a:rPr lang="en-US" sz="750" b="1" dirty="0">
                <a:solidFill>
                  <a:srgbClr val="1E3A6E"/>
                </a:solidFill>
                <a:latin typeface="Arial" pitchFamily="34" charset="0"/>
                <a:ea typeface="Arial" pitchFamily="34" charset="-122"/>
                <a:cs typeface="Arial" pitchFamily="34" charset="-120"/>
              </a:rPr>
              <a:t>Focus: systems engineering, industrial networks, threat modelling.</a:t>
            </a:r>
            <a:endParaRPr lang="en-US" sz="750" dirty="0"/>
          </a:p>
        </p:txBody>
      </p:sp>
      <p:sp>
        <p:nvSpPr>
          <p:cNvPr id="47" name="Shape 45"/>
          <p:cNvSpPr/>
          <p:nvPr/>
        </p:nvSpPr>
        <p:spPr>
          <a:xfrm>
            <a:off x="5086350" y="6015410"/>
            <a:ext cx="2190750" cy="2719015"/>
          </a:xfrm>
          <a:prstGeom prst="roundRect">
            <a:avLst>
              <a:gd name="adj" fmla="val 3913"/>
            </a:avLst>
          </a:prstGeom>
          <a:solidFill>
            <a:srgbClr val="FFFFFF"/>
          </a:solidFill>
          <a:ln w="9525">
            <a:solidFill>
              <a:srgbClr val="E2DCCE"/>
            </a:solidFill>
            <a:prstDash val="solid"/>
          </a:ln>
        </p:spPr>
      </p:sp>
      <p:sp>
        <p:nvSpPr>
          <p:cNvPr id="48" name="Text 46"/>
          <p:cNvSpPr/>
          <p:nvPr/>
        </p:nvSpPr>
        <p:spPr>
          <a:xfrm>
            <a:off x="5229225" y="6139235"/>
            <a:ext cx="2095500"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14233B"/>
                </a:solidFill>
                <a:latin typeface="Georgia" pitchFamily="34" charset="0"/>
                <a:ea typeface="Georgia" pitchFamily="34" charset="-122"/>
                <a:cs typeface="Georgia" pitchFamily="34" charset="-120"/>
              </a:rPr>
              <a:t>Jim McKenney</a:t>
            </a:r>
            <a:endParaRPr lang="en-US" sz="1350" dirty="0"/>
          </a:p>
        </p:txBody>
      </p:sp>
      <p:sp>
        <p:nvSpPr>
          <p:cNvPr id="49" name="Text 47"/>
          <p:cNvSpPr/>
          <p:nvPr/>
        </p:nvSpPr>
        <p:spPr>
          <a:xfrm>
            <a:off x="5229225" y="6372597"/>
            <a:ext cx="2095500" cy="133350"/>
          </a:xfrm>
          <a:prstGeom prst="rect">
            <a:avLst/>
          </a:prstGeom>
          <a:noFill/>
          <a:ln/>
        </p:spPr>
        <p:txBody>
          <a:bodyPr wrap="square" lIns="25400" tIns="25400" rIns="25400" bIns="25400" rtlCol="0" anchor="t">
            <a:normAutofit/>
          </a:bodyPr>
          <a:lstStyle/>
          <a:p>
            <a:pPr algn="l" indent="0" marL="0">
              <a:buNone/>
            </a:pPr>
            <a:r>
              <a:rPr lang="en-US" sz="638" b="1" spc="135" kern="0" dirty="0">
                <a:solidFill>
                  <a:srgbClr val="FF7900"/>
                </a:solidFill>
                <a:latin typeface="Arial" pitchFamily="34" charset="0"/>
                <a:ea typeface="Arial" pitchFamily="34" charset="-122"/>
                <a:cs typeface="Arial" pitchFamily="34" charset="-120"/>
              </a:rPr>
              <a:t>CO-FOUNDER</a:t>
            </a:r>
            <a:endParaRPr lang="en-US" sz="638" dirty="0"/>
          </a:p>
        </p:txBody>
      </p:sp>
      <p:sp>
        <p:nvSpPr>
          <p:cNvPr id="50" name="Text 48"/>
          <p:cNvSpPr/>
          <p:nvPr/>
        </p:nvSpPr>
        <p:spPr>
          <a:xfrm>
            <a:off x="5229225" y="6544047"/>
            <a:ext cx="1981200" cy="1483965"/>
          </a:xfrm>
          <a:prstGeom prst="rect">
            <a:avLst/>
          </a:prstGeom>
          <a:noFill/>
          <a:ln/>
        </p:spPr>
        <p:txBody>
          <a:bodyPr wrap="square" lIns="25400" tIns="25400" rIns="25400" bIns="25400" rtlCol="0" anchor="t">
            <a:normAutofit/>
          </a:bodyPr>
          <a:lstStyle/>
          <a:p>
            <a:pPr algn="l" indent="0" marL="0">
              <a:lnSpc>
                <a:spcPct val="116769"/>
              </a:lnSpc>
              <a:buNone/>
            </a:pPr>
            <a:r>
              <a:rPr lang="en-US" sz="825" dirty="0">
                <a:solidFill>
                  <a:srgbClr val="3C4757"/>
                </a:solidFill>
                <a:latin typeface="Arial" pitchFamily="34" charset="0"/>
                <a:ea typeface="Arial" pitchFamily="34" charset="-122"/>
                <a:cs typeface="Arial" pitchFamily="34" charset="-120"/>
              </a:rPr>
              <a:t>Jim brings a reliability and safety engineering background from global projects in rail, energy and manufacturing, integrating safety, reliability and operations from a mechanical and industrial engineering perspective. LEAN and Six Sigma focused, he leads digital transformation work that safeguards operations and the bottom line.</a:t>
            </a:r>
            <a:endParaRPr lang="en-US" sz="825" dirty="0"/>
          </a:p>
        </p:txBody>
      </p:sp>
      <p:sp>
        <p:nvSpPr>
          <p:cNvPr id="51" name="Shape 49"/>
          <p:cNvSpPr/>
          <p:nvPr/>
        </p:nvSpPr>
        <p:spPr>
          <a:xfrm>
            <a:off x="5229225" y="8115300"/>
            <a:ext cx="1905000" cy="9525"/>
          </a:xfrm>
          <a:prstGeom prst="rect">
            <a:avLst/>
          </a:prstGeom>
          <a:solidFill>
            <a:srgbClr val="E2DCCE"/>
          </a:solidFill>
          <a:ln/>
        </p:spPr>
      </p:sp>
      <p:sp>
        <p:nvSpPr>
          <p:cNvPr id="52" name="Text 50"/>
          <p:cNvSpPr/>
          <p:nvPr/>
        </p:nvSpPr>
        <p:spPr>
          <a:xfrm>
            <a:off x="5229225" y="8210550"/>
            <a:ext cx="1981200" cy="438150"/>
          </a:xfrm>
          <a:prstGeom prst="rect">
            <a:avLst/>
          </a:prstGeom>
          <a:noFill/>
          <a:ln/>
        </p:spPr>
        <p:txBody>
          <a:bodyPr wrap="square" lIns="25400" tIns="25400" rIns="25400" bIns="25400" rtlCol="0" anchor="t">
            <a:normAutofit/>
          </a:bodyPr>
          <a:lstStyle/>
          <a:p>
            <a:pPr algn="l" indent="0" marL="0">
              <a:lnSpc>
                <a:spcPct val="121739"/>
              </a:lnSpc>
              <a:buNone/>
            </a:pPr>
            <a:r>
              <a:rPr lang="en-US" sz="750" b="1" dirty="0">
                <a:solidFill>
                  <a:srgbClr val="1E3A6E"/>
                </a:solidFill>
                <a:latin typeface="Arial" pitchFamily="34" charset="0"/>
                <a:ea typeface="Arial" pitchFamily="34" charset="-122"/>
                <a:cs typeface="Arial" pitchFamily="34" charset="-120"/>
              </a:rPr>
              <a:t>Focus: reliability &amp; safety engineering, operational excellence, digital transformation.</a:t>
            </a:r>
            <a:endParaRPr lang="en-US" sz="750" dirty="0"/>
          </a:p>
        </p:txBody>
      </p:sp>
      <p:sp>
        <p:nvSpPr>
          <p:cNvPr id="53" name="Shape 51"/>
          <p:cNvSpPr/>
          <p:nvPr/>
        </p:nvSpPr>
        <p:spPr>
          <a:xfrm>
            <a:off x="495300" y="8848725"/>
            <a:ext cx="6781800" cy="552450"/>
          </a:xfrm>
          <a:prstGeom prst="roundRect">
            <a:avLst>
              <a:gd name="adj" fmla="val 15517"/>
            </a:avLst>
          </a:prstGeom>
          <a:solidFill>
            <a:srgbClr val="14233B"/>
          </a:solidFill>
          <a:ln/>
        </p:spPr>
      </p:sp>
      <p:sp>
        <p:nvSpPr>
          <p:cNvPr id="54" name="Shape 52"/>
          <p:cNvSpPr/>
          <p:nvPr/>
        </p:nvSpPr>
        <p:spPr>
          <a:xfrm>
            <a:off x="495300" y="8848725"/>
            <a:ext cx="38100" cy="552450"/>
          </a:xfrm>
          <a:prstGeom prst="rect">
            <a:avLst/>
          </a:prstGeom>
          <a:solidFill>
            <a:srgbClr val="FF7900"/>
          </a:solidFill>
          <a:ln/>
        </p:spPr>
      </p:sp>
      <p:sp>
        <p:nvSpPr>
          <p:cNvPr id="55" name="Text 53"/>
          <p:cNvSpPr/>
          <p:nvPr/>
        </p:nvSpPr>
        <p:spPr>
          <a:xfrm>
            <a:off x="742950" y="8986838"/>
            <a:ext cx="3705106" cy="138113"/>
          </a:xfrm>
          <a:prstGeom prst="rect">
            <a:avLst/>
          </a:prstGeom>
          <a:noFill/>
          <a:ln/>
        </p:spPr>
        <p:txBody>
          <a:bodyPr wrap="square" lIns="25400" tIns="25400" rIns="25400" bIns="25400" rtlCol="0" anchor="t">
            <a:normAutofit/>
          </a:bodyPr>
          <a:lstStyle/>
          <a:p>
            <a:pPr algn="l" indent="0" marL="0">
              <a:buNone/>
            </a:pPr>
            <a:r>
              <a:rPr lang="en-US" sz="675" b="1" spc="165" kern="0" dirty="0">
                <a:solidFill>
                  <a:srgbClr val="FF9B3D"/>
                </a:solidFill>
                <a:latin typeface="Arial" pitchFamily="34" charset="0"/>
                <a:ea typeface="Arial" pitchFamily="34" charset="-122"/>
                <a:cs typeface="Arial" pitchFamily="34" charset="-120"/>
              </a:rPr>
              <a:t>SECTORS</a:t>
            </a:r>
            <a:endParaRPr lang="en-US" sz="675" dirty="0"/>
          </a:p>
        </p:txBody>
      </p:sp>
      <p:sp>
        <p:nvSpPr>
          <p:cNvPr id="56" name="Text 54"/>
          <p:cNvSpPr/>
          <p:nvPr/>
        </p:nvSpPr>
        <p:spPr>
          <a:xfrm>
            <a:off x="742950" y="9134475"/>
            <a:ext cx="3705106" cy="166688"/>
          </a:xfrm>
          <a:prstGeom prst="rect">
            <a:avLst/>
          </a:prstGeom>
          <a:noFill/>
          <a:ln/>
        </p:spPr>
        <p:txBody>
          <a:bodyPr wrap="square" lIns="25400" tIns="25400" rIns="25400" bIns="25400" rtlCol="0" anchor="t">
            <a:normAutofit/>
          </a:bodyPr>
          <a:lstStyle/>
          <a:p>
            <a:pPr algn="l" indent="0" marL="0">
              <a:buNone/>
            </a:pPr>
            <a:r>
              <a:rPr lang="en-US" sz="938" dirty="0">
                <a:solidFill>
                  <a:srgbClr val="FFFFFF"/>
                </a:solidFill>
                <a:latin typeface="Arial" pitchFamily="34" charset="0"/>
                <a:ea typeface="Arial" pitchFamily="34" charset="-122"/>
                <a:cs typeface="Arial" pitchFamily="34" charset="-120"/>
              </a:rPr>
              <a:t>Energy · Water · Logistics · Manufacturing · Critical infrastructure</a:t>
            </a:r>
            <a:endParaRPr lang="en-US" sz="938" dirty="0"/>
          </a:p>
        </p:txBody>
      </p:sp>
      <p:sp>
        <p:nvSpPr>
          <p:cNvPr id="57" name="Text 55"/>
          <p:cNvSpPr/>
          <p:nvPr/>
        </p:nvSpPr>
        <p:spPr>
          <a:xfrm>
            <a:off x="5871121" y="8982075"/>
            <a:ext cx="1196429" cy="138113"/>
          </a:xfrm>
          <a:prstGeom prst="rect">
            <a:avLst/>
          </a:prstGeom>
          <a:noFill/>
          <a:ln/>
        </p:spPr>
        <p:txBody>
          <a:bodyPr wrap="square" lIns="25400" tIns="25400" rIns="25400" bIns="25400" rtlCol="0" anchor="t">
            <a:normAutofit/>
          </a:bodyPr>
          <a:lstStyle/>
          <a:p>
            <a:pPr algn="r" indent="0" marL="0">
              <a:buNone/>
            </a:pPr>
            <a:r>
              <a:rPr lang="en-US" sz="675" b="1" spc="165" kern="0" dirty="0">
                <a:solidFill>
                  <a:srgbClr val="FF9B3D"/>
                </a:solidFill>
                <a:latin typeface="Arial" pitchFamily="34" charset="0"/>
                <a:ea typeface="Arial" pitchFamily="34" charset="-122"/>
                <a:cs typeface="Arial" pitchFamily="34" charset="-120"/>
              </a:rPr>
              <a:t>CONTACT</a:t>
            </a:r>
            <a:endParaRPr lang="en-US" sz="675" dirty="0"/>
          </a:p>
        </p:txBody>
      </p:sp>
      <p:sp>
        <p:nvSpPr>
          <p:cNvPr id="58" name="Text 56"/>
          <p:cNvSpPr/>
          <p:nvPr/>
        </p:nvSpPr>
        <p:spPr>
          <a:xfrm>
            <a:off x="5871121" y="9129713"/>
            <a:ext cx="1196429" cy="176212"/>
          </a:xfrm>
          <a:prstGeom prst="rect">
            <a:avLst/>
          </a:prstGeom>
          <a:noFill/>
          <a:ln/>
        </p:spPr>
        <p:txBody>
          <a:bodyPr wrap="none" lIns="25400" tIns="25400" rIns="25400" bIns="25400" rtlCol="0" anchor="t">
            <a:normAutofit/>
          </a:bodyPr>
          <a:lstStyle/>
          <a:p>
            <a:pPr algn="r" indent="0" marL="0">
              <a:buNone/>
            </a:pPr>
            <a:r>
              <a:rPr lang="en-US" sz="938" b="1" dirty="0">
                <a:solidFill>
                  <a:srgbClr val="FFFFFF"/>
                </a:solidFill>
                <a:latin typeface="Arial" pitchFamily="34" charset="0"/>
                <a:ea typeface="Arial" pitchFamily="34" charset="-122"/>
                <a:cs typeface="Arial" pitchFamily="34" charset="-120"/>
              </a:rPr>
              <a:t>info@oxot.nl · oxot.nl</a:t>
            </a:r>
            <a:endParaRPr lang="en-US" sz="938" dirty="0"/>
          </a:p>
        </p:txBody>
      </p:sp>
      <p:sp>
        <p:nvSpPr>
          <p:cNvPr id="59" name="Shape 57"/>
          <p:cNvSpPr/>
          <p:nvPr/>
        </p:nvSpPr>
        <p:spPr>
          <a:xfrm>
            <a:off x="495300" y="9525000"/>
            <a:ext cx="6781800" cy="9525"/>
          </a:xfrm>
          <a:prstGeom prst="rect">
            <a:avLst/>
          </a:prstGeom>
          <a:solidFill>
            <a:srgbClr val="E2DCCE"/>
          </a:solidFill>
          <a:ln/>
        </p:spPr>
      </p:sp>
      <p:sp>
        <p:nvSpPr>
          <p:cNvPr id="60" name="Text 58"/>
          <p:cNvSpPr/>
          <p:nvPr/>
        </p:nvSpPr>
        <p:spPr>
          <a:xfrm>
            <a:off x="495300" y="9620250"/>
            <a:ext cx="1223962"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OXOT · Company introduction</a:t>
            </a:r>
            <a:endParaRPr lang="en-US" sz="675" dirty="0"/>
          </a:p>
        </p:txBody>
      </p:sp>
      <p:sp>
        <p:nvSpPr>
          <p:cNvPr id="61" name="Text 59"/>
          <p:cNvSpPr/>
          <p:nvPr/>
        </p:nvSpPr>
        <p:spPr>
          <a:xfrm>
            <a:off x="6804347" y="9620250"/>
            <a:ext cx="548953"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oxot.nl · 1 / 4</a:t>
            </a:r>
            <a:endParaRPr lang="en-US" sz="6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95300" y="690563"/>
            <a:ext cx="6781800" cy="19050"/>
          </a:xfrm>
          <a:prstGeom prst="rect">
            <a:avLst/>
          </a:prstGeom>
          <a:solidFill>
            <a:srgbClr val="14233B"/>
          </a:solidFill>
          <a:ln/>
        </p:spPr>
      </p:sp>
      <p:sp>
        <p:nvSpPr>
          <p:cNvPr id="3" name="Text 1"/>
          <p:cNvSpPr/>
          <p:nvPr/>
        </p:nvSpPr>
        <p:spPr>
          <a:xfrm>
            <a:off x="495300" y="419100"/>
            <a:ext cx="779562" cy="214313"/>
          </a:xfrm>
          <a:prstGeom prst="rect">
            <a:avLst/>
          </a:prstGeom>
          <a:noFill/>
          <a:ln/>
        </p:spPr>
        <p:txBody>
          <a:bodyPr wrap="square" lIns="25400" tIns="25400" rIns="25400" bIns="25400" rtlCol="0" anchor="t">
            <a:normAutofit/>
          </a:bodyPr>
          <a:lstStyle/>
          <a:p>
            <a:pPr algn="l" indent="0" marL="0">
              <a:buNone/>
            </a:pPr>
            <a:r>
              <a:rPr lang="en-US" sz="1275" spc="488" kern="0" dirty="0">
                <a:solidFill>
                  <a:srgbClr val="14233B"/>
                </a:solidFill>
                <a:latin typeface="Arial" pitchFamily="34" charset="0"/>
                <a:ea typeface="Arial" pitchFamily="34" charset="-122"/>
                <a:cs typeface="Arial" pitchFamily="34" charset="-120"/>
              </a:rPr>
              <a:t>O</a:t>
            </a:r>
            <a:pPr algn="l" indent="0" marL="0">
              <a:buNone/>
            </a:pPr>
            <a:r>
              <a:rPr lang="en-US" sz="1275" spc="488" kern="0" dirty="0">
                <a:solidFill>
                  <a:srgbClr val="FF7900"/>
                </a:solidFill>
                <a:latin typeface="Arial" pitchFamily="34" charset="0"/>
                <a:ea typeface="Arial" pitchFamily="34" charset="-122"/>
                <a:cs typeface="Arial" pitchFamily="34" charset="-120"/>
              </a:rPr>
              <a:t>X</a:t>
            </a:r>
            <a:pPr algn="l" indent="0" marL="0">
              <a:buNone/>
            </a:pPr>
            <a:r>
              <a:rPr lang="en-US" sz="1275" spc="488" kern="0" dirty="0">
                <a:solidFill>
                  <a:srgbClr val="14233B"/>
                </a:solidFill>
                <a:latin typeface="Arial" pitchFamily="34" charset="0"/>
                <a:ea typeface="Arial" pitchFamily="34" charset="-122"/>
                <a:cs typeface="Arial" pitchFamily="34" charset="-120"/>
              </a:rPr>
              <a:t>OT</a:t>
            </a:r>
            <a:endParaRPr lang="en-US" sz="1275" dirty="0"/>
          </a:p>
        </p:txBody>
      </p:sp>
      <p:sp>
        <p:nvSpPr>
          <p:cNvPr id="4" name="Text 2"/>
          <p:cNvSpPr/>
          <p:nvPr/>
        </p:nvSpPr>
        <p:spPr>
          <a:xfrm>
            <a:off x="1322487" y="485775"/>
            <a:ext cx="938213" cy="138113"/>
          </a:xfrm>
          <a:prstGeom prst="rect">
            <a:avLst/>
          </a:prstGeom>
          <a:noFill/>
          <a:ln/>
        </p:spPr>
        <p:txBody>
          <a:bodyPr wrap="square" lIns="25400" tIns="25400" rIns="25400" bIns="25400" rtlCol="0" anchor="t">
            <a:normAutofit/>
          </a:bodyPr>
          <a:lstStyle/>
          <a:p>
            <a:pPr algn="l" indent="0" marL="0">
              <a:buNone/>
            </a:pPr>
            <a:r>
              <a:rPr lang="en-US" sz="675" b="1" spc="225" kern="0" dirty="0">
                <a:solidFill>
                  <a:srgbClr val="8A8676"/>
                </a:solidFill>
                <a:latin typeface="Arial" pitchFamily="34" charset="0"/>
                <a:ea typeface="Arial" pitchFamily="34" charset="-122"/>
                <a:cs typeface="Arial" pitchFamily="34" charset="-120"/>
              </a:rPr>
              <a:t>CONFORMITY</a:t>
            </a:r>
            <a:endParaRPr lang="en-US" sz="675" dirty="0"/>
          </a:p>
        </p:txBody>
      </p:sp>
      <p:sp>
        <p:nvSpPr>
          <p:cNvPr id="5" name="Text 3"/>
          <p:cNvSpPr/>
          <p:nvPr/>
        </p:nvSpPr>
        <p:spPr>
          <a:xfrm>
            <a:off x="3032968" y="485775"/>
            <a:ext cx="4668545" cy="133350"/>
          </a:xfrm>
          <a:prstGeom prst="rect">
            <a:avLst/>
          </a:prstGeom>
          <a:noFill/>
          <a:ln/>
        </p:spPr>
        <p:txBody>
          <a:bodyPr wrap="square" lIns="25400" tIns="25400" rIns="25400" bIns="25400" rtlCol="0" anchor="t">
            <a:normAutofit/>
          </a:bodyPr>
          <a:lstStyle/>
          <a:p>
            <a:pPr algn="l" indent="0" marL="0">
              <a:buNone/>
            </a:pPr>
            <a:r>
              <a:rPr lang="en-US" sz="675" spc="120" kern="0" dirty="0">
                <a:solidFill>
                  <a:srgbClr val="8A8676"/>
                </a:solidFill>
                <a:latin typeface="Arial" pitchFamily="34" charset="0"/>
                <a:ea typeface="Arial" pitchFamily="34" charset="-122"/>
                <a:cs typeface="Arial" pitchFamily="34" charset="-120"/>
              </a:rPr>
              <a:t>PARTNER BRIEF · CONFORMITY ASSESSMENT BODIES &amp; TEST LABORATORIES</a:t>
            </a:r>
            <a:endParaRPr lang="en-US" sz="675" dirty="0"/>
          </a:p>
        </p:txBody>
      </p:sp>
      <p:sp>
        <p:nvSpPr>
          <p:cNvPr id="6" name="Text 4"/>
          <p:cNvSpPr/>
          <p:nvPr/>
        </p:nvSpPr>
        <p:spPr>
          <a:xfrm>
            <a:off x="495300" y="881063"/>
            <a:ext cx="7459980" cy="161925"/>
          </a:xfrm>
          <a:prstGeom prst="rect">
            <a:avLst/>
          </a:prstGeom>
          <a:noFill/>
          <a:ln/>
        </p:spPr>
        <p:txBody>
          <a:bodyPr wrap="square" lIns="25400" tIns="25400" rIns="25400" bIns="25400" rtlCol="0" anchor="t">
            <a:normAutofit/>
          </a:bodyPr>
          <a:lstStyle/>
          <a:p>
            <a:pPr algn="l" indent="0" marL="0">
              <a:buNone/>
            </a:pPr>
            <a:r>
              <a:rPr lang="en-US" sz="825" b="1" spc="225" kern="0" dirty="0">
                <a:solidFill>
                  <a:srgbClr val="FF7900"/>
                </a:solidFill>
                <a:latin typeface="Arial" pitchFamily="34" charset="0"/>
                <a:ea typeface="Arial" pitchFamily="34" charset="-122"/>
                <a:cs typeface="Arial" pitchFamily="34" charset="-120"/>
              </a:rPr>
              <a:t>A REFERRAL PARTNERSHIP FOR BENCH CAPACITY</a:t>
            </a:r>
            <a:endParaRPr lang="en-US" sz="825" dirty="0"/>
          </a:p>
        </p:txBody>
      </p:sp>
      <p:sp>
        <p:nvSpPr>
          <p:cNvPr id="7" name="Text 5"/>
          <p:cNvSpPr/>
          <p:nvPr/>
        </p:nvSpPr>
        <p:spPr>
          <a:xfrm>
            <a:off x="495300" y="1109663"/>
            <a:ext cx="6985254" cy="819894"/>
          </a:xfrm>
          <a:prstGeom prst="rect">
            <a:avLst/>
          </a:prstGeom>
          <a:noFill/>
          <a:ln/>
        </p:spPr>
        <p:txBody>
          <a:bodyPr wrap="square" lIns="25400" tIns="25400" rIns="25400" bIns="25400" rtlCol="0" anchor="t">
            <a:normAutofit/>
          </a:bodyPr>
          <a:lstStyle/>
          <a:p>
            <a:pPr algn="l" indent="0" marL="0">
              <a:lnSpc>
                <a:spcPct val="94345"/>
              </a:lnSpc>
              <a:buNone/>
            </a:pPr>
            <a:r>
              <a:rPr lang="en-US" sz="2850" b="1" spc="-45" kern="0" dirty="0">
                <a:solidFill>
                  <a:srgbClr val="14233B"/>
                </a:solidFill>
                <a:latin typeface="Georgia" pitchFamily="34" charset="0"/>
                <a:ea typeface="Georgia" pitchFamily="34" charset="-122"/>
                <a:cs typeface="Georgia" pitchFamily="34" charset="-120"/>
              </a:rPr>
              <a:t>Demand that arrives qualified, scheduled and bench-ready.</a:t>
            </a:r>
            <a:endParaRPr lang="en-US" sz="2850" dirty="0"/>
          </a:p>
        </p:txBody>
      </p:sp>
      <p:sp>
        <p:nvSpPr>
          <p:cNvPr id="8" name="Shape 6"/>
          <p:cNvSpPr/>
          <p:nvPr/>
        </p:nvSpPr>
        <p:spPr>
          <a:xfrm>
            <a:off x="495300" y="2034332"/>
            <a:ext cx="400050" cy="19050"/>
          </a:xfrm>
          <a:prstGeom prst="rect">
            <a:avLst/>
          </a:prstGeom>
          <a:solidFill>
            <a:srgbClr val="FF7900"/>
          </a:solidFill>
          <a:ln/>
        </p:spPr>
      </p:sp>
      <p:sp>
        <p:nvSpPr>
          <p:cNvPr id="9" name="Text 7"/>
          <p:cNvSpPr/>
          <p:nvPr/>
        </p:nvSpPr>
        <p:spPr>
          <a:xfrm>
            <a:off x="495300" y="2167682"/>
            <a:ext cx="6573203" cy="781050"/>
          </a:xfrm>
          <a:prstGeom prst="rect">
            <a:avLst/>
          </a:prstGeom>
          <a:noFill/>
          <a:ln/>
        </p:spPr>
        <p:txBody>
          <a:bodyPr wrap="square" lIns="25400" tIns="25400" rIns="25400" bIns="25400" rtlCol="0" anchor="t">
            <a:normAutofit/>
          </a:bodyPr>
          <a:lstStyle/>
          <a:p>
            <a:pPr algn="l" indent="0" marL="0">
              <a:lnSpc>
                <a:spcPct val="125806"/>
              </a:lnSpc>
              <a:buNone/>
            </a:pPr>
            <a:r>
              <a:rPr lang="en-US" sz="975" dirty="0">
                <a:solidFill>
                  <a:srgbClr val="3C4757"/>
                </a:solidFill>
                <a:latin typeface="Arial" pitchFamily="34" charset="0"/>
                <a:ea typeface="Arial" pitchFamily="34" charset="-122"/>
                <a:cs typeface="Arial" pitchFamily="34" charset="-120"/>
              </a:rPr>
              <a:t>OXOT runs a retained CRA readiness practice for manufacturers, OEMs and integrators. We classify the product, close the Annex I gaps and assemble the technical documentation. When the conformity route requires a notified body, we hand the file over in a standard format and book the bench. You test. You do not chase the customer, and you do not open an incomplete file.</a:t>
            </a:r>
            <a:endParaRPr lang="en-US" sz="975" dirty="0"/>
          </a:p>
        </p:txBody>
      </p:sp>
      <p:sp>
        <p:nvSpPr>
          <p:cNvPr id="10" name="Shape 8"/>
          <p:cNvSpPr/>
          <p:nvPr/>
        </p:nvSpPr>
        <p:spPr>
          <a:xfrm>
            <a:off x="495300" y="3024932"/>
            <a:ext cx="6781800" cy="873398"/>
          </a:xfrm>
          <a:prstGeom prst="roundRect">
            <a:avLst>
              <a:gd name="adj" fmla="val 8725"/>
            </a:avLst>
          </a:prstGeom>
          <a:solidFill>
            <a:srgbClr val="FFF4E8"/>
          </a:solidFill>
          <a:ln/>
        </p:spPr>
      </p:sp>
      <p:sp>
        <p:nvSpPr>
          <p:cNvPr id="11" name="Shape 9"/>
          <p:cNvSpPr/>
          <p:nvPr/>
        </p:nvSpPr>
        <p:spPr>
          <a:xfrm>
            <a:off x="495300" y="3888804"/>
            <a:ext cx="6781800" cy="9525"/>
          </a:xfrm>
          <a:prstGeom prst="rect">
            <a:avLst/>
          </a:prstGeom>
          <a:solidFill>
            <a:srgbClr val="FFD9AE"/>
          </a:solidFill>
          <a:ln/>
        </p:spPr>
      </p:sp>
      <p:sp>
        <p:nvSpPr>
          <p:cNvPr id="12" name="Shape 10"/>
          <p:cNvSpPr/>
          <p:nvPr/>
        </p:nvSpPr>
        <p:spPr>
          <a:xfrm>
            <a:off x="495300" y="3024932"/>
            <a:ext cx="6781800" cy="9525"/>
          </a:xfrm>
          <a:prstGeom prst="rect">
            <a:avLst/>
          </a:prstGeom>
          <a:solidFill>
            <a:srgbClr val="FFD9AE"/>
          </a:solidFill>
          <a:ln/>
        </p:spPr>
      </p:sp>
      <p:sp>
        <p:nvSpPr>
          <p:cNvPr id="13" name="Shape 11"/>
          <p:cNvSpPr/>
          <p:nvPr/>
        </p:nvSpPr>
        <p:spPr>
          <a:xfrm>
            <a:off x="495300" y="3024932"/>
            <a:ext cx="38100" cy="873398"/>
          </a:xfrm>
          <a:prstGeom prst="rect">
            <a:avLst/>
          </a:prstGeom>
          <a:solidFill>
            <a:srgbClr val="FF7900"/>
          </a:solidFill>
          <a:ln/>
        </p:spPr>
      </p:sp>
      <p:sp>
        <p:nvSpPr>
          <p:cNvPr id="14" name="Shape 12"/>
          <p:cNvSpPr/>
          <p:nvPr/>
        </p:nvSpPr>
        <p:spPr>
          <a:xfrm>
            <a:off x="7267575" y="3024932"/>
            <a:ext cx="9525" cy="873398"/>
          </a:xfrm>
          <a:prstGeom prst="rect">
            <a:avLst/>
          </a:prstGeom>
          <a:solidFill>
            <a:srgbClr val="FFD9AE"/>
          </a:solidFill>
          <a:ln/>
        </p:spPr>
      </p:sp>
      <p:sp>
        <p:nvSpPr>
          <p:cNvPr id="15" name="Text 13"/>
          <p:cNvSpPr/>
          <p:nvPr/>
        </p:nvSpPr>
        <p:spPr>
          <a:xfrm>
            <a:off x="685800" y="3139232"/>
            <a:ext cx="7072313" cy="138113"/>
          </a:xfrm>
          <a:prstGeom prst="rect">
            <a:avLst/>
          </a:prstGeom>
          <a:noFill/>
          <a:ln/>
        </p:spPr>
        <p:txBody>
          <a:bodyPr wrap="square" lIns="25400" tIns="25400" rIns="25400" bIns="25400" rtlCol="0" anchor="t">
            <a:normAutofit/>
          </a:bodyPr>
          <a:lstStyle/>
          <a:p>
            <a:pPr algn="l" indent="0" marL="0">
              <a:buNone/>
            </a:pPr>
            <a:r>
              <a:rPr lang="en-US" sz="675" b="1" spc="150" kern="0" dirty="0">
                <a:solidFill>
                  <a:srgbClr val="C56A1E"/>
                </a:solidFill>
                <a:latin typeface="Arial" pitchFamily="34" charset="0"/>
                <a:ea typeface="Arial" pitchFamily="34" charset="-122"/>
                <a:cs typeface="Arial" pitchFamily="34" charset="-120"/>
              </a:rPr>
              <a:t>THE 2026 POSITION</a:t>
            </a:r>
            <a:endParaRPr lang="en-US" sz="675" dirty="0"/>
          </a:p>
        </p:txBody>
      </p:sp>
      <p:sp>
        <p:nvSpPr>
          <p:cNvPr id="16" name="Text 14"/>
          <p:cNvSpPr/>
          <p:nvPr/>
        </p:nvSpPr>
        <p:spPr>
          <a:xfrm>
            <a:off x="685800" y="3286869"/>
            <a:ext cx="6622256" cy="535260"/>
          </a:xfrm>
          <a:prstGeom prst="rect">
            <a:avLst/>
          </a:prstGeom>
          <a:noFill/>
          <a:ln/>
        </p:spPr>
        <p:txBody>
          <a:bodyPr wrap="square" lIns="25400" tIns="25400" rIns="25400" bIns="25400" rtlCol="0" anchor="t">
            <a:normAutofit/>
          </a:bodyPr>
          <a:lstStyle/>
          <a:p>
            <a:pPr algn="l" indent="0" marL="0">
              <a:lnSpc>
                <a:spcPct val="124286"/>
              </a:lnSpc>
              <a:buNone/>
            </a:pPr>
            <a:r>
              <a:rPr lang="en-US" sz="900" dirty="0">
                <a:solidFill>
                  <a:srgbClr val="14233B"/>
                </a:solidFill>
                <a:latin typeface="Arial" pitchFamily="34" charset="0"/>
                <a:ea typeface="Arial" pitchFamily="34" charset="-122"/>
                <a:cs typeface="Arial" pitchFamily="34" charset="-120"/>
              </a:rPr>
              <a:t>Designation runs 12–18 months. Class I self-assessment stays closed until the harmonised standards are cited, expected around Q2 2027. Type examination runs 16–24 weeks per product. Every route therefore converges on a narrow window before </a:t>
            </a:r>
            <a:pPr algn="l" indent="0" marL="0">
              <a:lnSpc>
                <a:spcPct val="124286"/>
              </a:lnSpc>
              <a:buNone/>
            </a:pPr>
            <a:r>
              <a:rPr lang="en-US" sz="900" b="1" dirty="0">
                <a:solidFill>
                  <a:srgbClr val="14233B"/>
                </a:solidFill>
                <a:latin typeface="Arial" pitchFamily="34" charset="0"/>
                <a:ea typeface="Arial" pitchFamily="34" charset="-122"/>
                <a:cs typeface="Arial" pitchFamily="34" charset="-120"/>
              </a:rPr>
              <a:t>11 December 2027 </a:t>
            </a:r>
            <a:pPr algn="l" indent="0" marL="0">
              <a:lnSpc>
                <a:spcPct val="124286"/>
              </a:lnSpc>
              <a:buNone/>
            </a:pPr>
            <a:r>
              <a:rPr lang="en-US" sz="900" dirty="0">
                <a:solidFill>
                  <a:srgbClr val="14233B"/>
                </a:solidFill>
                <a:latin typeface="Arial" pitchFamily="34" charset="0"/>
                <a:ea typeface="Arial" pitchFamily="34" charset="-122"/>
                <a:cs typeface="Arial" pitchFamily="34" charset="-120"/>
              </a:rPr>
              <a:t>— and the queue forms before the doors open.</a:t>
            </a:r>
            <a:endParaRPr lang="en-US" sz="900" dirty="0"/>
          </a:p>
        </p:txBody>
      </p:sp>
      <p:sp>
        <p:nvSpPr>
          <p:cNvPr id="17" name="Text 15"/>
          <p:cNvSpPr/>
          <p:nvPr/>
        </p:nvSpPr>
        <p:spPr>
          <a:xfrm>
            <a:off x="495300" y="4031679"/>
            <a:ext cx="7459980" cy="152400"/>
          </a:xfrm>
          <a:prstGeom prst="rect">
            <a:avLst/>
          </a:prstGeom>
          <a:noFill/>
          <a:ln/>
        </p:spPr>
        <p:txBody>
          <a:bodyPr wrap="square" lIns="25400" tIns="25400" rIns="25400" bIns="25400" rtlCol="0" anchor="t">
            <a:normAutofit/>
          </a:bodyPr>
          <a:lstStyle/>
          <a:p>
            <a:pPr algn="l" indent="0" marL="0">
              <a:buNone/>
            </a:pPr>
            <a:r>
              <a:rPr lang="en-US" sz="788" b="1" spc="180" kern="0" dirty="0">
                <a:solidFill>
                  <a:srgbClr val="14233B"/>
                </a:solidFill>
                <a:latin typeface="Arial" pitchFamily="34" charset="0"/>
                <a:ea typeface="Arial" pitchFamily="34" charset="-122"/>
                <a:cs typeface="Arial" pitchFamily="34" charset="-120"/>
              </a:rPr>
              <a:t>WHAT THE BENCH ABSORBS TODAY</a:t>
            </a:r>
            <a:endParaRPr lang="en-US" sz="788" dirty="0"/>
          </a:p>
        </p:txBody>
      </p:sp>
      <p:sp>
        <p:nvSpPr>
          <p:cNvPr id="18" name="Shape 16"/>
          <p:cNvSpPr/>
          <p:nvPr/>
        </p:nvSpPr>
        <p:spPr>
          <a:xfrm>
            <a:off x="495300" y="4212654"/>
            <a:ext cx="400050" cy="19050"/>
          </a:xfrm>
          <a:prstGeom prst="rect">
            <a:avLst/>
          </a:prstGeom>
          <a:solidFill>
            <a:srgbClr val="FF7900"/>
          </a:solidFill>
          <a:ln/>
        </p:spPr>
      </p:sp>
      <p:sp>
        <p:nvSpPr>
          <p:cNvPr id="19" name="Shape 17"/>
          <p:cNvSpPr/>
          <p:nvPr/>
        </p:nvSpPr>
        <p:spPr>
          <a:xfrm>
            <a:off x="495300" y="4346004"/>
            <a:ext cx="2184350" cy="1029593"/>
          </a:xfrm>
          <a:prstGeom prst="roundRect">
            <a:avLst>
              <a:gd name="adj" fmla="val 7401"/>
            </a:avLst>
          </a:prstGeom>
          <a:solidFill>
            <a:srgbClr val="F7F5EF"/>
          </a:solidFill>
          <a:ln w="9525">
            <a:solidFill>
              <a:srgbClr val="E2DCCE"/>
            </a:solidFill>
            <a:prstDash val="solid"/>
          </a:ln>
        </p:spPr>
      </p:sp>
      <p:sp>
        <p:nvSpPr>
          <p:cNvPr id="20" name="Text 18"/>
          <p:cNvSpPr/>
          <p:nvPr/>
        </p:nvSpPr>
        <p:spPr>
          <a:xfrm>
            <a:off x="647700" y="4479354"/>
            <a:ext cx="2067505"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Unqualified enquiries</a:t>
            </a:r>
            <a:endParaRPr lang="en-US" sz="863" dirty="0"/>
          </a:p>
        </p:txBody>
      </p:sp>
      <p:sp>
        <p:nvSpPr>
          <p:cNvPr id="21" name="Text 19"/>
          <p:cNvSpPr/>
          <p:nvPr/>
        </p:nvSpPr>
        <p:spPr>
          <a:xfrm>
            <a:off x="647700" y="4655567"/>
            <a:ext cx="1955750" cy="478110"/>
          </a:xfrm>
          <a:prstGeom prst="rect">
            <a:avLst/>
          </a:prstGeom>
          <a:noFill/>
          <a:ln/>
        </p:spPr>
        <p:txBody>
          <a:bodyPr wrap="square" lIns="25400" tIns="25400" rIns="25400" bIns="25400" rtlCol="0" anchor="t">
            <a:normAutofit/>
          </a:bodyPr>
          <a:lstStyle/>
          <a:p>
            <a:pPr algn="l" indent="0" marL="0">
              <a:lnSpc>
                <a:spcPct val="118462"/>
              </a:lnSpc>
              <a:buNone/>
            </a:pPr>
            <a:r>
              <a:rPr lang="en-US" sz="825" dirty="0">
                <a:solidFill>
                  <a:srgbClr val="5A6473"/>
                </a:solidFill>
                <a:latin typeface="Arial" pitchFamily="34" charset="0"/>
                <a:ea typeface="Arial" pitchFamily="34" charset="-122"/>
                <a:cs typeface="Arial" pitchFamily="34" charset="-120"/>
              </a:rPr>
              <a:t>Applicants who have not established their Annex III class, their module, or whether they are the manufacturer at all.</a:t>
            </a:r>
            <a:endParaRPr lang="en-US" sz="825" dirty="0"/>
          </a:p>
        </p:txBody>
      </p:sp>
      <p:sp>
        <p:nvSpPr>
          <p:cNvPr id="22" name="Shape 20"/>
          <p:cNvSpPr/>
          <p:nvPr/>
        </p:nvSpPr>
        <p:spPr>
          <a:xfrm>
            <a:off x="2793950" y="4346004"/>
            <a:ext cx="2184425" cy="1029593"/>
          </a:xfrm>
          <a:prstGeom prst="roundRect">
            <a:avLst>
              <a:gd name="adj" fmla="val 7401"/>
            </a:avLst>
          </a:prstGeom>
          <a:solidFill>
            <a:srgbClr val="F7F5EF"/>
          </a:solidFill>
          <a:ln w="9525">
            <a:solidFill>
              <a:srgbClr val="E2DCCE"/>
            </a:solidFill>
            <a:prstDash val="solid"/>
          </a:ln>
        </p:spPr>
      </p:sp>
      <p:sp>
        <p:nvSpPr>
          <p:cNvPr id="23" name="Text 21"/>
          <p:cNvSpPr/>
          <p:nvPr/>
        </p:nvSpPr>
        <p:spPr>
          <a:xfrm>
            <a:off x="2946350" y="4479354"/>
            <a:ext cx="2067587"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Files that stall mid-assessment</a:t>
            </a:r>
            <a:endParaRPr lang="en-US" sz="863" dirty="0"/>
          </a:p>
        </p:txBody>
      </p:sp>
      <p:sp>
        <p:nvSpPr>
          <p:cNvPr id="24" name="Text 22"/>
          <p:cNvSpPr/>
          <p:nvPr/>
        </p:nvSpPr>
        <p:spPr>
          <a:xfrm>
            <a:off x="2946350" y="4655567"/>
            <a:ext cx="1955825" cy="624780"/>
          </a:xfrm>
          <a:prstGeom prst="rect">
            <a:avLst/>
          </a:prstGeom>
          <a:noFill/>
          <a:ln/>
        </p:spPr>
        <p:txBody>
          <a:bodyPr wrap="square" lIns="25400" tIns="25400" rIns="25400" bIns="25400" rtlCol="0" anchor="t">
            <a:normAutofit/>
          </a:bodyPr>
          <a:lstStyle/>
          <a:p>
            <a:pPr algn="l" indent="0" marL="0">
              <a:lnSpc>
                <a:spcPct val="118462"/>
              </a:lnSpc>
              <a:buNone/>
            </a:pPr>
            <a:r>
              <a:rPr lang="en-US" sz="825" dirty="0">
                <a:solidFill>
                  <a:srgbClr val="5A6473"/>
                </a:solidFill>
                <a:latin typeface="Arial" pitchFamily="34" charset="0"/>
                <a:ea typeface="Arial" pitchFamily="34" charset="-122"/>
                <a:cs typeface="Arial" pitchFamily="34" charset="-120"/>
              </a:rPr>
              <a:t>Missing SBOM, no CVD policy, no vulnerability handling process. The bench holds the slot while the applicant goes looking.</a:t>
            </a:r>
            <a:endParaRPr lang="en-US" sz="825" dirty="0"/>
          </a:p>
        </p:txBody>
      </p:sp>
      <p:sp>
        <p:nvSpPr>
          <p:cNvPr id="25" name="Shape 23"/>
          <p:cNvSpPr/>
          <p:nvPr/>
        </p:nvSpPr>
        <p:spPr>
          <a:xfrm>
            <a:off x="5092675" y="4346004"/>
            <a:ext cx="2184350" cy="1029593"/>
          </a:xfrm>
          <a:prstGeom prst="roundRect">
            <a:avLst>
              <a:gd name="adj" fmla="val 7401"/>
            </a:avLst>
          </a:prstGeom>
          <a:solidFill>
            <a:srgbClr val="F7F5EF"/>
          </a:solidFill>
          <a:ln w="9525">
            <a:solidFill>
              <a:srgbClr val="E2DCCE"/>
            </a:solidFill>
            <a:prstDash val="solid"/>
          </a:ln>
        </p:spPr>
      </p:sp>
      <p:sp>
        <p:nvSpPr>
          <p:cNvPr id="26" name="Text 24"/>
          <p:cNvSpPr/>
          <p:nvPr/>
        </p:nvSpPr>
        <p:spPr>
          <a:xfrm>
            <a:off x="5245075" y="4479354"/>
            <a:ext cx="2067505"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Demand you cannot forecast</a:t>
            </a:r>
            <a:endParaRPr lang="en-US" sz="863" dirty="0"/>
          </a:p>
        </p:txBody>
      </p:sp>
      <p:sp>
        <p:nvSpPr>
          <p:cNvPr id="27" name="Text 25"/>
          <p:cNvSpPr/>
          <p:nvPr/>
        </p:nvSpPr>
        <p:spPr>
          <a:xfrm>
            <a:off x="5245075" y="4655567"/>
            <a:ext cx="1955750" cy="478110"/>
          </a:xfrm>
          <a:prstGeom prst="rect">
            <a:avLst/>
          </a:prstGeom>
          <a:noFill/>
          <a:ln/>
        </p:spPr>
        <p:txBody>
          <a:bodyPr wrap="square" lIns="25400" tIns="25400" rIns="25400" bIns="25400" rtlCol="0" anchor="t">
            <a:normAutofit/>
          </a:bodyPr>
          <a:lstStyle/>
          <a:p>
            <a:pPr algn="l" indent="0" marL="0">
              <a:lnSpc>
                <a:spcPct val="118462"/>
              </a:lnSpc>
              <a:buNone/>
            </a:pPr>
            <a:r>
              <a:rPr lang="en-US" sz="825" dirty="0">
                <a:solidFill>
                  <a:srgbClr val="5A6473"/>
                </a:solidFill>
                <a:latin typeface="Arial" pitchFamily="34" charset="0"/>
                <a:ea typeface="Arial" pitchFamily="34" charset="-122"/>
                <a:cs typeface="Arial" pitchFamily="34" charset="-120"/>
              </a:rPr>
              <a:t>Volume arrives unannounced and unevenly. Assessor time, scheduling and hiring are planned against guesswork.</a:t>
            </a:r>
            <a:endParaRPr lang="en-US" sz="825" dirty="0"/>
          </a:p>
        </p:txBody>
      </p:sp>
      <p:sp>
        <p:nvSpPr>
          <p:cNvPr id="28" name="Text 26"/>
          <p:cNvSpPr/>
          <p:nvPr/>
        </p:nvSpPr>
        <p:spPr>
          <a:xfrm>
            <a:off x="495300" y="5489897"/>
            <a:ext cx="7459980" cy="152400"/>
          </a:xfrm>
          <a:prstGeom prst="rect">
            <a:avLst/>
          </a:prstGeom>
          <a:noFill/>
          <a:ln/>
        </p:spPr>
        <p:txBody>
          <a:bodyPr wrap="square" lIns="25400" tIns="25400" rIns="25400" bIns="25400" rtlCol="0" anchor="t">
            <a:normAutofit/>
          </a:bodyPr>
          <a:lstStyle/>
          <a:p>
            <a:pPr algn="l" indent="0" marL="0">
              <a:buNone/>
            </a:pPr>
            <a:r>
              <a:rPr lang="en-US" sz="788" b="1" spc="180" kern="0" dirty="0">
                <a:solidFill>
                  <a:srgbClr val="14233B"/>
                </a:solidFill>
                <a:latin typeface="Arial" pitchFamily="34" charset="0"/>
                <a:ea typeface="Arial" pitchFamily="34" charset="-122"/>
                <a:cs typeface="Arial" pitchFamily="34" charset="-120"/>
              </a:rPr>
              <a:t>THE THREE-PART PROCESS</a:t>
            </a:r>
            <a:endParaRPr lang="en-US" sz="788" dirty="0"/>
          </a:p>
        </p:txBody>
      </p:sp>
      <p:sp>
        <p:nvSpPr>
          <p:cNvPr id="29" name="Shape 27"/>
          <p:cNvSpPr/>
          <p:nvPr/>
        </p:nvSpPr>
        <p:spPr>
          <a:xfrm>
            <a:off x="495300" y="5670872"/>
            <a:ext cx="400050" cy="19050"/>
          </a:xfrm>
          <a:prstGeom prst="rect">
            <a:avLst/>
          </a:prstGeom>
          <a:solidFill>
            <a:srgbClr val="FF7900"/>
          </a:solidFill>
          <a:ln/>
        </p:spPr>
      </p:sp>
      <p:sp>
        <p:nvSpPr>
          <p:cNvPr id="30" name="Shape 28"/>
          <p:cNvSpPr/>
          <p:nvPr/>
        </p:nvSpPr>
        <p:spPr>
          <a:xfrm>
            <a:off x="495300" y="5813747"/>
            <a:ext cx="2000250" cy="3623965"/>
          </a:xfrm>
          <a:prstGeom prst="roundRect">
            <a:avLst>
              <a:gd name="adj" fmla="val 4286"/>
            </a:avLst>
          </a:prstGeom>
          <a:solidFill>
            <a:srgbClr val="F5F8FC"/>
          </a:solidFill>
          <a:ln w="9525">
            <a:solidFill>
              <a:srgbClr val="D7E1EF"/>
            </a:solidFill>
            <a:prstDash val="solid"/>
          </a:ln>
        </p:spPr>
      </p:sp>
      <p:sp>
        <p:nvSpPr>
          <p:cNvPr id="31" name="Shape 29"/>
          <p:cNvSpPr/>
          <p:nvPr/>
        </p:nvSpPr>
        <p:spPr>
          <a:xfrm>
            <a:off x="657225" y="5928047"/>
            <a:ext cx="247650" cy="247650"/>
          </a:xfrm>
          <a:prstGeom prst="ellipse">
            <a:avLst/>
          </a:prstGeom>
          <a:solidFill>
            <a:srgbClr val="14233B"/>
          </a:solidFill>
          <a:ln/>
        </p:spPr>
      </p:sp>
      <p:sp>
        <p:nvSpPr>
          <p:cNvPr id="32" name="Text 30"/>
          <p:cNvSpPr/>
          <p:nvPr/>
        </p:nvSpPr>
        <p:spPr>
          <a:xfrm>
            <a:off x="619125" y="5928047"/>
            <a:ext cx="323850" cy="2857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Georgia" pitchFamily="34" charset="0"/>
                <a:ea typeface="Georgia" pitchFamily="34" charset="-122"/>
                <a:cs typeface="Georgia" pitchFamily="34" charset="-120"/>
              </a:rPr>
              <a:t>1</a:t>
            </a:r>
            <a:endParaRPr lang="en-US" sz="1050" dirty="0"/>
          </a:p>
        </p:txBody>
      </p:sp>
      <p:sp>
        <p:nvSpPr>
          <p:cNvPr id="33" name="Text 31"/>
          <p:cNvSpPr/>
          <p:nvPr/>
        </p:nvSpPr>
        <p:spPr>
          <a:xfrm>
            <a:off x="990600" y="6001866"/>
            <a:ext cx="866701"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FF7900"/>
                </a:solidFill>
                <a:latin typeface="Arial" pitchFamily="34" charset="0"/>
                <a:ea typeface="Arial" pitchFamily="34" charset="-122"/>
                <a:cs typeface="Arial" pitchFamily="34" charset="-120"/>
              </a:rPr>
              <a:t>OXOT ALWAYS</a:t>
            </a:r>
            <a:endParaRPr lang="en-US" sz="675" dirty="0"/>
          </a:p>
        </p:txBody>
      </p:sp>
      <p:sp>
        <p:nvSpPr>
          <p:cNvPr id="34" name="Text 32"/>
          <p:cNvSpPr/>
          <p:nvPr/>
        </p:nvSpPr>
        <p:spPr>
          <a:xfrm>
            <a:off x="657225" y="6270947"/>
            <a:ext cx="1752600" cy="454223"/>
          </a:xfrm>
          <a:prstGeom prst="rect">
            <a:avLst/>
          </a:prstGeom>
          <a:noFill/>
          <a:ln/>
        </p:spPr>
        <p:txBody>
          <a:bodyPr wrap="square" lIns="25400" tIns="25400" rIns="25400" bIns="25400" rtlCol="0" anchor="t">
            <a:normAutofit/>
          </a:bodyPr>
          <a:lstStyle/>
          <a:p>
            <a:pPr algn="l" indent="0" marL="0">
              <a:lnSpc>
                <a:spcPct val="101628"/>
              </a:lnSpc>
              <a:buNone/>
            </a:pPr>
            <a:r>
              <a:rPr lang="en-US" sz="1425" b="1" dirty="0">
                <a:solidFill>
                  <a:srgbClr val="14233B"/>
                </a:solidFill>
                <a:latin typeface="Georgia" pitchFamily="34" charset="0"/>
                <a:ea typeface="Georgia" pitchFamily="34" charset="-122"/>
                <a:cs typeface="Georgia" pitchFamily="34" charset="-120"/>
              </a:rPr>
              <a:t>Readiness &amp; preparation</a:t>
            </a:r>
            <a:endParaRPr lang="en-US" sz="1425" dirty="0"/>
          </a:p>
        </p:txBody>
      </p:sp>
      <p:sp>
        <p:nvSpPr>
          <p:cNvPr id="35" name="Text 33"/>
          <p:cNvSpPr/>
          <p:nvPr/>
        </p:nvSpPr>
        <p:spPr>
          <a:xfrm>
            <a:off x="657225" y="6753746"/>
            <a:ext cx="1752600" cy="341858"/>
          </a:xfrm>
          <a:prstGeom prst="rect">
            <a:avLst/>
          </a:prstGeom>
          <a:noFill/>
          <a:ln/>
        </p:spPr>
        <p:txBody>
          <a:bodyPr wrap="square" lIns="25400" tIns="25400" rIns="25400" bIns="25400" rtlCol="0" anchor="t">
            <a:normAutofit/>
          </a:bodyPr>
          <a:lstStyle/>
          <a:p>
            <a:pPr algn="l" indent="0" marL="0">
              <a:lnSpc>
                <a:spcPct val="122692"/>
              </a:lnSpc>
              <a:buNone/>
            </a:pPr>
            <a:r>
              <a:rPr lang="en-US" sz="825" dirty="0">
                <a:solidFill>
                  <a:srgbClr val="3C4757"/>
                </a:solidFill>
                <a:latin typeface="Arial" pitchFamily="34" charset="0"/>
                <a:ea typeface="Arial" pitchFamily="34" charset="-122"/>
                <a:cs typeface="Arial" pitchFamily="34" charset="-120"/>
              </a:rPr>
              <a:t>Retained engagement, run by OT engineers against IEC 62443.</a:t>
            </a:r>
            <a:endParaRPr lang="en-US" sz="825" dirty="0"/>
          </a:p>
        </p:txBody>
      </p:sp>
      <p:sp>
        <p:nvSpPr>
          <p:cNvPr id="36" name="Text 34"/>
          <p:cNvSpPr/>
          <p:nvPr/>
        </p:nvSpPr>
        <p:spPr>
          <a:xfrm>
            <a:off x="657225" y="7143229"/>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37" name="Text 35"/>
          <p:cNvSpPr/>
          <p:nvPr/>
        </p:nvSpPr>
        <p:spPr>
          <a:xfrm>
            <a:off x="755675" y="7143229"/>
            <a:ext cx="1654150" cy="443061"/>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Scope determination and Annex III classification, with the reasoning recorded</a:t>
            </a:r>
            <a:endParaRPr lang="en-US" sz="788" dirty="0"/>
          </a:p>
        </p:txBody>
      </p:sp>
      <p:sp>
        <p:nvSpPr>
          <p:cNvPr id="38" name="Text 36"/>
          <p:cNvSpPr/>
          <p:nvPr/>
        </p:nvSpPr>
        <p:spPr>
          <a:xfrm>
            <a:off x="657225" y="7595815"/>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39" name="Text 37"/>
          <p:cNvSpPr/>
          <p:nvPr/>
        </p:nvSpPr>
        <p:spPr>
          <a:xfrm>
            <a:off x="755675" y="7595815"/>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Module selection and the route to the CE marking</a:t>
            </a:r>
            <a:endParaRPr lang="en-US" sz="788" dirty="0"/>
          </a:p>
        </p:txBody>
      </p:sp>
      <p:sp>
        <p:nvSpPr>
          <p:cNvPr id="40" name="Text 38"/>
          <p:cNvSpPr/>
          <p:nvPr/>
        </p:nvSpPr>
        <p:spPr>
          <a:xfrm>
            <a:off x="657225" y="7913415"/>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41" name="Text 39"/>
          <p:cNvSpPr/>
          <p:nvPr/>
        </p:nvSpPr>
        <p:spPr>
          <a:xfrm>
            <a:off x="755675" y="7913415"/>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Annex I gap closure across all thirty essential requirements</a:t>
            </a:r>
            <a:endParaRPr lang="en-US" sz="788" dirty="0"/>
          </a:p>
        </p:txBody>
      </p:sp>
      <p:sp>
        <p:nvSpPr>
          <p:cNvPr id="42" name="Text 40"/>
          <p:cNvSpPr/>
          <p:nvPr/>
        </p:nvSpPr>
        <p:spPr>
          <a:xfrm>
            <a:off x="657225" y="8231014"/>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43" name="Text 41"/>
          <p:cNvSpPr/>
          <p:nvPr/>
        </p:nvSpPr>
        <p:spPr>
          <a:xfrm>
            <a:off x="755675" y="8231014"/>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xBOM production and vulnerability resolution</a:t>
            </a:r>
            <a:endParaRPr lang="en-US" sz="788" dirty="0"/>
          </a:p>
        </p:txBody>
      </p:sp>
      <p:sp>
        <p:nvSpPr>
          <p:cNvPr id="44" name="Text 42"/>
          <p:cNvSpPr/>
          <p:nvPr/>
        </p:nvSpPr>
        <p:spPr>
          <a:xfrm>
            <a:off x="657225" y="8548613"/>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45" name="Text 43"/>
          <p:cNvSpPr/>
          <p:nvPr/>
        </p:nvSpPr>
        <p:spPr>
          <a:xfrm>
            <a:off x="755675" y="8548613"/>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Annex IV technical file assembly and sealing</a:t>
            </a:r>
            <a:endParaRPr lang="en-US" sz="788" dirty="0"/>
          </a:p>
        </p:txBody>
      </p:sp>
      <p:sp>
        <p:nvSpPr>
          <p:cNvPr id="46" name="Shape 44"/>
          <p:cNvSpPr/>
          <p:nvPr/>
        </p:nvSpPr>
        <p:spPr>
          <a:xfrm>
            <a:off x="657225" y="8818587"/>
            <a:ext cx="1676400" cy="9525"/>
          </a:xfrm>
          <a:prstGeom prst="rect">
            <a:avLst/>
          </a:prstGeom>
          <a:solidFill>
            <a:srgbClr val="D7E1EF"/>
          </a:solidFill>
          <a:ln/>
        </p:spPr>
      </p:sp>
      <p:sp>
        <p:nvSpPr>
          <p:cNvPr id="47" name="Text 45"/>
          <p:cNvSpPr/>
          <p:nvPr/>
        </p:nvSpPr>
        <p:spPr>
          <a:xfrm>
            <a:off x="657225" y="8923362"/>
            <a:ext cx="1752600" cy="438150"/>
          </a:xfrm>
          <a:prstGeom prst="rect">
            <a:avLst/>
          </a:prstGeom>
          <a:noFill/>
          <a:ln/>
        </p:spPr>
        <p:txBody>
          <a:bodyPr wrap="square" lIns="25400" tIns="25400" rIns="25400" bIns="25400" rtlCol="0" anchor="t">
            <a:normAutofit/>
          </a:bodyPr>
          <a:lstStyle/>
          <a:p>
            <a:pPr algn="l" indent="0" marL="0">
              <a:lnSpc>
                <a:spcPct val="121739"/>
              </a:lnSpc>
              <a:buNone/>
            </a:pPr>
            <a:r>
              <a:rPr lang="en-US" sz="750" b="1" dirty="0">
                <a:solidFill>
                  <a:srgbClr val="1E3A6E"/>
                </a:solidFill>
                <a:latin typeface="Arial" pitchFamily="34" charset="0"/>
                <a:ea typeface="Arial" pitchFamily="34" charset="-122"/>
                <a:cs typeface="Arial" pitchFamily="34" charset="-120"/>
              </a:rPr>
              <a:t>Output: a complete, standard-format file — and a customer who knows their route.</a:t>
            </a:r>
            <a:endParaRPr lang="en-US" sz="750" dirty="0"/>
          </a:p>
        </p:txBody>
      </p:sp>
      <p:sp>
        <p:nvSpPr>
          <p:cNvPr id="48" name="Text 46"/>
          <p:cNvSpPr/>
          <p:nvPr/>
        </p:nvSpPr>
        <p:spPr>
          <a:xfrm>
            <a:off x="2552700" y="5813747"/>
            <a:ext cx="285750" cy="3662065"/>
          </a:xfrm>
          <a:prstGeom prst="rect">
            <a:avLst/>
          </a:prstGeom>
          <a:noFill/>
          <a:ln/>
        </p:spPr>
        <p:txBody>
          <a:bodyPr wrap="square" lIns="25400" tIns="25400" rIns="25400" bIns="25400" rtlCol="0" anchor="ctr">
            <a:normAutofit/>
          </a:bodyPr>
          <a:lstStyle/>
          <a:p>
            <a:pPr algn="ctr" indent="0" marL="0">
              <a:buNone/>
            </a:pPr>
            <a:r>
              <a:rPr lang="en-US" sz="1200" dirty="0">
                <a:solidFill>
                  <a:srgbClr val="FF7900"/>
                </a:solidFill>
                <a:latin typeface="Arial" pitchFamily="34" charset="0"/>
                <a:ea typeface="Arial" pitchFamily="34" charset="-122"/>
                <a:cs typeface="Arial" pitchFamily="34" charset="-120"/>
              </a:rPr>
              <a:t>→</a:t>
            </a:r>
            <a:endParaRPr lang="en-US" sz="1200" dirty="0"/>
          </a:p>
        </p:txBody>
      </p:sp>
      <p:sp>
        <p:nvSpPr>
          <p:cNvPr id="49" name="Shape 47"/>
          <p:cNvSpPr/>
          <p:nvPr/>
        </p:nvSpPr>
        <p:spPr>
          <a:xfrm>
            <a:off x="2895600" y="5813747"/>
            <a:ext cx="1981200" cy="3623965"/>
          </a:xfrm>
          <a:prstGeom prst="roundRect">
            <a:avLst>
              <a:gd name="adj" fmla="val 4327"/>
            </a:avLst>
          </a:prstGeom>
          <a:solidFill>
            <a:srgbClr val="14233B"/>
          </a:solidFill>
          <a:ln/>
        </p:spPr>
      </p:sp>
      <p:sp>
        <p:nvSpPr>
          <p:cNvPr id="50" name="Shape 48"/>
          <p:cNvSpPr/>
          <p:nvPr/>
        </p:nvSpPr>
        <p:spPr>
          <a:xfrm>
            <a:off x="3048000" y="5918522"/>
            <a:ext cx="247650" cy="247650"/>
          </a:xfrm>
          <a:prstGeom prst="ellipse">
            <a:avLst/>
          </a:prstGeom>
          <a:solidFill>
            <a:srgbClr val="FF7900"/>
          </a:solidFill>
          <a:ln/>
        </p:spPr>
      </p:sp>
      <p:sp>
        <p:nvSpPr>
          <p:cNvPr id="51" name="Text 49"/>
          <p:cNvSpPr/>
          <p:nvPr/>
        </p:nvSpPr>
        <p:spPr>
          <a:xfrm>
            <a:off x="3009900" y="5918522"/>
            <a:ext cx="323850" cy="285750"/>
          </a:xfrm>
          <a:prstGeom prst="rect">
            <a:avLst/>
          </a:prstGeom>
          <a:noFill/>
          <a:ln/>
        </p:spPr>
        <p:txBody>
          <a:bodyPr wrap="square" lIns="25400" tIns="25400" rIns="25400" bIns="25400" rtlCol="0" anchor="ctr">
            <a:normAutofit/>
          </a:bodyPr>
          <a:lstStyle/>
          <a:p>
            <a:pPr algn="ctr" indent="0" marL="0">
              <a:buNone/>
            </a:pPr>
            <a:r>
              <a:rPr lang="en-US" sz="1050" b="1" dirty="0">
                <a:solidFill>
                  <a:srgbClr val="14233B"/>
                </a:solidFill>
                <a:latin typeface="Georgia" pitchFamily="34" charset="0"/>
                <a:ea typeface="Georgia" pitchFamily="34" charset="-122"/>
                <a:cs typeface="Georgia" pitchFamily="34" charset="-120"/>
              </a:rPr>
              <a:t>2</a:t>
            </a:r>
            <a:endParaRPr lang="en-US" sz="1050" dirty="0"/>
          </a:p>
        </p:txBody>
      </p:sp>
      <p:sp>
        <p:nvSpPr>
          <p:cNvPr id="52" name="Text 50"/>
          <p:cNvSpPr/>
          <p:nvPr/>
        </p:nvSpPr>
        <p:spPr>
          <a:xfrm>
            <a:off x="3381375" y="5992341"/>
            <a:ext cx="819224"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FF9B3D"/>
                </a:solidFill>
                <a:latin typeface="Arial" pitchFamily="34" charset="0"/>
                <a:ea typeface="Arial" pitchFamily="34" charset="-122"/>
                <a:cs typeface="Arial" pitchFamily="34" charset="-120"/>
              </a:rPr>
              <a:t>YOUR BENCH</a:t>
            </a:r>
            <a:endParaRPr lang="en-US" sz="675" dirty="0"/>
          </a:p>
        </p:txBody>
      </p:sp>
      <p:sp>
        <p:nvSpPr>
          <p:cNvPr id="53" name="Text 51"/>
          <p:cNvSpPr/>
          <p:nvPr/>
        </p:nvSpPr>
        <p:spPr>
          <a:xfrm>
            <a:off x="3048000" y="6261422"/>
            <a:ext cx="1752600" cy="454223"/>
          </a:xfrm>
          <a:prstGeom prst="rect">
            <a:avLst/>
          </a:prstGeom>
          <a:noFill/>
          <a:ln/>
        </p:spPr>
        <p:txBody>
          <a:bodyPr wrap="square" lIns="25400" tIns="25400" rIns="25400" bIns="25400" rtlCol="0" anchor="t">
            <a:normAutofit/>
          </a:bodyPr>
          <a:lstStyle/>
          <a:p>
            <a:pPr algn="l" indent="0" marL="0">
              <a:lnSpc>
                <a:spcPct val="101628"/>
              </a:lnSpc>
              <a:buNone/>
            </a:pPr>
            <a:r>
              <a:rPr lang="en-US" sz="1425" b="1" dirty="0">
                <a:solidFill>
                  <a:srgbClr val="FFFFFF"/>
                </a:solidFill>
                <a:latin typeface="Georgia" pitchFamily="34" charset="0"/>
                <a:ea typeface="Georgia" pitchFamily="34" charset="-122"/>
                <a:cs typeface="Georgia" pitchFamily="34" charset="-120"/>
              </a:rPr>
              <a:t>Testing &amp; evidence collection</a:t>
            </a:r>
            <a:endParaRPr lang="en-US" sz="1425" dirty="0"/>
          </a:p>
        </p:txBody>
      </p:sp>
      <p:sp>
        <p:nvSpPr>
          <p:cNvPr id="54" name="Text 52"/>
          <p:cNvSpPr/>
          <p:nvPr/>
        </p:nvSpPr>
        <p:spPr>
          <a:xfrm>
            <a:off x="3048000" y="6744221"/>
            <a:ext cx="1752600" cy="493737"/>
          </a:xfrm>
          <a:prstGeom prst="rect">
            <a:avLst/>
          </a:prstGeom>
          <a:noFill/>
          <a:ln/>
        </p:spPr>
        <p:txBody>
          <a:bodyPr wrap="square" lIns="25400" tIns="25400" rIns="25400" bIns="25400" rtlCol="0" anchor="t">
            <a:normAutofit/>
          </a:bodyPr>
          <a:lstStyle/>
          <a:p>
            <a:pPr algn="l" indent="0" marL="0">
              <a:lnSpc>
                <a:spcPct val="122692"/>
              </a:lnSpc>
              <a:buNone/>
            </a:pPr>
            <a:r>
              <a:rPr lang="en-US" sz="825" dirty="0">
                <a:solidFill>
                  <a:srgbClr val="B6C2D6"/>
                </a:solidFill>
                <a:latin typeface="Arial" pitchFamily="34" charset="0"/>
                <a:ea typeface="Arial" pitchFamily="34" charset="-122"/>
                <a:cs typeface="Arial" pitchFamily="34" charset="-120"/>
              </a:rPr>
              <a:t>The conformity assessment itself — independent of our preparation work, and entirely yours.</a:t>
            </a:r>
            <a:endParaRPr lang="en-US" sz="825" dirty="0"/>
          </a:p>
        </p:txBody>
      </p:sp>
      <p:sp>
        <p:nvSpPr>
          <p:cNvPr id="55" name="Text 53"/>
          <p:cNvSpPr/>
          <p:nvPr/>
        </p:nvSpPr>
        <p:spPr>
          <a:xfrm>
            <a:off x="3048000" y="7285583"/>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9B3D"/>
                </a:solidFill>
                <a:latin typeface="Arial" pitchFamily="34" charset="0"/>
                <a:ea typeface="Arial" pitchFamily="34" charset="-122"/>
                <a:cs typeface="Arial" pitchFamily="34" charset="-120"/>
              </a:rPr>
              <a:t>·</a:t>
            </a:r>
            <a:endParaRPr lang="en-US" sz="750" dirty="0"/>
          </a:p>
        </p:txBody>
      </p:sp>
      <p:sp>
        <p:nvSpPr>
          <p:cNvPr id="56" name="Text 54"/>
          <p:cNvSpPr/>
          <p:nvPr/>
        </p:nvSpPr>
        <p:spPr>
          <a:xfrm>
            <a:off x="3146450" y="7285583"/>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B6C2D6"/>
                </a:solidFill>
                <a:latin typeface="Arial" pitchFamily="34" charset="0"/>
                <a:ea typeface="Arial" pitchFamily="34" charset="-122"/>
                <a:cs typeface="Arial" pitchFamily="34" charset="-120"/>
              </a:rPr>
              <a:t>Technical documentation review against Annex IV</a:t>
            </a:r>
            <a:endParaRPr lang="en-US" sz="788" dirty="0"/>
          </a:p>
        </p:txBody>
      </p:sp>
      <p:sp>
        <p:nvSpPr>
          <p:cNvPr id="57" name="Text 55"/>
          <p:cNvSpPr/>
          <p:nvPr/>
        </p:nvSpPr>
        <p:spPr>
          <a:xfrm>
            <a:off x="3048000" y="7603182"/>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9B3D"/>
                </a:solidFill>
                <a:latin typeface="Arial" pitchFamily="34" charset="0"/>
                <a:ea typeface="Arial" pitchFamily="34" charset="-122"/>
                <a:cs typeface="Arial" pitchFamily="34" charset="-120"/>
              </a:rPr>
              <a:t>·</a:t>
            </a:r>
            <a:endParaRPr lang="en-US" sz="750" dirty="0"/>
          </a:p>
        </p:txBody>
      </p:sp>
      <p:sp>
        <p:nvSpPr>
          <p:cNvPr id="58" name="Text 56"/>
          <p:cNvSpPr/>
          <p:nvPr/>
        </p:nvSpPr>
        <p:spPr>
          <a:xfrm>
            <a:off x="3146450" y="7603182"/>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B6C2D6"/>
                </a:solidFill>
                <a:latin typeface="Arial" pitchFamily="34" charset="0"/>
                <a:ea typeface="Arial" pitchFamily="34" charset="-122"/>
                <a:cs typeface="Arial" pitchFamily="34" charset="-120"/>
              </a:rPr>
              <a:t>Bench testing and evidence collection</a:t>
            </a:r>
            <a:endParaRPr lang="en-US" sz="788" dirty="0"/>
          </a:p>
        </p:txBody>
      </p:sp>
      <p:sp>
        <p:nvSpPr>
          <p:cNvPr id="59" name="Text 57"/>
          <p:cNvSpPr/>
          <p:nvPr/>
        </p:nvSpPr>
        <p:spPr>
          <a:xfrm>
            <a:off x="3048000" y="7920782"/>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9B3D"/>
                </a:solidFill>
                <a:latin typeface="Arial" pitchFamily="34" charset="0"/>
                <a:ea typeface="Arial" pitchFamily="34" charset="-122"/>
                <a:cs typeface="Arial" pitchFamily="34" charset="-120"/>
              </a:rPr>
              <a:t>·</a:t>
            </a:r>
            <a:endParaRPr lang="en-US" sz="750" dirty="0"/>
          </a:p>
        </p:txBody>
      </p:sp>
      <p:sp>
        <p:nvSpPr>
          <p:cNvPr id="60" name="Text 58"/>
          <p:cNvSpPr/>
          <p:nvPr/>
        </p:nvSpPr>
        <p:spPr>
          <a:xfrm>
            <a:off x="3146450" y="7920782"/>
            <a:ext cx="1654150" cy="443061"/>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B6C2D6"/>
                </a:solidFill>
                <a:latin typeface="Arial" pitchFamily="34" charset="0"/>
                <a:ea typeface="Arial" pitchFamily="34" charset="-122"/>
                <a:cs typeface="Arial" pitchFamily="34" charset="-120"/>
              </a:rPr>
              <a:t>EU-type examination under Module B, or the quality system audit under Module H</a:t>
            </a:r>
            <a:endParaRPr lang="en-US" sz="788" dirty="0"/>
          </a:p>
        </p:txBody>
      </p:sp>
      <p:sp>
        <p:nvSpPr>
          <p:cNvPr id="61" name="Text 59"/>
          <p:cNvSpPr/>
          <p:nvPr/>
        </p:nvSpPr>
        <p:spPr>
          <a:xfrm>
            <a:off x="3048000" y="8373368"/>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9B3D"/>
                </a:solidFill>
                <a:latin typeface="Arial" pitchFamily="34" charset="0"/>
                <a:ea typeface="Arial" pitchFamily="34" charset="-122"/>
                <a:cs typeface="Arial" pitchFamily="34" charset="-120"/>
              </a:rPr>
              <a:t>·</a:t>
            </a:r>
            <a:endParaRPr lang="en-US" sz="750" dirty="0"/>
          </a:p>
        </p:txBody>
      </p:sp>
      <p:sp>
        <p:nvSpPr>
          <p:cNvPr id="62" name="Text 60"/>
          <p:cNvSpPr/>
          <p:nvPr/>
        </p:nvSpPr>
        <p:spPr>
          <a:xfrm>
            <a:off x="3146450" y="8373368"/>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B6C2D6"/>
                </a:solidFill>
                <a:latin typeface="Arial" pitchFamily="34" charset="0"/>
                <a:ea typeface="Arial" pitchFamily="34" charset="-122"/>
                <a:cs typeface="Arial" pitchFamily="34" charset="-120"/>
              </a:rPr>
              <a:t>Findings, non-conformities and any retest cycle</a:t>
            </a:r>
            <a:endParaRPr lang="en-US" sz="788" dirty="0"/>
          </a:p>
        </p:txBody>
      </p:sp>
      <p:sp>
        <p:nvSpPr>
          <p:cNvPr id="63" name="Text 61"/>
          <p:cNvSpPr/>
          <p:nvPr/>
        </p:nvSpPr>
        <p:spPr>
          <a:xfrm>
            <a:off x="3048000" y="8690967"/>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9B3D"/>
                </a:solidFill>
                <a:latin typeface="Arial" pitchFamily="34" charset="0"/>
                <a:ea typeface="Arial" pitchFamily="34" charset="-122"/>
                <a:cs typeface="Arial" pitchFamily="34" charset="-120"/>
              </a:rPr>
              <a:t>·</a:t>
            </a:r>
            <a:endParaRPr lang="en-US" sz="750" dirty="0"/>
          </a:p>
        </p:txBody>
      </p:sp>
      <p:sp>
        <p:nvSpPr>
          <p:cNvPr id="64" name="Text 62"/>
          <p:cNvSpPr/>
          <p:nvPr/>
        </p:nvSpPr>
        <p:spPr>
          <a:xfrm>
            <a:off x="3146450" y="8690967"/>
            <a:ext cx="1095747" cy="173087"/>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B6C2D6"/>
                </a:solidFill>
                <a:latin typeface="Arial" pitchFamily="34" charset="0"/>
                <a:ea typeface="Arial" pitchFamily="34" charset="-122"/>
                <a:cs typeface="Arial" pitchFamily="34" charset="-120"/>
              </a:rPr>
              <a:t>The certificate decision</a:t>
            </a:r>
            <a:endParaRPr lang="en-US" sz="788" dirty="0"/>
          </a:p>
        </p:txBody>
      </p:sp>
      <p:sp>
        <p:nvSpPr>
          <p:cNvPr id="65" name="Shape 63"/>
          <p:cNvSpPr/>
          <p:nvPr/>
        </p:nvSpPr>
        <p:spPr>
          <a:xfrm>
            <a:off x="3048000" y="8961462"/>
            <a:ext cx="1676400" cy="9525"/>
          </a:xfrm>
          <a:prstGeom prst="rect">
            <a:avLst/>
          </a:prstGeom>
          <a:solidFill>
            <a:srgbClr val="FFFFFF">
              <a:alpha val="18000"/>
            </a:srgbClr>
          </a:solidFill>
          <a:ln/>
        </p:spPr>
      </p:sp>
      <p:sp>
        <p:nvSpPr>
          <p:cNvPr id="66" name="Text 64"/>
          <p:cNvSpPr/>
          <p:nvPr/>
        </p:nvSpPr>
        <p:spPr>
          <a:xfrm>
            <a:off x="3048000" y="9066237"/>
            <a:ext cx="1752600" cy="304800"/>
          </a:xfrm>
          <a:prstGeom prst="rect">
            <a:avLst/>
          </a:prstGeom>
          <a:noFill/>
          <a:ln/>
        </p:spPr>
        <p:txBody>
          <a:bodyPr wrap="square" lIns="25400" tIns="25400" rIns="25400" bIns="25400" rtlCol="0" anchor="t">
            <a:normAutofit/>
          </a:bodyPr>
          <a:lstStyle/>
          <a:p>
            <a:pPr algn="l" indent="0" marL="0">
              <a:lnSpc>
                <a:spcPct val="121739"/>
              </a:lnSpc>
              <a:buNone/>
            </a:pPr>
            <a:r>
              <a:rPr lang="en-US" sz="750" b="1" dirty="0">
                <a:solidFill>
                  <a:srgbClr val="FF9B3D"/>
                </a:solidFill>
                <a:latin typeface="Arial" pitchFamily="34" charset="0"/>
                <a:ea typeface="Arial" pitchFamily="34" charset="-122"/>
                <a:cs typeface="Arial" pitchFamily="34" charset="-120"/>
              </a:rPr>
              <a:t>You receive: a booked slot against a file that opens complete.</a:t>
            </a:r>
            <a:endParaRPr lang="en-US" sz="750" dirty="0"/>
          </a:p>
        </p:txBody>
      </p:sp>
      <p:sp>
        <p:nvSpPr>
          <p:cNvPr id="67" name="Text 65"/>
          <p:cNvSpPr/>
          <p:nvPr/>
        </p:nvSpPr>
        <p:spPr>
          <a:xfrm>
            <a:off x="4933950" y="5813747"/>
            <a:ext cx="285750" cy="3662065"/>
          </a:xfrm>
          <a:prstGeom prst="rect">
            <a:avLst/>
          </a:prstGeom>
          <a:noFill/>
          <a:ln/>
        </p:spPr>
        <p:txBody>
          <a:bodyPr wrap="square" lIns="25400" tIns="25400" rIns="25400" bIns="25400" rtlCol="0" anchor="ctr">
            <a:normAutofit/>
          </a:bodyPr>
          <a:lstStyle/>
          <a:p>
            <a:pPr algn="ctr" indent="0" marL="0">
              <a:buNone/>
            </a:pPr>
            <a:r>
              <a:rPr lang="en-US" sz="1200" dirty="0">
                <a:solidFill>
                  <a:srgbClr val="FF7900"/>
                </a:solidFill>
                <a:latin typeface="Arial" pitchFamily="34" charset="0"/>
                <a:ea typeface="Arial" pitchFamily="34" charset="-122"/>
                <a:cs typeface="Arial" pitchFamily="34" charset="-120"/>
              </a:rPr>
              <a:t>→</a:t>
            </a:r>
            <a:endParaRPr lang="en-US" sz="1200" dirty="0"/>
          </a:p>
        </p:txBody>
      </p:sp>
      <p:sp>
        <p:nvSpPr>
          <p:cNvPr id="68" name="Shape 66"/>
          <p:cNvSpPr/>
          <p:nvPr/>
        </p:nvSpPr>
        <p:spPr>
          <a:xfrm>
            <a:off x="5276850" y="5813747"/>
            <a:ext cx="2000250" cy="3623965"/>
          </a:xfrm>
          <a:prstGeom prst="roundRect">
            <a:avLst>
              <a:gd name="adj" fmla="val 4286"/>
            </a:avLst>
          </a:prstGeom>
          <a:solidFill>
            <a:srgbClr val="F5F8FC"/>
          </a:solidFill>
          <a:ln w="9525">
            <a:solidFill>
              <a:srgbClr val="D7E1EF"/>
            </a:solidFill>
            <a:prstDash val="solid"/>
          </a:ln>
        </p:spPr>
      </p:sp>
      <p:sp>
        <p:nvSpPr>
          <p:cNvPr id="69" name="Shape 67"/>
          <p:cNvSpPr/>
          <p:nvPr/>
        </p:nvSpPr>
        <p:spPr>
          <a:xfrm>
            <a:off x="5438775" y="5928047"/>
            <a:ext cx="247650" cy="247650"/>
          </a:xfrm>
          <a:prstGeom prst="ellipse">
            <a:avLst/>
          </a:prstGeom>
          <a:solidFill>
            <a:srgbClr val="14233B"/>
          </a:solidFill>
          <a:ln/>
        </p:spPr>
      </p:sp>
      <p:sp>
        <p:nvSpPr>
          <p:cNvPr id="70" name="Text 68"/>
          <p:cNvSpPr/>
          <p:nvPr/>
        </p:nvSpPr>
        <p:spPr>
          <a:xfrm>
            <a:off x="5400675" y="5928047"/>
            <a:ext cx="323850" cy="2857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Georgia" pitchFamily="34" charset="0"/>
                <a:ea typeface="Georgia" pitchFamily="34" charset="-122"/>
                <a:cs typeface="Georgia" pitchFamily="34" charset="-120"/>
              </a:rPr>
              <a:t>3</a:t>
            </a:r>
            <a:endParaRPr lang="en-US" sz="1050" dirty="0"/>
          </a:p>
        </p:txBody>
      </p:sp>
      <p:sp>
        <p:nvSpPr>
          <p:cNvPr id="71" name="Text 69"/>
          <p:cNvSpPr/>
          <p:nvPr/>
        </p:nvSpPr>
        <p:spPr>
          <a:xfrm>
            <a:off x="5772150" y="6001866"/>
            <a:ext cx="866701"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FF7900"/>
                </a:solidFill>
                <a:latin typeface="Arial" pitchFamily="34" charset="0"/>
                <a:ea typeface="Arial" pitchFamily="34" charset="-122"/>
                <a:cs typeface="Arial" pitchFamily="34" charset="-120"/>
              </a:rPr>
              <a:t>OXOT ALWAYS</a:t>
            </a:r>
            <a:endParaRPr lang="en-US" sz="675" dirty="0"/>
          </a:p>
        </p:txBody>
      </p:sp>
      <p:sp>
        <p:nvSpPr>
          <p:cNvPr id="72" name="Text 70"/>
          <p:cNvSpPr/>
          <p:nvPr/>
        </p:nvSpPr>
        <p:spPr>
          <a:xfrm>
            <a:off x="5438775" y="6270947"/>
            <a:ext cx="1752600" cy="454223"/>
          </a:xfrm>
          <a:prstGeom prst="rect">
            <a:avLst/>
          </a:prstGeom>
          <a:noFill/>
          <a:ln/>
        </p:spPr>
        <p:txBody>
          <a:bodyPr wrap="square" lIns="25400" tIns="25400" rIns="25400" bIns="25400" rtlCol="0" anchor="t">
            <a:normAutofit/>
          </a:bodyPr>
          <a:lstStyle/>
          <a:p>
            <a:pPr algn="l" indent="0" marL="0">
              <a:lnSpc>
                <a:spcPct val="101628"/>
              </a:lnSpc>
              <a:buNone/>
            </a:pPr>
            <a:r>
              <a:rPr lang="en-US" sz="1425" b="1" dirty="0">
                <a:solidFill>
                  <a:srgbClr val="14233B"/>
                </a:solidFill>
                <a:latin typeface="Georgia" pitchFamily="34" charset="0"/>
                <a:ea typeface="Georgia" pitchFamily="34" charset="-122"/>
                <a:cs typeface="Georgia" pitchFamily="34" charset="-120"/>
              </a:rPr>
              <a:t>Post-market management</a:t>
            </a:r>
            <a:endParaRPr lang="en-US" sz="1425" dirty="0"/>
          </a:p>
        </p:txBody>
      </p:sp>
      <p:sp>
        <p:nvSpPr>
          <p:cNvPr id="73" name="Text 71"/>
          <p:cNvSpPr/>
          <p:nvPr/>
        </p:nvSpPr>
        <p:spPr>
          <a:xfrm>
            <a:off x="5438775" y="6753746"/>
            <a:ext cx="1752600" cy="341858"/>
          </a:xfrm>
          <a:prstGeom prst="rect">
            <a:avLst/>
          </a:prstGeom>
          <a:noFill/>
          <a:ln/>
        </p:spPr>
        <p:txBody>
          <a:bodyPr wrap="square" lIns="25400" tIns="25400" rIns="25400" bIns="25400" rtlCol="0" anchor="t">
            <a:normAutofit/>
          </a:bodyPr>
          <a:lstStyle/>
          <a:p>
            <a:pPr algn="l" indent="0" marL="0">
              <a:lnSpc>
                <a:spcPct val="122692"/>
              </a:lnSpc>
              <a:buNone/>
            </a:pPr>
            <a:r>
              <a:rPr lang="en-US" sz="825" dirty="0">
                <a:solidFill>
                  <a:srgbClr val="3C4757"/>
                </a:solidFill>
                <a:latin typeface="Arial" pitchFamily="34" charset="0"/>
                <a:ea typeface="Arial" pitchFamily="34" charset="-122"/>
                <a:cs typeface="Arial" pitchFamily="34" charset="-120"/>
              </a:rPr>
              <a:t>Ongoing obligations, held in the OXOT Conformity application.</a:t>
            </a:r>
            <a:endParaRPr lang="en-US" sz="825" dirty="0"/>
          </a:p>
        </p:txBody>
      </p:sp>
      <p:sp>
        <p:nvSpPr>
          <p:cNvPr id="74" name="Text 72"/>
          <p:cNvSpPr/>
          <p:nvPr/>
        </p:nvSpPr>
        <p:spPr>
          <a:xfrm>
            <a:off x="5438775" y="7143229"/>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75" name="Text 73"/>
          <p:cNvSpPr/>
          <p:nvPr/>
        </p:nvSpPr>
        <p:spPr>
          <a:xfrm>
            <a:off x="5537225" y="7143229"/>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PSIRT operations under ISO/IEC 29147 and 30111</a:t>
            </a:r>
            <a:endParaRPr lang="en-US" sz="788" dirty="0"/>
          </a:p>
        </p:txBody>
      </p:sp>
      <p:sp>
        <p:nvSpPr>
          <p:cNvPr id="76" name="Text 74"/>
          <p:cNvSpPr/>
          <p:nvPr/>
        </p:nvSpPr>
        <p:spPr>
          <a:xfrm>
            <a:off x="5438775" y="7460828"/>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77" name="Text 75"/>
          <p:cNvSpPr/>
          <p:nvPr/>
        </p:nvSpPr>
        <p:spPr>
          <a:xfrm>
            <a:off x="5537225" y="7460828"/>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Article 14 clocks — 24-hour, 72-hour and 14-day filings</a:t>
            </a:r>
            <a:endParaRPr lang="en-US" sz="788" dirty="0"/>
          </a:p>
        </p:txBody>
      </p:sp>
      <p:sp>
        <p:nvSpPr>
          <p:cNvPr id="78" name="Text 76"/>
          <p:cNvSpPr/>
          <p:nvPr/>
        </p:nvSpPr>
        <p:spPr>
          <a:xfrm>
            <a:off x="5438775" y="7778428"/>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79" name="Text 77"/>
          <p:cNvSpPr/>
          <p:nvPr/>
        </p:nvSpPr>
        <p:spPr>
          <a:xfrm>
            <a:off x="5537225" y="7778428"/>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Support-period obligations under Article 13(8)</a:t>
            </a:r>
            <a:endParaRPr lang="en-US" sz="788" dirty="0"/>
          </a:p>
        </p:txBody>
      </p:sp>
      <p:sp>
        <p:nvSpPr>
          <p:cNvPr id="80" name="Text 78"/>
          <p:cNvSpPr/>
          <p:nvPr/>
        </p:nvSpPr>
        <p:spPr>
          <a:xfrm>
            <a:off x="5438775" y="8096027"/>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81" name="Text 79"/>
          <p:cNvSpPr/>
          <p:nvPr/>
        </p:nvSpPr>
        <p:spPr>
          <a:xfrm>
            <a:off x="5537225" y="8096027"/>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Substantial-modification watch, flagging a return to your bench</a:t>
            </a:r>
            <a:endParaRPr lang="en-US" sz="788" dirty="0"/>
          </a:p>
        </p:txBody>
      </p:sp>
      <p:sp>
        <p:nvSpPr>
          <p:cNvPr id="82" name="Text 80"/>
          <p:cNvSpPr/>
          <p:nvPr/>
        </p:nvSpPr>
        <p:spPr>
          <a:xfrm>
            <a:off x="5438775" y="8413626"/>
            <a:ext cx="114300" cy="166688"/>
          </a:xfrm>
          <a:prstGeom prst="rect">
            <a:avLst/>
          </a:prstGeom>
          <a:noFill/>
          <a:ln/>
        </p:spPr>
        <p:txBody>
          <a:bodyPr wrap="square" lIns="25400" tIns="25400" rIns="25400" bIns="25400" rtlCol="0" anchor="t">
            <a:normAutofit/>
          </a:bodyPr>
          <a:lstStyle/>
          <a:p>
            <a:pPr algn="l" indent="0" marL="0">
              <a:lnSpc>
                <a:spcPct val="117391"/>
              </a:lnSpc>
              <a:buNone/>
            </a:pPr>
            <a:r>
              <a:rPr lang="en-US" sz="750" dirty="0">
                <a:solidFill>
                  <a:srgbClr val="FF7900"/>
                </a:solidFill>
                <a:latin typeface="Arial" pitchFamily="34" charset="0"/>
                <a:ea typeface="Arial" pitchFamily="34" charset="-122"/>
                <a:cs typeface="Arial" pitchFamily="34" charset="-120"/>
              </a:rPr>
              <a:t>·</a:t>
            </a:r>
            <a:endParaRPr lang="en-US" sz="750" dirty="0"/>
          </a:p>
        </p:txBody>
      </p:sp>
      <p:sp>
        <p:nvSpPr>
          <p:cNvPr id="83" name="Text 81"/>
          <p:cNvSpPr/>
          <p:nvPr/>
        </p:nvSpPr>
        <p:spPr>
          <a:xfrm>
            <a:off x="5537225" y="8413626"/>
            <a:ext cx="1654150"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3C4757"/>
                </a:solidFill>
                <a:latin typeface="Arial" pitchFamily="34" charset="0"/>
                <a:ea typeface="Arial" pitchFamily="34" charset="-122"/>
                <a:cs typeface="Arial" pitchFamily="34" charset="-120"/>
              </a:rPr>
              <a:t>Ten-year retention under Article 10(7)</a:t>
            </a:r>
            <a:endParaRPr lang="en-US" sz="788" dirty="0"/>
          </a:p>
        </p:txBody>
      </p:sp>
      <p:sp>
        <p:nvSpPr>
          <p:cNvPr id="84" name="Shape 82"/>
          <p:cNvSpPr/>
          <p:nvPr/>
        </p:nvSpPr>
        <p:spPr>
          <a:xfrm>
            <a:off x="5438775" y="8951937"/>
            <a:ext cx="1676400" cy="9525"/>
          </a:xfrm>
          <a:prstGeom prst="rect">
            <a:avLst/>
          </a:prstGeom>
          <a:solidFill>
            <a:srgbClr val="D7E1EF"/>
          </a:solidFill>
          <a:ln/>
        </p:spPr>
      </p:sp>
      <p:sp>
        <p:nvSpPr>
          <p:cNvPr id="85" name="Text 83"/>
          <p:cNvSpPr/>
          <p:nvPr/>
        </p:nvSpPr>
        <p:spPr>
          <a:xfrm>
            <a:off x="5438775" y="9056712"/>
            <a:ext cx="1752600" cy="304800"/>
          </a:xfrm>
          <a:prstGeom prst="rect">
            <a:avLst/>
          </a:prstGeom>
          <a:noFill/>
          <a:ln/>
        </p:spPr>
        <p:txBody>
          <a:bodyPr wrap="square" lIns="25400" tIns="25400" rIns="25400" bIns="25400" rtlCol="0" anchor="t">
            <a:normAutofit/>
          </a:bodyPr>
          <a:lstStyle/>
          <a:p>
            <a:pPr algn="l" indent="0" marL="0">
              <a:lnSpc>
                <a:spcPct val="121739"/>
              </a:lnSpc>
              <a:buNone/>
            </a:pPr>
            <a:r>
              <a:rPr lang="en-US" sz="750" b="1" dirty="0">
                <a:solidFill>
                  <a:srgbClr val="1E3A6E"/>
                </a:solidFill>
                <a:latin typeface="Arial" pitchFamily="34" charset="0"/>
                <a:ea typeface="Arial" pitchFamily="34" charset="-122"/>
                <a:cs typeface="Arial" pitchFamily="34" charset="-120"/>
              </a:rPr>
              <a:t>Output: the certificate stays defensible for its whole life.</a:t>
            </a:r>
            <a:endParaRPr lang="en-US" sz="750" dirty="0"/>
          </a:p>
        </p:txBody>
      </p:sp>
      <p:sp>
        <p:nvSpPr>
          <p:cNvPr id="86" name="Shape 84"/>
          <p:cNvSpPr/>
          <p:nvPr/>
        </p:nvSpPr>
        <p:spPr>
          <a:xfrm>
            <a:off x="495300" y="9571062"/>
            <a:ext cx="6781800" cy="9525"/>
          </a:xfrm>
          <a:prstGeom prst="rect">
            <a:avLst/>
          </a:prstGeom>
          <a:solidFill>
            <a:srgbClr val="E2DCCE"/>
          </a:solidFill>
          <a:ln/>
        </p:spPr>
      </p:sp>
      <p:sp>
        <p:nvSpPr>
          <p:cNvPr id="87" name="Text 85"/>
          <p:cNvSpPr/>
          <p:nvPr/>
        </p:nvSpPr>
        <p:spPr>
          <a:xfrm>
            <a:off x="495300" y="9666312"/>
            <a:ext cx="2063003"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OXOT · Regulation (EU) 2024/2847 · Partner brief</a:t>
            </a:r>
            <a:endParaRPr lang="en-US" sz="675" dirty="0"/>
          </a:p>
        </p:txBody>
      </p:sp>
      <p:sp>
        <p:nvSpPr>
          <p:cNvPr id="88" name="Text 86"/>
          <p:cNvSpPr/>
          <p:nvPr/>
        </p:nvSpPr>
        <p:spPr>
          <a:xfrm>
            <a:off x="6764536" y="9666312"/>
            <a:ext cx="588764"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oxot.nl · 2 / 4</a:t>
            </a:r>
            <a:endParaRPr lang="en-US" sz="6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95300" y="690563"/>
            <a:ext cx="6781800" cy="19050"/>
          </a:xfrm>
          <a:prstGeom prst="rect">
            <a:avLst/>
          </a:prstGeom>
          <a:solidFill>
            <a:srgbClr val="14233B"/>
          </a:solidFill>
          <a:ln/>
        </p:spPr>
      </p:sp>
      <p:sp>
        <p:nvSpPr>
          <p:cNvPr id="3" name="Text 1"/>
          <p:cNvSpPr/>
          <p:nvPr/>
        </p:nvSpPr>
        <p:spPr>
          <a:xfrm>
            <a:off x="495300" y="419100"/>
            <a:ext cx="779562" cy="214313"/>
          </a:xfrm>
          <a:prstGeom prst="rect">
            <a:avLst/>
          </a:prstGeom>
          <a:noFill/>
          <a:ln/>
        </p:spPr>
        <p:txBody>
          <a:bodyPr wrap="square" lIns="25400" tIns="25400" rIns="25400" bIns="25400" rtlCol="0" anchor="t">
            <a:normAutofit/>
          </a:bodyPr>
          <a:lstStyle/>
          <a:p>
            <a:pPr algn="l" indent="0" marL="0">
              <a:buNone/>
            </a:pPr>
            <a:r>
              <a:rPr lang="en-US" sz="1275" spc="488" kern="0" dirty="0">
                <a:solidFill>
                  <a:srgbClr val="14233B"/>
                </a:solidFill>
                <a:latin typeface="Arial" pitchFamily="34" charset="0"/>
                <a:ea typeface="Arial" pitchFamily="34" charset="-122"/>
                <a:cs typeface="Arial" pitchFamily="34" charset="-120"/>
              </a:rPr>
              <a:t>O</a:t>
            </a:r>
            <a:pPr algn="l" indent="0" marL="0">
              <a:buNone/>
            </a:pPr>
            <a:r>
              <a:rPr lang="en-US" sz="1275" spc="488" kern="0" dirty="0">
                <a:solidFill>
                  <a:srgbClr val="FF7900"/>
                </a:solidFill>
                <a:latin typeface="Arial" pitchFamily="34" charset="0"/>
                <a:ea typeface="Arial" pitchFamily="34" charset="-122"/>
                <a:cs typeface="Arial" pitchFamily="34" charset="-120"/>
              </a:rPr>
              <a:t>X</a:t>
            </a:r>
            <a:pPr algn="l" indent="0" marL="0">
              <a:buNone/>
            </a:pPr>
            <a:r>
              <a:rPr lang="en-US" sz="1275" spc="488" kern="0" dirty="0">
                <a:solidFill>
                  <a:srgbClr val="14233B"/>
                </a:solidFill>
                <a:latin typeface="Arial" pitchFamily="34" charset="0"/>
                <a:ea typeface="Arial" pitchFamily="34" charset="-122"/>
                <a:cs typeface="Arial" pitchFamily="34" charset="-120"/>
              </a:rPr>
              <a:t>OT</a:t>
            </a:r>
            <a:endParaRPr lang="en-US" sz="1275" dirty="0"/>
          </a:p>
        </p:txBody>
      </p:sp>
      <p:sp>
        <p:nvSpPr>
          <p:cNvPr id="4" name="Text 2"/>
          <p:cNvSpPr/>
          <p:nvPr/>
        </p:nvSpPr>
        <p:spPr>
          <a:xfrm>
            <a:off x="1322487" y="485775"/>
            <a:ext cx="938213" cy="138113"/>
          </a:xfrm>
          <a:prstGeom prst="rect">
            <a:avLst/>
          </a:prstGeom>
          <a:noFill/>
          <a:ln/>
        </p:spPr>
        <p:txBody>
          <a:bodyPr wrap="square" lIns="25400" tIns="25400" rIns="25400" bIns="25400" rtlCol="0" anchor="t">
            <a:normAutofit/>
          </a:bodyPr>
          <a:lstStyle/>
          <a:p>
            <a:pPr algn="l" indent="0" marL="0">
              <a:buNone/>
            </a:pPr>
            <a:r>
              <a:rPr lang="en-US" sz="675" b="1" spc="225" kern="0" dirty="0">
                <a:solidFill>
                  <a:srgbClr val="8A8676"/>
                </a:solidFill>
                <a:latin typeface="Arial" pitchFamily="34" charset="0"/>
                <a:ea typeface="Arial" pitchFamily="34" charset="-122"/>
                <a:cs typeface="Arial" pitchFamily="34" charset="-120"/>
              </a:rPr>
              <a:t>CONFORMITY</a:t>
            </a:r>
            <a:endParaRPr lang="en-US" sz="675" dirty="0"/>
          </a:p>
        </p:txBody>
      </p:sp>
      <p:sp>
        <p:nvSpPr>
          <p:cNvPr id="5" name="Text 3"/>
          <p:cNvSpPr/>
          <p:nvPr/>
        </p:nvSpPr>
        <p:spPr>
          <a:xfrm>
            <a:off x="4964757" y="485775"/>
            <a:ext cx="2543577" cy="133350"/>
          </a:xfrm>
          <a:prstGeom prst="rect">
            <a:avLst/>
          </a:prstGeom>
          <a:noFill/>
          <a:ln/>
        </p:spPr>
        <p:txBody>
          <a:bodyPr wrap="square" lIns="25400" tIns="25400" rIns="25400" bIns="25400" rtlCol="0" anchor="t">
            <a:normAutofit/>
          </a:bodyPr>
          <a:lstStyle/>
          <a:p>
            <a:pPr algn="l" indent="0" marL="0">
              <a:buNone/>
            </a:pPr>
            <a:r>
              <a:rPr lang="en-US" sz="675" spc="120" kern="0" dirty="0">
                <a:solidFill>
                  <a:srgbClr val="8A8676"/>
                </a:solidFill>
                <a:latin typeface="Arial" pitchFamily="34" charset="0"/>
                <a:ea typeface="Arial" pitchFamily="34" charset="-122"/>
                <a:cs typeface="Arial" pitchFamily="34" charset="-120"/>
              </a:rPr>
              <a:t>THE STANDARDISED INGESTION PROCESS</a:t>
            </a:r>
            <a:endParaRPr lang="en-US" sz="675" dirty="0"/>
          </a:p>
        </p:txBody>
      </p:sp>
      <p:sp>
        <p:nvSpPr>
          <p:cNvPr id="6" name="Text 4"/>
          <p:cNvSpPr/>
          <p:nvPr/>
        </p:nvSpPr>
        <p:spPr>
          <a:xfrm>
            <a:off x="495300" y="938213"/>
            <a:ext cx="7459980" cy="333375"/>
          </a:xfrm>
          <a:prstGeom prst="rect">
            <a:avLst/>
          </a:prstGeom>
          <a:noFill/>
          <a:ln/>
        </p:spPr>
        <p:txBody>
          <a:bodyPr wrap="square" lIns="25400" tIns="25400" rIns="25400" bIns="25400" rtlCol="0" anchor="t">
            <a:normAutofit/>
          </a:bodyPr>
          <a:lstStyle/>
          <a:p>
            <a:pPr algn="l" indent="0" marL="0">
              <a:buNone/>
            </a:pPr>
            <a:r>
              <a:rPr lang="en-US" sz="2025" b="1" spc="-22" kern="0" dirty="0">
                <a:solidFill>
                  <a:srgbClr val="14233B"/>
                </a:solidFill>
                <a:latin typeface="Georgia" pitchFamily="34" charset="0"/>
                <a:ea typeface="Georgia" pitchFamily="34" charset="-122"/>
                <a:cs typeface="Georgia" pitchFamily="34" charset="-120"/>
              </a:rPr>
              <a:t>Every file reaches your bench in the same shape</a:t>
            </a:r>
            <a:endParaRPr lang="en-US" sz="2025" dirty="0"/>
          </a:p>
        </p:txBody>
      </p:sp>
      <p:sp>
        <p:nvSpPr>
          <p:cNvPr id="7" name="Shape 5"/>
          <p:cNvSpPr/>
          <p:nvPr/>
        </p:nvSpPr>
        <p:spPr>
          <a:xfrm>
            <a:off x="495300" y="1338263"/>
            <a:ext cx="400050" cy="19050"/>
          </a:xfrm>
          <a:prstGeom prst="rect">
            <a:avLst/>
          </a:prstGeom>
          <a:solidFill>
            <a:srgbClr val="FF7900"/>
          </a:solidFill>
          <a:ln/>
        </p:spPr>
      </p:sp>
      <p:sp>
        <p:nvSpPr>
          <p:cNvPr id="8" name="Text 6"/>
          <p:cNvSpPr/>
          <p:nvPr/>
        </p:nvSpPr>
        <p:spPr>
          <a:xfrm>
            <a:off x="495300" y="1471613"/>
            <a:ext cx="6671310" cy="573881"/>
          </a:xfrm>
          <a:prstGeom prst="rect">
            <a:avLst/>
          </a:prstGeom>
          <a:noFill/>
          <a:ln/>
        </p:spPr>
        <p:txBody>
          <a:bodyPr wrap="square" lIns="25400" tIns="25400" rIns="25400" bIns="25400" rtlCol="0" anchor="t">
            <a:normAutofit/>
          </a:bodyPr>
          <a:lstStyle/>
          <a:p>
            <a:pPr algn="l" indent="0" marL="0">
              <a:lnSpc>
                <a:spcPct val="129310"/>
              </a:lnSpc>
              <a:buNone/>
            </a:pPr>
            <a:r>
              <a:rPr lang="en-US" sz="938" dirty="0">
                <a:solidFill>
                  <a:srgbClr val="3C4757"/>
                </a:solidFill>
                <a:latin typeface="Arial" pitchFamily="34" charset="0"/>
                <a:ea typeface="Arial" pitchFamily="34" charset="-122"/>
                <a:cs typeface="Arial" pitchFamily="34" charset="-120"/>
              </a:rPr>
              <a:t>Phase 1 concludes with a fixed handover packet, generated from the OXOT Conformity application rather than written by hand. The manifest, section order and evidence references are identical on every submission, whichever manufacturer it came from.</a:t>
            </a:r>
            <a:endParaRPr lang="en-US" sz="938" dirty="0"/>
          </a:p>
        </p:txBody>
      </p:sp>
      <p:sp>
        <p:nvSpPr>
          <p:cNvPr id="9" name="Text 7"/>
          <p:cNvSpPr/>
          <p:nvPr/>
        </p:nvSpPr>
        <p:spPr>
          <a:xfrm>
            <a:off x="495300" y="2159794"/>
            <a:ext cx="4861560"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HANDOVER PACKET · STANDARD MANIFEST</a:t>
            </a:r>
            <a:endParaRPr lang="en-US" sz="750" dirty="0"/>
          </a:p>
        </p:txBody>
      </p:sp>
      <p:sp>
        <p:nvSpPr>
          <p:cNvPr id="10" name="Shape 8"/>
          <p:cNvSpPr/>
          <p:nvPr/>
        </p:nvSpPr>
        <p:spPr>
          <a:xfrm>
            <a:off x="495300" y="2336006"/>
            <a:ext cx="400050" cy="19050"/>
          </a:xfrm>
          <a:prstGeom prst="rect">
            <a:avLst/>
          </a:prstGeom>
          <a:solidFill>
            <a:srgbClr val="FF7900"/>
          </a:solidFill>
          <a:ln/>
        </p:spPr>
      </p:sp>
      <p:sp>
        <p:nvSpPr>
          <p:cNvPr id="11" name="Shape 9"/>
          <p:cNvSpPr/>
          <p:nvPr/>
        </p:nvSpPr>
        <p:spPr>
          <a:xfrm>
            <a:off x="495300" y="2459831"/>
            <a:ext cx="4419600" cy="444550"/>
          </a:xfrm>
          <a:prstGeom prst="roundRect">
            <a:avLst>
              <a:gd name="adj" fmla="val 14998"/>
            </a:avLst>
          </a:prstGeom>
          <a:solidFill>
            <a:srgbClr val="FFFFFF"/>
          </a:solidFill>
          <a:ln w="9525">
            <a:solidFill>
              <a:srgbClr val="E2DCCE"/>
            </a:solidFill>
            <a:prstDash val="solid"/>
          </a:ln>
        </p:spPr>
      </p:sp>
      <p:sp>
        <p:nvSpPr>
          <p:cNvPr id="12" name="Text 10"/>
          <p:cNvSpPr/>
          <p:nvPr/>
        </p:nvSpPr>
        <p:spPr>
          <a:xfrm>
            <a:off x="619125" y="2545556"/>
            <a:ext cx="179487" cy="138113"/>
          </a:xfrm>
          <a:prstGeom prst="rect">
            <a:avLst/>
          </a:prstGeom>
          <a:noFill/>
          <a:ln/>
        </p:spPr>
        <p:txBody>
          <a:bodyPr wrap="square" lIns="25400" tIns="25400" rIns="25400" bIns="25400" rtlCol="0" anchor="t">
            <a:normAutofit/>
          </a:bodyPr>
          <a:lstStyle/>
          <a:p>
            <a:pPr algn="l" indent="0" marL="0">
              <a:buNone/>
            </a:pPr>
            <a:r>
              <a:rPr lang="en-US" sz="675" b="1" dirty="0">
                <a:solidFill>
                  <a:srgbClr val="FF7900"/>
                </a:solidFill>
                <a:latin typeface="Consolas" pitchFamily="34" charset="0"/>
                <a:ea typeface="Consolas" pitchFamily="34" charset="-122"/>
                <a:cs typeface="Consolas" pitchFamily="34" charset="-120"/>
              </a:rPr>
              <a:t>01</a:t>
            </a:r>
            <a:endParaRPr lang="en-US" sz="675" dirty="0"/>
          </a:p>
        </p:txBody>
      </p:sp>
      <p:sp>
        <p:nvSpPr>
          <p:cNvPr id="13" name="Text 11"/>
          <p:cNvSpPr/>
          <p:nvPr/>
        </p:nvSpPr>
        <p:spPr>
          <a:xfrm>
            <a:off x="817662" y="2536031"/>
            <a:ext cx="3994792"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Classification determination</a:t>
            </a:r>
            <a:endParaRPr lang="en-US" sz="863" dirty="0"/>
          </a:p>
        </p:txBody>
      </p:sp>
      <p:sp>
        <p:nvSpPr>
          <p:cNvPr id="14" name="Text 12"/>
          <p:cNvSpPr/>
          <p:nvPr/>
        </p:nvSpPr>
        <p:spPr>
          <a:xfrm>
            <a:off x="817662" y="2693194"/>
            <a:ext cx="3994792" cy="173087"/>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Annex III reading with the reasoning recorded, and the selected conformity module.</a:t>
            </a:r>
            <a:endParaRPr lang="en-US" sz="788" dirty="0"/>
          </a:p>
        </p:txBody>
      </p:sp>
      <p:sp>
        <p:nvSpPr>
          <p:cNvPr id="15" name="Shape 13"/>
          <p:cNvSpPr/>
          <p:nvPr/>
        </p:nvSpPr>
        <p:spPr>
          <a:xfrm>
            <a:off x="495300" y="2961531"/>
            <a:ext cx="4419600" cy="579537"/>
          </a:xfrm>
          <a:prstGeom prst="roundRect">
            <a:avLst>
              <a:gd name="adj" fmla="val 11505"/>
            </a:avLst>
          </a:prstGeom>
          <a:solidFill>
            <a:srgbClr val="FFFFFF"/>
          </a:solidFill>
          <a:ln w="9525">
            <a:solidFill>
              <a:srgbClr val="E2DCCE"/>
            </a:solidFill>
            <a:prstDash val="solid"/>
          </a:ln>
        </p:spPr>
      </p:sp>
      <p:sp>
        <p:nvSpPr>
          <p:cNvPr id="16" name="Text 14"/>
          <p:cNvSpPr/>
          <p:nvPr/>
        </p:nvSpPr>
        <p:spPr>
          <a:xfrm>
            <a:off x="619125" y="3047256"/>
            <a:ext cx="179487" cy="138113"/>
          </a:xfrm>
          <a:prstGeom prst="rect">
            <a:avLst/>
          </a:prstGeom>
          <a:noFill/>
          <a:ln/>
        </p:spPr>
        <p:txBody>
          <a:bodyPr wrap="square" lIns="25400" tIns="25400" rIns="25400" bIns="25400" rtlCol="0" anchor="t">
            <a:normAutofit/>
          </a:bodyPr>
          <a:lstStyle/>
          <a:p>
            <a:pPr algn="l" indent="0" marL="0">
              <a:buNone/>
            </a:pPr>
            <a:r>
              <a:rPr lang="en-US" sz="675" b="1" dirty="0">
                <a:solidFill>
                  <a:srgbClr val="FF7900"/>
                </a:solidFill>
                <a:latin typeface="Consolas" pitchFamily="34" charset="0"/>
                <a:ea typeface="Consolas" pitchFamily="34" charset="-122"/>
                <a:cs typeface="Consolas" pitchFamily="34" charset="-120"/>
              </a:rPr>
              <a:t>02</a:t>
            </a:r>
            <a:endParaRPr lang="en-US" sz="675" dirty="0"/>
          </a:p>
        </p:txBody>
      </p:sp>
      <p:sp>
        <p:nvSpPr>
          <p:cNvPr id="17" name="Text 15"/>
          <p:cNvSpPr/>
          <p:nvPr/>
        </p:nvSpPr>
        <p:spPr>
          <a:xfrm>
            <a:off x="817662" y="3037731"/>
            <a:ext cx="4370755"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Annex I conformance matrix</a:t>
            </a:r>
            <a:endParaRPr lang="en-US" sz="863" dirty="0"/>
          </a:p>
        </p:txBody>
      </p:sp>
      <p:sp>
        <p:nvSpPr>
          <p:cNvPr id="18" name="Text 16"/>
          <p:cNvSpPr/>
          <p:nvPr/>
        </p:nvSpPr>
        <p:spPr>
          <a:xfrm>
            <a:off x="817662" y="3194893"/>
            <a:ext cx="4092616"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Each Part I and Part II requirement, its status, its owner and the evidence reference that satisfies it.</a:t>
            </a:r>
            <a:endParaRPr lang="en-US" sz="788" dirty="0"/>
          </a:p>
        </p:txBody>
      </p:sp>
      <p:sp>
        <p:nvSpPr>
          <p:cNvPr id="19" name="Shape 17"/>
          <p:cNvSpPr/>
          <p:nvPr/>
        </p:nvSpPr>
        <p:spPr>
          <a:xfrm>
            <a:off x="495300" y="3598218"/>
            <a:ext cx="4419600" cy="444550"/>
          </a:xfrm>
          <a:prstGeom prst="roundRect">
            <a:avLst>
              <a:gd name="adj" fmla="val 14998"/>
            </a:avLst>
          </a:prstGeom>
          <a:solidFill>
            <a:srgbClr val="FFFFFF"/>
          </a:solidFill>
          <a:ln w="9525">
            <a:solidFill>
              <a:srgbClr val="E2DCCE"/>
            </a:solidFill>
            <a:prstDash val="solid"/>
          </a:ln>
        </p:spPr>
      </p:sp>
      <p:sp>
        <p:nvSpPr>
          <p:cNvPr id="20" name="Text 18"/>
          <p:cNvSpPr/>
          <p:nvPr/>
        </p:nvSpPr>
        <p:spPr>
          <a:xfrm>
            <a:off x="619125" y="3683943"/>
            <a:ext cx="179487" cy="138113"/>
          </a:xfrm>
          <a:prstGeom prst="rect">
            <a:avLst/>
          </a:prstGeom>
          <a:noFill/>
          <a:ln/>
        </p:spPr>
        <p:txBody>
          <a:bodyPr wrap="square" lIns="25400" tIns="25400" rIns="25400" bIns="25400" rtlCol="0" anchor="t">
            <a:normAutofit/>
          </a:bodyPr>
          <a:lstStyle/>
          <a:p>
            <a:pPr algn="l" indent="0" marL="0">
              <a:buNone/>
            </a:pPr>
            <a:r>
              <a:rPr lang="en-US" sz="675" b="1" dirty="0">
                <a:solidFill>
                  <a:srgbClr val="FF7900"/>
                </a:solidFill>
                <a:latin typeface="Consolas" pitchFamily="34" charset="0"/>
                <a:ea typeface="Consolas" pitchFamily="34" charset="-122"/>
                <a:cs typeface="Consolas" pitchFamily="34" charset="-120"/>
              </a:rPr>
              <a:t>03</a:t>
            </a:r>
            <a:endParaRPr lang="en-US" sz="675" dirty="0"/>
          </a:p>
        </p:txBody>
      </p:sp>
      <p:sp>
        <p:nvSpPr>
          <p:cNvPr id="21" name="Text 19"/>
          <p:cNvSpPr/>
          <p:nvPr/>
        </p:nvSpPr>
        <p:spPr>
          <a:xfrm>
            <a:off x="817662" y="3674418"/>
            <a:ext cx="3925706"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Annex IV technical documentation</a:t>
            </a:r>
            <a:endParaRPr lang="en-US" sz="863" dirty="0"/>
          </a:p>
        </p:txBody>
      </p:sp>
      <p:sp>
        <p:nvSpPr>
          <p:cNvPr id="22" name="Text 20"/>
          <p:cNvSpPr/>
          <p:nvPr/>
        </p:nvSpPr>
        <p:spPr>
          <a:xfrm>
            <a:off x="817662" y="3831580"/>
            <a:ext cx="3925706" cy="173087"/>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Complete and section-ordered, with a generation timestamp and a SHA-256 seal.</a:t>
            </a:r>
            <a:endParaRPr lang="en-US" sz="788" dirty="0"/>
          </a:p>
        </p:txBody>
      </p:sp>
      <p:sp>
        <p:nvSpPr>
          <p:cNvPr id="23" name="Shape 21"/>
          <p:cNvSpPr/>
          <p:nvPr/>
        </p:nvSpPr>
        <p:spPr>
          <a:xfrm>
            <a:off x="495300" y="4099917"/>
            <a:ext cx="4419600" cy="579537"/>
          </a:xfrm>
          <a:prstGeom prst="roundRect">
            <a:avLst>
              <a:gd name="adj" fmla="val 11505"/>
            </a:avLst>
          </a:prstGeom>
          <a:solidFill>
            <a:srgbClr val="FFFFFF"/>
          </a:solidFill>
          <a:ln w="9525">
            <a:solidFill>
              <a:srgbClr val="E2DCCE"/>
            </a:solidFill>
            <a:prstDash val="solid"/>
          </a:ln>
        </p:spPr>
      </p:sp>
      <p:sp>
        <p:nvSpPr>
          <p:cNvPr id="24" name="Text 22"/>
          <p:cNvSpPr/>
          <p:nvPr/>
        </p:nvSpPr>
        <p:spPr>
          <a:xfrm>
            <a:off x="619125" y="4185642"/>
            <a:ext cx="179487" cy="138113"/>
          </a:xfrm>
          <a:prstGeom prst="rect">
            <a:avLst/>
          </a:prstGeom>
          <a:noFill/>
          <a:ln/>
        </p:spPr>
        <p:txBody>
          <a:bodyPr wrap="square" lIns="25400" tIns="25400" rIns="25400" bIns="25400" rtlCol="0" anchor="t">
            <a:normAutofit/>
          </a:bodyPr>
          <a:lstStyle/>
          <a:p>
            <a:pPr algn="l" indent="0" marL="0">
              <a:buNone/>
            </a:pPr>
            <a:r>
              <a:rPr lang="en-US" sz="675" b="1" dirty="0">
                <a:solidFill>
                  <a:srgbClr val="FF7900"/>
                </a:solidFill>
                <a:latin typeface="Consolas" pitchFamily="34" charset="0"/>
                <a:ea typeface="Consolas" pitchFamily="34" charset="-122"/>
                <a:cs typeface="Consolas" pitchFamily="34" charset="-120"/>
              </a:rPr>
              <a:t>04</a:t>
            </a:r>
            <a:endParaRPr lang="en-US" sz="675" dirty="0"/>
          </a:p>
        </p:txBody>
      </p:sp>
      <p:sp>
        <p:nvSpPr>
          <p:cNvPr id="25" name="Text 23"/>
          <p:cNvSpPr/>
          <p:nvPr/>
        </p:nvSpPr>
        <p:spPr>
          <a:xfrm>
            <a:off x="817662" y="4176117"/>
            <a:ext cx="4370755"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xBOM set and vulnerability position</a:t>
            </a:r>
            <a:endParaRPr lang="en-US" sz="863" dirty="0"/>
          </a:p>
        </p:txBody>
      </p:sp>
      <p:sp>
        <p:nvSpPr>
          <p:cNvPr id="26" name="Text 24"/>
          <p:cNvSpPr/>
          <p:nvPr/>
        </p:nvSpPr>
        <p:spPr>
          <a:xfrm>
            <a:off x="817662" y="4333280"/>
            <a:ext cx="4092616"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SBOM, HBOM and CBOM in CycloneDX, resolved against CISA KEV with VEX statements attached.</a:t>
            </a:r>
            <a:endParaRPr lang="en-US" sz="788" dirty="0"/>
          </a:p>
        </p:txBody>
      </p:sp>
      <p:sp>
        <p:nvSpPr>
          <p:cNvPr id="27" name="Shape 25"/>
          <p:cNvSpPr/>
          <p:nvPr/>
        </p:nvSpPr>
        <p:spPr>
          <a:xfrm>
            <a:off x="495300" y="4736604"/>
            <a:ext cx="4419600" cy="579537"/>
          </a:xfrm>
          <a:prstGeom prst="roundRect">
            <a:avLst>
              <a:gd name="adj" fmla="val 11505"/>
            </a:avLst>
          </a:prstGeom>
          <a:solidFill>
            <a:srgbClr val="FFFFFF"/>
          </a:solidFill>
          <a:ln w="9525">
            <a:solidFill>
              <a:srgbClr val="E2DCCE"/>
            </a:solidFill>
            <a:prstDash val="solid"/>
          </a:ln>
        </p:spPr>
      </p:sp>
      <p:sp>
        <p:nvSpPr>
          <p:cNvPr id="28" name="Text 26"/>
          <p:cNvSpPr/>
          <p:nvPr/>
        </p:nvSpPr>
        <p:spPr>
          <a:xfrm>
            <a:off x="619125" y="4822329"/>
            <a:ext cx="179487" cy="138113"/>
          </a:xfrm>
          <a:prstGeom prst="rect">
            <a:avLst/>
          </a:prstGeom>
          <a:noFill/>
          <a:ln/>
        </p:spPr>
        <p:txBody>
          <a:bodyPr wrap="square" lIns="25400" tIns="25400" rIns="25400" bIns="25400" rtlCol="0" anchor="t">
            <a:normAutofit/>
          </a:bodyPr>
          <a:lstStyle/>
          <a:p>
            <a:pPr algn="l" indent="0" marL="0">
              <a:buNone/>
            </a:pPr>
            <a:r>
              <a:rPr lang="en-US" sz="675" b="1" dirty="0">
                <a:solidFill>
                  <a:srgbClr val="FF7900"/>
                </a:solidFill>
                <a:latin typeface="Consolas" pitchFamily="34" charset="0"/>
                <a:ea typeface="Consolas" pitchFamily="34" charset="-122"/>
                <a:cs typeface="Consolas" pitchFamily="34" charset="-120"/>
              </a:rPr>
              <a:t>05</a:t>
            </a:r>
            <a:endParaRPr lang="en-US" sz="675" dirty="0"/>
          </a:p>
        </p:txBody>
      </p:sp>
      <p:sp>
        <p:nvSpPr>
          <p:cNvPr id="29" name="Text 27"/>
          <p:cNvSpPr/>
          <p:nvPr/>
        </p:nvSpPr>
        <p:spPr>
          <a:xfrm>
            <a:off x="817662" y="4812804"/>
            <a:ext cx="4370755"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Vulnerability handling process</a:t>
            </a:r>
            <a:endParaRPr lang="en-US" sz="863" dirty="0"/>
          </a:p>
        </p:txBody>
      </p:sp>
      <p:sp>
        <p:nvSpPr>
          <p:cNvPr id="30" name="Text 28"/>
          <p:cNvSpPr/>
          <p:nvPr/>
        </p:nvSpPr>
        <p:spPr>
          <a:xfrm>
            <a:off x="817662" y="4969966"/>
            <a:ext cx="4092616" cy="308074"/>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CVD policy, PSIRT operating procedure and reporting readiness under ISO/IEC 29147 and 30111.</a:t>
            </a:r>
            <a:endParaRPr lang="en-US" sz="788" dirty="0"/>
          </a:p>
        </p:txBody>
      </p:sp>
      <p:sp>
        <p:nvSpPr>
          <p:cNvPr id="31" name="Shape 29"/>
          <p:cNvSpPr/>
          <p:nvPr/>
        </p:nvSpPr>
        <p:spPr>
          <a:xfrm>
            <a:off x="495300" y="5373291"/>
            <a:ext cx="4419600" cy="444550"/>
          </a:xfrm>
          <a:prstGeom prst="roundRect">
            <a:avLst>
              <a:gd name="adj" fmla="val 14998"/>
            </a:avLst>
          </a:prstGeom>
          <a:solidFill>
            <a:srgbClr val="FFFFFF"/>
          </a:solidFill>
          <a:ln w="9525">
            <a:solidFill>
              <a:srgbClr val="E2DCCE"/>
            </a:solidFill>
            <a:prstDash val="solid"/>
          </a:ln>
        </p:spPr>
      </p:sp>
      <p:sp>
        <p:nvSpPr>
          <p:cNvPr id="32" name="Text 30"/>
          <p:cNvSpPr/>
          <p:nvPr/>
        </p:nvSpPr>
        <p:spPr>
          <a:xfrm>
            <a:off x="619125" y="5459016"/>
            <a:ext cx="179487" cy="138113"/>
          </a:xfrm>
          <a:prstGeom prst="rect">
            <a:avLst/>
          </a:prstGeom>
          <a:noFill/>
          <a:ln/>
        </p:spPr>
        <p:txBody>
          <a:bodyPr wrap="square" lIns="25400" tIns="25400" rIns="25400" bIns="25400" rtlCol="0" anchor="t">
            <a:normAutofit/>
          </a:bodyPr>
          <a:lstStyle/>
          <a:p>
            <a:pPr algn="l" indent="0" marL="0">
              <a:buNone/>
            </a:pPr>
            <a:r>
              <a:rPr lang="en-US" sz="675" b="1" dirty="0">
                <a:solidFill>
                  <a:srgbClr val="FF7900"/>
                </a:solidFill>
                <a:latin typeface="Consolas" pitchFamily="34" charset="0"/>
                <a:ea typeface="Consolas" pitchFamily="34" charset="-122"/>
                <a:cs typeface="Consolas" pitchFamily="34" charset="-120"/>
              </a:rPr>
              <a:t>06</a:t>
            </a:r>
            <a:endParaRPr lang="en-US" sz="675" dirty="0"/>
          </a:p>
        </p:txBody>
      </p:sp>
      <p:sp>
        <p:nvSpPr>
          <p:cNvPr id="33" name="Text 31"/>
          <p:cNvSpPr/>
          <p:nvPr/>
        </p:nvSpPr>
        <p:spPr>
          <a:xfrm>
            <a:off x="817662" y="5449491"/>
            <a:ext cx="4339731" cy="166688"/>
          </a:xfrm>
          <a:prstGeom prst="rect">
            <a:avLst/>
          </a:prstGeom>
          <a:noFill/>
          <a:ln/>
        </p:spPr>
        <p:txBody>
          <a:bodyPr wrap="square" lIns="25400" tIns="25400" rIns="25400" bIns="25400" rtlCol="0" anchor="t">
            <a:normAutofit/>
          </a:bodyPr>
          <a:lstStyle/>
          <a:p>
            <a:pPr algn="l" indent="0" marL="0">
              <a:buNone/>
            </a:pPr>
            <a:r>
              <a:rPr lang="en-US" sz="863" b="1" dirty="0">
                <a:solidFill>
                  <a:srgbClr val="14233B"/>
                </a:solidFill>
                <a:latin typeface="Arial" pitchFamily="34" charset="0"/>
                <a:ea typeface="Arial" pitchFamily="34" charset="-122"/>
                <a:cs typeface="Arial" pitchFamily="34" charset="-120"/>
              </a:rPr>
              <a:t>Test evidence and residual gap register</a:t>
            </a:r>
            <a:endParaRPr lang="en-US" sz="863" dirty="0"/>
          </a:p>
        </p:txBody>
      </p:sp>
      <p:sp>
        <p:nvSpPr>
          <p:cNvPr id="34" name="Text 32"/>
          <p:cNvSpPr/>
          <p:nvPr/>
        </p:nvSpPr>
        <p:spPr>
          <a:xfrm>
            <a:off x="817662" y="5606653"/>
            <a:ext cx="4339731" cy="173087"/>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Everything already tested, plus an explicit statement of what remains for your assessment.</a:t>
            </a:r>
            <a:endParaRPr lang="en-US" sz="788" dirty="0"/>
          </a:p>
        </p:txBody>
      </p:sp>
      <p:sp>
        <p:nvSpPr>
          <p:cNvPr id="35" name="Text 33"/>
          <p:cNvSpPr/>
          <p:nvPr/>
        </p:nvSpPr>
        <p:spPr>
          <a:xfrm>
            <a:off x="5029200" y="2159794"/>
            <a:ext cx="2472690"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READINESS GATE</a:t>
            </a:r>
            <a:endParaRPr lang="en-US" sz="750" dirty="0"/>
          </a:p>
        </p:txBody>
      </p:sp>
      <p:sp>
        <p:nvSpPr>
          <p:cNvPr id="36" name="Shape 34"/>
          <p:cNvSpPr/>
          <p:nvPr/>
        </p:nvSpPr>
        <p:spPr>
          <a:xfrm>
            <a:off x="5029200" y="2336006"/>
            <a:ext cx="400050" cy="19050"/>
          </a:xfrm>
          <a:prstGeom prst="rect">
            <a:avLst/>
          </a:prstGeom>
          <a:solidFill>
            <a:srgbClr val="FF7900"/>
          </a:solidFill>
          <a:ln/>
        </p:spPr>
      </p:sp>
      <p:sp>
        <p:nvSpPr>
          <p:cNvPr id="37" name="Shape 35"/>
          <p:cNvSpPr/>
          <p:nvPr/>
        </p:nvSpPr>
        <p:spPr>
          <a:xfrm>
            <a:off x="5029200" y="2459831"/>
            <a:ext cx="2247900" cy="855166"/>
          </a:xfrm>
          <a:prstGeom prst="roundRect">
            <a:avLst>
              <a:gd name="adj" fmla="val 8911"/>
            </a:avLst>
          </a:prstGeom>
          <a:solidFill>
            <a:srgbClr val="F5F8FC"/>
          </a:solidFill>
          <a:ln w="9525">
            <a:solidFill>
              <a:srgbClr val="D7E1EF"/>
            </a:solidFill>
            <a:prstDash val="solid"/>
          </a:ln>
        </p:spPr>
      </p:sp>
      <p:sp>
        <p:nvSpPr>
          <p:cNvPr id="38" name="Text 36"/>
          <p:cNvSpPr/>
          <p:nvPr/>
        </p:nvSpPr>
        <p:spPr>
          <a:xfrm>
            <a:off x="5172075" y="2583656"/>
            <a:ext cx="2038350" cy="645616"/>
          </a:xfrm>
          <a:prstGeom prst="rect">
            <a:avLst/>
          </a:prstGeom>
          <a:noFill/>
          <a:ln/>
        </p:spPr>
        <p:txBody>
          <a:bodyPr wrap="square" lIns="25400" tIns="25400" rIns="25400" bIns="25400" rtlCol="0" anchor="t">
            <a:normAutofit/>
          </a:bodyPr>
          <a:lstStyle/>
          <a:p>
            <a:pPr algn="l" indent="0" marL="0">
              <a:lnSpc>
                <a:spcPct val="122692"/>
              </a:lnSpc>
              <a:buNone/>
            </a:pPr>
            <a:r>
              <a:rPr lang="en-US" sz="825" dirty="0">
                <a:solidFill>
                  <a:srgbClr val="3C4757"/>
                </a:solidFill>
                <a:latin typeface="Arial" pitchFamily="34" charset="0"/>
                <a:ea typeface="Arial" pitchFamily="34" charset="-122"/>
                <a:cs typeface="Arial" pitchFamily="34" charset="-120"/>
              </a:rPr>
              <a:t>No file is offered to a partner bench until the application scores it complete against the manifest. A submission that would stall is held at our end, not yours.</a:t>
            </a:r>
            <a:endParaRPr lang="en-US" sz="825" dirty="0"/>
          </a:p>
        </p:txBody>
      </p:sp>
      <p:sp>
        <p:nvSpPr>
          <p:cNvPr id="39" name="Shape 37"/>
          <p:cNvSpPr/>
          <p:nvPr/>
        </p:nvSpPr>
        <p:spPr>
          <a:xfrm>
            <a:off x="5029200" y="3400723"/>
            <a:ext cx="2247900" cy="1012329"/>
          </a:xfrm>
          <a:prstGeom prst="roundRect">
            <a:avLst>
              <a:gd name="adj" fmla="val 7527"/>
            </a:avLst>
          </a:prstGeom>
          <a:solidFill>
            <a:srgbClr val="FFFFFF"/>
          </a:solidFill>
          <a:ln w="9525">
            <a:solidFill>
              <a:srgbClr val="E2DCCE"/>
            </a:solidFill>
            <a:prstDash val="solid"/>
          </a:ln>
        </p:spPr>
      </p:sp>
      <p:sp>
        <p:nvSpPr>
          <p:cNvPr id="40" name="Text 38"/>
          <p:cNvSpPr/>
          <p:nvPr/>
        </p:nvSpPr>
        <p:spPr>
          <a:xfrm>
            <a:off x="5172075" y="3524548"/>
            <a:ext cx="215836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8A8676"/>
                </a:solidFill>
                <a:latin typeface="Arial" pitchFamily="34" charset="0"/>
                <a:ea typeface="Arial" pitchFamily="34" charset="-122"/>
                <a:cs typeface="Arial" pitchFamily="34" charset="-120"/>
              </a:rPr>
              <a:t>BOOKING HORIZON</a:t>
            </a:r>
            <a:endParaRPr lang="en-US" sz="675" dirty="0"/>
          </a:p>
        </p:txBody>
      </p:sp>
      <p:sp>
        <p:nvSpPr>
          <p:cNvPr id="41" name="Text 39"/>
          <p:cNvSpPr/>
          <p:nvPr/>
        </p:nvSpPr>
        <p:spPr>
          <a:xfrm>
            <a:off x="5172075" y="3681710"/>
            <a:ext cx="2038350" cy="645616"/>
          </a:xfrm>
          <a:prstGeom prst="rect">
            <a:avLst/>
          </a:prstGeom>
          <a:noFill/>
          <a:ln/>
        </p:spPr>
        <p:txBody>
          <a:bodyPr wrap="square" lIns="25400" tIns="25400" rIns="25400" bIns="25400" rtlCol="0" anchor="t">
            <a:normAutofit/>
          </a:bodyPr>
          <a:lstStyle/>
          <a:p>
            <a:pPr algn="l" indent="0" marL="0">
              <a:lnSpc>
                <a:spcPct val="122692"/>
              </a:lnSpc>
              <a:buNone/>
            </a:pPr>
            <a:r>
              <a:rPr lang="en-US" sz="825" dirty="0">
                <a:solidFill>
                  <a:srgbClr val="3C4757"/>
                </a:solidFill>
                <a:latin typeface="Arial" pitchFamily="34" charset="0"/>
                <a:ea typeface="Arial" pitchFamily="34" charset="-122"/>
                <a:cs typeface="Arial" pitchFamily="34" charset="-120"/>
              </a:rPr>
              <a:t>Slots are reserved against a forecast date at the start of Phase 1, and confirmed once the gate passes — typically 6 to 10 weeks of visibility before the bench date.</a:t>
            </a:r>
            <a:endParaRPr lang="en-US" sz="825" dirty="0"/>
          </a:p>
        </p:txBody>
      </p:sp>
      <p:sp>
        <p:nvSpPr>
          <p:cNvPr id="42" name="Shape 40"/>
          <p:cNvSpPr/>
          <p:nvPr/>
        </p:nvSpPr>
        <p:spPr>
          <a:xfrm>
            <a:off x="5029200" y="4498777"/>
            <a:ext cx="2247900" cy="1012329"/>
          </a:xfrm>
          <a:prstGeom prst="roundRect">
            <a:avLst>
              <a:gd name="adj" fmla="val 7527"/>
            </a:avLst>
          </a:prstGeom>
          <a:solidFill>
            <a:srgbClr val="FFFFFF"/>
          </a:solidFill>
          <a:ln w="9525">
            <a:solidFill>
              <a:srgbClr val="E2DCCE"/>
            </a:solidFill>
            <a:prstDash val="solid"/>
          </a:ln>
        </p:spPr>
      </p:sp>
      <p:sp>
        <p:nvSpPr>
          <p:cNvPr id="43" name="Text 41"/>
          <p:cNvSpPr/>
          <p:nvPr/>
        </p:nvSpPr>
        <p:spPr>
          <a:xfrm>
            <a:off x="5172075" y="4622602"/>
            <a:ext cx="215836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8A8676"/>
                </a:solidFill>
                <a:latin typeface="Arial" pitchFamily="34" charset="0"/>
                <a:ea typeface="Arial" pitchFamily="34" charset="-122"/>
                <a:cs typeface="Arial" pitchFamily="34" charset="-120"/>
              </a:rPr>
              <a:t>INDEPENDENCE</a:t>
            </a:r>
            <a:endParaRPr lang="en-US" sz="675" dirty="0"/>
          </a:p>
        </p:txBody>
      </p:sp>
      <p:sp>
        <p:nvSpPr>
          <p:cNvPr id="44" name="Text 42"/>
          <p:cNvSpPr/>
          <p:nvPr/>
        </p:nvSpPr>
        <p:spPr>
          <a:xfrm>
            <a:off x="5172075" y="4779764"/>
            <a:ext cx="2038350" cy="645616"/>
          </a:xfrm>
          <a:prstGeom prst="rect">
            <a:avLst/>
          </a:prstGeom>
          <a:noFill/>
          <a:ln/>
        </p:spPr>
        <p:txBody>
          <a:bodyPr wrap="square" lIns="25400" tIns="25400" rIns="25400" bIns="25400" rtlCol="0" anchor="t">
            <a:normAutofit/>
          </a:bodyPr>
          <a:lstStyle/>
          <a:p>
            <a:pPr algn="l" indent="0" marL="0">
              <a:lnSpc>
                <a:spcPct val="122692"/>
              </a:lnSpc>
              <a:buNone/>
            </a:pPr>
            <a:r>
              <a:rPr lang="en-US" sz="825" dirty="0">
                <a:solidFill>
                  <a:srgbClr val="3C4757"/>
                </a:solidFill>
                <a:latin typeface="Arial" pitchFamily="34" charset="0"/>
                <a:ea typeface="Arial" pitchFamily="34" charset="-122"/>
                <a:cs typeface="Arial" pitchFamily="34" charset="-120"/>
              </a:rPr>
              <a:t>OXOT prepares; the notified body assesses. We hold no assessment role and make no conformity decision on a file we have prepared.</a:t>
            </a:r>
            <a:endParaRPr lang="en-US" sz="825" dirty="0"/>
          </a:p>
        </p:txBody>
      </p:sp>
      <p:sp>
        <p:nvSpPr>
          <p:cNvPr id="45" name="Text 43"/>
          <p:cNvSpPr/>
          <p:nvPr/>
        </p:nvSpPr>
        <p:spPr>
          <a:xfrm>
            <a:off x="495300" y="5970240"/>
            <a:ext cx="7459980" cy="147638"/>
          </a:xfrm>
          <a:prstGeom prst="rect">
            <a:avLst/>
          </a:prstGeom>
          <a:noFill/>
          <a:ln/>
        </p:spPr>
        <p:txBody>
          <a:bodyPr wrap="square" lIns="25400" tIns="25400" rIns="25400" bIns="25400" rtlCol="0" anchor="t">
            <a:normAutofit/>
          </a:bodyPr>
          <a:lstStyle/>
          <a:p>
            <a:pPr algn="l" indent="0" marL="0">
              <a:buNone/>
            </a:pPr>
            <a:r>
              <a:rPr lang="en-US" sz="750" b="1" spc="165" kern="0" dirty="0">
                <a:solidFill>
                  <a:srgbClr val="14233B"/>
                </a:solidFill>
                <a:latin typeface="Arial" pitchFamily="34" charset="0"/>
                <a:ea typeface="Arial" pitchFamily="34" charset="-122"/>
                <a:cs typeface="Arial" pitchFamily="34" charset="-120"/>
              </a:rPr>
              <a:t>OXOT CONFORMITY · CB HANDOVER VIEW</a:t>
            </a:r>
            <a:endParaRPr lang="en-US" sz="750" dirty="0"/>
          </a:p>
        </p:txBody>
      </p:sp>
      <p:sp>
        <p:nvSpPr>
          <p:cNvPr id="46" name="Shape 44"/>
          <p:cNvSpPr/>
          <p:nvPr/>
        </p:nvSpPr>
        <p:spPr>
          <a:xfrm>
            <a:off x="495300" y="6146453"/>
            <a:ext cx="400050" cy="19050"/>
          </a:xfrm>
          <a:prstGeom prst="rect">
            <a:avLst/>
          </a:prstGeom>
          <a:solidFill>
            <a:srgbClr val="FF7900"/>
          </a:solidFill>
          <a:ln/>
        </p:spPr>
      </p:sp>
      <p:sp>
        <p:nvSpPr>
          <p:cNvPr id="47" name="Shape 45"/>
          <p:cNvSpPr/>
          <p:nvPr/>
        </p:nvSpPr>
        <p:spPr>
          <a:xfrm>
            <a:off x="495300" y="6260753"/>
            <a:ext cx="6781800" cy="3140422"/>
          </a:xfrm>
          <a:prstGeom prst="roundRect">
            <a:avLst>
              <a:gd name="adj" fmla="val 3033"/>
            </a:avLst>
          </a:prstGeom>
          <a:solidFill>
            <a:srgbClr val="FBFAF8"/>
          </a:solidFill>
          <a:ln w="9525">
            <a:solidFill>
              <a:srgbClr val="DFDDD6"/>
            </a:solidFill>
            <a:prstDash val="solid"/>
          </a:ln>
          <a:effectLst>
            <a:outerShdw sx="100000" sy="100000" kx="0" ky="0" algn="bl" rotWithShape="0" blurRad="28575" dist="9525" dir="5400000">
              <a:srgbClr val="14233B">
                <a:alpha val="6000"/>
              </a:srgbClr>
            </a:outerShdw>
          </a:effectLst>
        </p:spPr>
      </p:sp>
      <p:sp>
        <p:nvSpPr>
          <p:cNvPr id="48" name="Shape 46"/>
          <p:cNvSpPr/>
          <p:nvPr/>
        </p:nvSpPr>
        <p:spPr>
          <a:xfrm>
            <a:off x="504825" y="6270278"/>
            <a:ext cx="6762750" cy="280988"/>
          </a:xfrm>
          <a:prstGeom prst="rect">
            <a:avLst/>
          </a:prstGeom>
          <a:solidFill>
            <a:srgbClr val="FFFFFF"/>
          </a:solidFill>
          <a:ln/>
        </p:spPr>
      </p:sp>
      <p:sp>
        <p:nvSpPr>
          <p:cNvPr id="49" name="Shape 47"/>
          <p:cNvSpPr/>
          <p:nvPr/>
        </p:nvSpPr>
        <p:spPr>
          <a:xfrm>
            <a:off x="504825" y="6541740"/>
            <a:ext cx="6762750" cy="9525"/>
          </a:xfrm>
          <a:prstGeom prst="rect">
            <a:avLst/>
          </a:prstGeom>
          <a:solidFill>
            <a:srgbClr val="ECEAE4"/>
          </a:solidFill>
          <a:ln/>
        </p:spPr>
      </p:sp>
      <p:sp>
        <p:nvSpPr>
          <p:cNvPr id="50" name="Text 48"/>
          <p:cNvSpPr/>
          <p:nvPr/>
        </p:nvSpPr>
        <p:spPr>
          <a:xfrm>
            <a:off x="628650" y="6356003"/>
            <a:ext cx="410542" cy="138113"/>
          </a:xfrm>
          <a:prstGeom prst="rect">
            <a:avLst/>
          </a:prstGeom>
          <a:noFill/>
          <a:ln/>
        </p:spPr>
        <p:txBody>
          <a:bodyPr wrap="square" lIns="25400" tIns="25400" rIns="25400" bIns="25400" rtlCol="0" anchor="t">
            <a:normAutofit/>
          </a:bodyPr>
          <a:lstStyle/>
          <a:p>
            <a:pPr algn="l" indent="0" marL="0">
              <a:buNone/>
            </a:pPr>
            <a:r>
              <a:rPr lang="en-US" sz="675" b="1" spc="180" kern="0" dirty="0">
                <a:solidFill>
                  <a:srgbClr val="14233B"/>
                </a:solidFill>
                <a:latin typeface="Arial" pitchFamily="34" charset="0"/>
                <a:ea typeface="Arial" pitchFamily="34" charset="-122"/>
                <a:cs typeface="Arial" pitchFamily="34" charset="-120"/>
              </a:rPr>
              <a:t>OXOT</a:t>
            </a:r>
            <a:endParaRPr lang="en-US" sz="675" dirty="0"/>
          </a:p>
        </p:txBody>
      </p:sp>
      <p:sp>
        <p:nvSpPr>
          <p:cNvPr id="51" name="Shape 49"/>
          <p:cNvSpPr/>
          <p:nvPr/>
        </p:nvSpPr>
        <p:spPr>
          <a:xfrm>
            <a:off x="1029667" y="6363146"/>
            <a:ext cx="9525" cy="85725"/>
          </a:xfrm>
          <a:prstGeom prst="rect">
            <a:avLst/>
          </a:prstGeom>
          <a:solidFill>
            <a:srgbClr val="D8D5CC"/>
          </a:solidFill>
          <a:ln/>
        </p:spPr>
      </p:sp>
      <p:sp>
        <p:nvSpPr>
          <p:cNvPr id="52" name="Text 50"/>
          <p:cNvSpPr/>
          <p:nvPr/>
        </p:nvSpPr>
        <p:spPr>
          <a:xfrm>
            <a:off x="1105867" y="6370290"/>
            <a:ext cx="625748" cy="109537"/>
          </a:xfrm>
          <a:prstGeom prst="rect">
            <a:avLst/>
          </a:prstGeom>
          <a:noFill/>
          <a:ln/>
        </p:spPr>
        <p:txBody>
          <a:bodyPr wrap="square" lIns="25400" tIns="25400" rIns="25400" bIns="25400" rtlCol="0" anchor="t">
            <a:normAutofit/>
          </a:bodyPr>
          <a:lstStyle/>
          <a:p>
            <a:pPr algn="l" indent="0" marL="0">
              <a:buNone/>
            </a:pPr>
            <a:r>
              <a:rPr lang="en-US" sz="488" b="1" spc="105" kern="0" dirty="0">
                <a:solidFill>
                  <a:srgbClr val="8A8676"/>
                </a:solidFill>
                <a:latin typeface="Arial" pitchFamily="34" charset="0"/>
                <a:ea typeface="Arial" pitchFamily="34" charset="-122"/>
                <a:cs typeface="Arial" pitchFamily="34" charset="-120"/>
              </a:rPr>
              <a:t>CONFORMITY</a:t>
            </a:r>
            <a:endParaRPr lang="en-US" sz="488" dirty="0"/>
          </a:p>
        </p:txBody>
      </p:sp>
      <p:sp>
        <p:nvSpPr>
          <p:cNvPr id="53" name="Text 51"/>
          <p:cNvSpPr/>
          <p:nvPr/>
        </p:nvSpPr>
        <p:spPr>
          <a:xfrm>
            <a:off x="1807815" y="6367909"/>
            <a:ext cx="341858" cy="114300"/>
          </a:xfrm>
          <a:prstGeom prst="rect">
            <a:avLst/>
          </a:prstGeom>
          <a:noFill/>
          <a:ln/>
        </p:spPr>
        <p:txBody>
          <a:bodyPr wrap="square" lIns="25400" tIns="25400" rIns="25400" bIns="25400" rtlCol="0" anchor="t">
            <a:normAutofit/>
          </a:bodyPr>
          <a:lstStyle/>
          <a:p>
            <a:pPr algn="l" indent="0" marL="0">
              <a:buNone/>
            </a:pPr>
            <a:r>
              <a:rPr lang="en-US" sz="563" dirty="0">
                <a:solidFill>
                  <a:srgbClr val="5A6473"/>
                </a:solidFill>
                <a:latin typeface="Arial" pitchFamily="34" charset="0"/>
                <a:ea typeface="Arial" pitchFamily="34" charset="-122"/>
                <a:cs typeface="Arial" pitchFamily="34" charset="-120"/>
              </a:rPr>
              <a:t>Portfolio</a:t>
            </a:r>
            <a:endParaRPr lang="en-US" sz="563" dirty="0"/>
          </a:p>
        </p:txBody>
      </p:sp>
      <p:sp>
        <p:nvSpPr>
          <p:cNvPr id="54" name="Shape 52"/>
          <p:cNvSpPr/>
          <p:nvPr/>
        </p:nvSpPr>
        <p:spPr>
          <a:xfrm>
            <a:off x="2178248" y="6456015"/>
            <a:ext cx="281955" cy="9525"/>
          </a:xfrm>
          <a:prstGeom prst="rect">
            <a:avLst/>
          </a:prstGeom>
          <a:solidFill>
            <a:srgbClr val="FF7900"/>
          </a:solidFill>
          <a:ln/>
        </p:spPr>
      </p:sp>
      <p:sp>
        <p:nvSpPr>
          <p:cNvPr id="55" name="Text 53"/>
          <p:cNvSpPr/>
          <p:nvPr/>
        </p:nvSpPr>
        <p:spPr>
          <a:xfrm>
            <a:off x="2178248" y="6346478"/>
            <a:ext cx="358155" cy="119063"/>
          </a:xfrm>
          <a:prstGeom prst="rect">
            <a:avLst/>
          </a:prstGeom>
          <a:noFill/>
          <a:ln/>
        </p:spPr>
        <p:txBody>
          <a:bodyPr wrap="square" lIns="25400" tIns="25400" rIns="25400" bIns="25400" rtlCol="0" anchor="t">
            <a:normAutofit/>
          </a:bodyPr>
          <a:lstStyle/>
          <a:p>
            <a:pPr algn="l" indent="0" marL="0">
              <a:buNone/>
            </a:pPr>
            <a:r>
              <a:rPr lang="en-US" sz="563" b="1" dirty="0">
                <a:solidFill>
                  <a:srgbClr val="FF7900"/>
                </a:solidFill>
                <a:latin typeface="Arial" pitchFamily="34" charset="0"/>
                <a:ea typeface="Arial" pitchFamily="34" charset="-122"/>
                <a:cs typeface="Arial" pitchFamily="34" charset="-120"/>
              </a:rPr>
              <a:t>Products</a:t>
            </a:r>
            <a:endParaRPr lang="en-US" sz="563" dirty="0"/>
          </a:p>
        </p:txBody>
      </p:sp>
      <p:sp>
        <p:nvSpPr>
          <p:cNvPr id="56" name="Text 54"/>
          <p:cNvSpPr/>
          <p:nvPr/>
        </p:nvSpPr>
        <p:spPr>
          <a:xfrm>
            <a:off x="2564978" y="6367909"/>
            <a:ext cx="284336" cy="114300"/>
          </a:xfrm>
          <a:prstGeom prst="rect">
            <a:avLst/>
          </a:prstGeom>
          <a:noFill/>
          <a:ln/>
        </p:spPr>
        <p:txBody>
          <a:bodyPr wrap="square" lIns="25400" tIns="25400" rIns="25400" bIns="25400" rtlCol="0" anchor="t">
            <a:normAutofit/>
          </a:bodyPr>
          <a:lstStyle/>
          <a:p>
            <a:pPr algn="l" indent="0" marL="0">
              <a:buNone/>
            </a:pPr>
            <a:r>
              <a:rPr lang="en-US" sz="563" dirty="0">
                <a:solidFill>
                  <a:srgbClr val="5A6473"/>
                </a:solidFill>
                <a:latin typeface="Arial" pitchFamily="34" charset="0"/>
                <a:ea typeface="Arial" pitchFamily="34" charset="-122"/>
                <a:cs typeface="Arial" pitchFamily="34" charset="-120"/>
              </a:rPr>
              <a:t>PSIRT</a:t>
            </a:r>
            <a:endParaRPr lang="en-US" sz="563" dirty="0"/>
          </a:p>
        </p:txBody>
      </p:sp>
      <p:sp>
        <p:nvSpPr>
          <p:cNvPr id="57" name="Text 55"/>
          <p:cNvSpPr/>
          <p:nvPr/>
        </p:nvSpPr>
        <p:spPr>
          <a:xfrm>
            <a:off x="2877889" y="6367909"/>
            <a:ext cx="329059" cy="114300"/>
          </a:xfrm>
          <a:prstGeom prst="rect">
            <a:avLst/>
          </a:prstGeom>
          <a:noFill/>
          <a:ln/>
        </p:spPr>
        <p:txBody>
          <a:bodyPr wrap="square" lIns="25400" tIns="25400" rIns="25400" bIns="25400" rtlCol="0" anchor="t">
            <a:normAutofit/>
          </a:bodyPr>
          <a:lstStyle/>
          <a:p>
            <a:pPr algn="l" indent="0" marL="0">
              <a:buNone/>
            </a:pPr>
            <a:r>
              <a:rPr lang="en-US" sz="563" dirty="0">
                <a:solidFill>
                  <a:srgbClr val="5A6473"/>
                </a:solidFill>
                <a:latin typeface="Arial" pitchFamily="34" charset="0"/>
                <a:ea typeface="Arial" pitchFamily="34" charset="-122"/>
                <a:cs typeface="Arial" pitchFamily="34" charset="-120"/>
              </a:rPr>
              <a:t>Reports</a:t>
            </a:r>
            <a:endParaRPr lang="en-US" sz="563" dirty="0"/>
          </a:p>
        </p:txBody>
      </p:sp>
      <p:sp>
        <p:nvSpPr>
          <p:cNvPr id="58" name="Text 56"/>
          <p:cNvSpPr/>
          <p:nvPr/>
        </p:nvSpPr>
        <p:spPr>
          <a:xfrm>
            <a:off x="3235523" y="6367909"/>
            <a:ext cx="253231" cy="114300"/>
          </a:xfrm>
          <a:prstGeom prst="rect">
            <a:avLst/>
          </a:prstGeom>
          <a:noFill/>
          <a:ln/>
        </p:spPr>
        <p:txBody>
          <a:bodyPr wrap="square" lIns="25400" tIns="25400" rIns="25400" bIns="25400" rtlCol="0" anchor="t">
            <a:normAutofit/>
          </a:bodyPr>
          <a:lstStyle/>
          <a:p>
            <a:pPr algn="l" indent="0" marL="0">
              <a:buNone/>
            </a:pPr>
            <a:r>
              <a:rPr lang="en-US" sz="563" dirty="0">
                <a:solidFill>
                  <a:srgbClr val="5A6473"/>
                </a:solidFill>
                <a:latin typeface="Arial" pitchFamily="34" charset="0"/>
                <a:ea typeface="Arial" pitchFamily="34" charset="-122"/>
                <a:cs typeface="Arial" pitchFamily="34" charset="-120"/>
              </a:rPr>
              <a:t>Team</a:t>
            </a:r>
            <a:endParaRPr lang="en-US" sz="563" dirty="0"/>
          </a:p>
        </p:txBody>
      </p:sp>
      <p:sp>
        <p:nvSpPr>
          <p:cNvPr id="59" name="Text 57"/>
          <p:cNvSpPr/>
          <p:nvPr/>
        </p:nvSpPr>
        <p:spPr>
          <a:xfrm>
            <a:off x="6941195" y="6367909"/>
            <a:ext cx="278755" cy="114300"/>
          </a:xfrm>
          <a:prstGeom prst="rect">
            <a:avLst/>
          </a:prstGeom>
          <a:noFill/>
          <a:ln/>
        </p:spPr>
        <p:txBody>
          <a:bodyPr wrap="square" lIns="25400" tIns="25400" rIns="25400" bIns="25400" rtlCol="0" anchor="t">
            <a:normAutofit/>
          </a:bodyPr>
          <a:lstStyle/>
          <a:p>
            <a:pPr algn="l" indent="0" marL="0">
              <a:buNone/>
            </a:pPr>
            <a:r>
              <a:rPr lang="en-US" sz="525" dirty="0">
                <a:solidFill>
                  <a:srgbClr val="8A8676"/>
                </a:solidFill>
                <a:latin typeface="Arial" pitchFamily="34" charset="0"/>
                <a:ea typeface="Arial" pitchFamily="34" charset="-122"/>
                <a:cs typeface="Arial" pitchFamily="34" charset="-120"/>
              </a:rPr>
              <a:t>⌕ ? ◍</a:t>
            </a:r>
            <a:endParaRPr lang="en-US" sz="525" dirty="0"/>
          </a:p>
        </p:txBody>
      </p:sp>
      <p:sp>
        <p:nvSpPr>
          <p:cNvPr id="60" name="Text 58"/>
          <p:cNvSpPr/>
          <p:nvPr/>
        </p:nvSpPr>
        <p:spPr>
          <a:xfrm>
            <a:off x="628650" y="6646515"/>
            <a:ext cx="4186744" cy="209550"/>
          </a:xfrm>
          <a:prstGeom prst="rect">
            <a:avLst/>
          </a:prstGeom>
          <a:noFill/>
          <a:ln/>
        </p:spPr>
        <p:txBody>
          <a:bodyPr wrap="square" lIns="25400" tIns="25400" rIns="25400" bIns="25400" rtlCol="0" anchor="t">
            <a:normAutofit/>
          </a:bodyPr>
          <a:lstStyle/>
          <a:p>
            <a:pPr algn="l" indent="0" marL="0">
              <a:buNone/>
            </a:pPr>
            <a:r>
              <a:rPr lang="en-US" sz="1200" b="1" dirty="0">
                <a:solidFill>
                  <a:srgbClr val="14233B"/>
                </a:solidFill>
                <a:latin typeface="Georgia" pitchFamily="34" charset="0"/>
                <a:ea typeface="Georgia" pitchFamily="34" charset="-122"/>
                <a:cs typeface="Georgia" pitchFamily="34" charset="-120"/>
              </a:rPr>
              <a:t>Notified body handover — NovaGuard Smart Home Hub</a:t>
            </a:r>
            <a:endParaRPr lang="en-US" sz="1200" dirty="0"/>
          </a:p>
        </p:txBody>
      </p:sp>
      <p:sp>
        <p:nvSpPr>
          <p:cNvPr id="61" name="Shape 59"/>
          <p:cNvSpPr/>
          <p:nvPr/>
        </p:nvSpPr>
        <p:spPr>
          <a:xfrm>
            <a:off x="628650" y="6875115"/>
            <a:ext cx="264096" cy="147638"/>
          </a:xfrm>
          <a:prstGeom prst="roundRect">
            <a:avLst>
              <a:gd name="adj" fmla="val 50000"/>
            </a:avLst>
          </a:prstGeom>
          <a:solidFill>
            <a:srgbClr val="FF7900"/>
          </a:solidFill>
          <a:ln/>
        </p:spPr>
      </p:sp>
      <p:sp>
        <p:nvSpPr>
          <p:cNvPr id="62" name="Text 60"/>
          <p:cNvSpPr/>
          <p:nvPr/>
        </p:nvSpPr>
        <p:spPr>
          <a:xfrm>
            <a:off x="695325" y="6903690"/>
            <a:ext cx="206946" cy="128588"/>
          </a:xfrm>
          <a:prstGeom prst="rect">
            <a:avLst/>
          </a:prstGeom>
          <a:noFill/>
          <a:ln/>
        </p:spPr>
        <p:txBody>
          <a:bodyPr wrap="square" lIns="25400" tIns="25400" rIns="25400" bIns="25400" rtlCol="0" anchor="t">
            <a:normAutofit/>
          </a:bodyPr>
          <a:lstStyle/>
          <a:p>
            <a:pPr algn="l" indent="0" marL="0">
              <a:buNone/>
            </a:pPr>
            <a:r>
              <a:rPr lang="en-US" sz="488" b="1" dirty="0">
                <a:solidFill>
                  <a:srgbClr val="FFFFFF"/>
                </a:solidFill>
                <a:latin typeface="Arial" pitchFamily="34" charset="0"/>
                <a:ea typeface="Arial" pitchFamily="34" charset="-122"/>
                <a:cs typeface="Arial" pitchFamily="34" charset="-120"/>
              </a:rPr>
              <a:t>CRA</a:t>
            </a:r>
            <a:endParaRPr lang="en-US" sz="488" dirty="0"/>
          </a:p>
        </p:txBody>
      </p:sp>
      <p:sp>
        <p:nvSpPr>
          <p:cNvPr id="63" name="Shape 61"/>
          <p:cNvSpPr/>
          <p:nvPr/>
        </p:nvSpPr>
        <p:spPr>
          <a:xfrm>
            <a:off x="940371" y="6875115"/>
            <a:ext cx="718542" cy="147638"/>
          </a:xfrm>
          <a:prstGeom prst="roundRect">
            <a:avLst>
              <a:gd name="adj" fmla="val 50000"/>
            </a:avLst>
          </a:prstGeom>
          <a:ln w="9525">
            <a:solidFill>
              <a:srgbClr val="DFDDD6"/>
            </a:solidFill>
            <a:prstDash val="solid"/>
          </a:ln>
        </p:spPr>
      </p:sp>
      <p:sp>
        <p:nvSpPr>
          <p:cNvPr id="64" name="Text 62"/>
          <p:cNvSpPr/>
          <p:nvPr/>
        </p:nvSpPr>
        <p:spPr>
          <a:xfrm>
            <a:off x="1026096" y="6913215"/>
            <a:ext cx="623292" cy="109538"/>
          </a:xfrm>
          <a:prstGeom prst="rect">
            <a:avLst/>
          </a:prstGeom>
          <a:noFill/>
          <a:ln/>
        </p:spPr>
        <p:txBody>
          <a:bodyPr wrap="square" lIns="25400" tIns="25400" rIns="25400" bIns="25400" rtlCol="0" anchor="t">
            <a:normAutofit/>
          </a:bodyPr>
          <a:lstStyle/>
          <a:p>
            <a:pPr algn="l" indent="0" marL="0">
              <a:buNone/>
            </a:pPr>
            <a:r>
              <a:rPr lang="en-US" sz="488" b="1" dirty="0">
                <a:solidFill>
                  <a:srgbClr val="3C4757"/>
                </a:solidFill>
                <a:latin typeface="Arial" pitchFamily="34" charset="0"/>
                <a:ea typeface="Arial" pitchFamily="34" charset="-122"/>
                <a:cs typeface="Arial" pitchFamily="34" charset="-120"/>
              </a:rPr>
              <a:t>Important — Class I</a:t>
            </a:r>
            <a:endParaRPr lang="en-US" sz="488" dirty="0"/>
          </a:p>
        </p:txBody>
      </p:sp>
      <p:sp>
        <p:nvSpPr>
          <p:cNvPr id="65" name="Shape 63"/>
          <p:cNvSpPr/>
          <p:nvPr/>
        </p:nvSpPr>
        <p:spPr>
          <a:xfrm>
            <a:off x="1706538" y="6875115"/>
            <a:ext cx="548283" cy="147638"/>
          </a:xfrm>
          <a:prstGeom prst="roundRect">
            <a:avLst>
              <a:gd name="adj" fmla="val 50000"/>
            </a:avLst>
          </a:prstGeom>
          <a:ln w="9525">
            <a:solidFill>
              <a:srgbClr val="DFDDD6"/>
            </a:solidFill>
            <a:prstDash val="solid"/>
          </a:ln>
        </p:spPr>
      </p:sp>
      <p:sp>
        <p:nvSpPr>
          <p:cNvPr id="66" name="Text 64"/>
          <p:cNvSpPr/>
          <p:nvPr/>
        </p:nvSpPr>
        <p:spPr>
          <a:xfrm>
            <a:off x="1792263" y="6913215"/>
            <a:ext cx="453033" cy="109538"/>
          </a:xfrm>
          <a:prstGeom prst="rect">
            <a:avLst/>
          </a:prstGeom>
          <a:noFill/>
          <a:ln/>
        </p:spPr>
        <p:txBody>
          <a:bodyPr wrap="square" lIns="25400" tIns="25400" rIns="25400" bIns="25400" rtlCol="0" anchor="t">
            <a:normAutofit/>
          </a:bodyPr>
          <a:lstStyle/>
          <a:p>
            <a:pPr algn="l" indent="0" marL="0">
              <a:buNone/>
            </a:pPr>
            <a:r>
              <a:rPr lang="en-US" sz="488" b="1" dirty="0">
                <a:solidFill>
                  <a:srgbClr val="3C4757"/>
                </a:solidFill>
                <a:latin typeface="Arial" pitchFamily="34" charset="0"/>
                <a:ea typeface="Arial" pitchFamily="34" charset="-122"/>
                <a:cs typeface="Arial" pitchFamily="34" charset="-120"/>
              </a:rPr>
              <a:t>Module B + C</a:t>
            </a:r>
            <a:endParaRPr lang="en-US" sz="488" dirty="0"/>
          </a:p>
        </p:txBody>
      </p:sp>
      <p:sp>
        <p:nvSpPr>
          <p:cNvPr id="67" name="Shape 65"/>
          <p:cNvSpPr/>
          <p:nvPr/>
        </p:nvSpPr>
        <p:spPr>
          <a:xfrm>
            <a:off x="2302446" y="6875115"/>
            <a:ext cx="522536" cy="147638"/>
          </a:xfrm>
          <a:prstGeom prst="roundRect">
            <a:avLst>
              <a:gd name="adj" fmla="val 50000"/>
            </a:avLst>
          </a:prstGeom>
          <a:ln w="9525">
            <a:solidFill>
              <a:srgbClr val="A9D9BC"/>
            </a:solidFill>
            <a:prstDash val="solid"/>
          </a:ln>
        </p:spPr>
      </p:sp>
      <p:sp>
        <p:nvSpPr>
          <p:cNvPr id="68" name="Text 66"/>
          <p:cNvSpPr/>
          <p:nvPr/>
        </p:nvSpPr>
        <p:spPr>
          <a:xfrm>
            <a:off x="2388171" y="6913215"/>
            <a:ext cx="427286" cy="109538"/>
          </a:xfrm>
          <a:prstGeom prst="rect">
            <a:avLst/>
          </a:prstGeom>
          <a:noFill/>
          <a:ln/>
        </p:spPr>
        <p:txBody>
          <a:bodyPr wrap="square" lIns="25400" tIns="25400" rIns="25400" bIns="25400" rtlCol="0" anchor="t">
            <a:normAutofit/>
          </a:bodyPr>
          <a:lstStyle/>
          <a:p>
            <a:pPr algn="l" indent="0" marL="0">
              <a:buNone/>
            </a:pPr>
            <a:r>
              <a:rPr lang="en-US" sz="488" b="1" dirty="0">
                <a:solidFill>
                  <a:srgbClr val="1B9E52"/>
                </a:solidFill>
                <a:latin typeface="Arial" pitchFamily="34" charset="0"/>
                <a:ea typeface="Arial" pitchFamily="34" charset="-122"/>
                <a:cs typeface="Arial" pitchFamily="34" charset="-120"/>
              </a:rPr>
              <a:t>Gate passed</a:t>
            </a:r>
            <a:endParaRPr lang="en-US" sz="488" dirty="0"/>
          </a:p>
        </p:txBody>
      </p:sp>
      <p:sp>
        <p:nvSpPr>
          <p:cNvPr id="69" name="Shape 67"/>
          <p:cNvSpPr/>
          <p:nvPr/>
        </p:nvSpPr>
        <p:spPr>
          <a:xfrm>
            <a:off x="5979021" y="6715571"/>
            <a:ext cx="1164729" cy="238125"/>
          </a:xfrm>
          <a:prstGeom prst="roundRect">
            <a:avLst>
              <a:gd name="adj" fmla="val 24000"/>
            </a:avLst>
          </a:prstGeom>
          <a:solidFill>
            <a:srgbClr val="FF7900"/>
          </a:solidFill>
          <a:ln/>
        </p:spPr>
      </p:sp>
      <p:sp>
        <p:nvSpPr>
          <p:cNvPr id="70" name="Text 68"/>
          <p:cNvSpPr/>
          <p:nvPr/>
        </p:nvSpPr>
        <p:spPr>
          <a:xfrm>
            <a:off x="6093321" y="6791771"/>
            <a:ext cx="1012329" cy="123825"/>
          </a:xfrm>
          <a:prstGeom prst="rect">
            <a:avLst/>
          </a:prstGeom>
          <a:noFill/>
          <a:ln/>
        </p:spPr>
        <p:txBody>
          <a:bodyPr wrap="square" lIns="25400" tIns="25400" rIns="25400" bIns="25400" rtlCol="0" anchor="t">
            <a:normAutofit/>
          </a:bodyPr>
          <a:lstStyle/>
          <a:p>
            <a:pPr algn="l" indent="0" marL="0">
              <a:buNone/>
            </a:pPr>
            <a:r>
              <a:rPr lang="en-US" sz="600" b="1" dirty="0">
                <a:solidFill>
                  <a:srgbClr val="FFFFFF"/>
                </a:solidFill>
                <a:latin typeface="Arial" pitchFamily="34" charset="0"/>
                <a:ea typeface="Arial" pitchFamily="34" charset="-122"/>
                <a:cs typeface="Arial" pitchFamily="34" charset="-120"/>
              </a:rPr>
              <a:t>Release packet to bench →</a:t>
            </a:r>
            <a:endParaRPr lang="en-US" sz="600" dirty="0"/>
          </a:p>
        </p:txBody>
      </p:sp>
      <p:sp>
        <p:nvSpPr>
          <p:cNvPr id="71" name="Shape 69"/>
          <p:cNvSpPr/>
          <p:nvPr/>
        </p:nvSpPr>
        <p:spPr>
          <a:xfrm>
            <a:off x="628650" y="7098953"/>
            <a:ext cx="1038225" cy="371475"/>
          </a:xfrm>
          <a:prstGeom prst="roundRect">
            <a:avLst>
              <a:gd name="adj" fmla="val 15385"/>
            </a:avLst>
          </a:prstGeom>
          <a:solidFill>
            <a:srgbClr val="FFFFFF"/>
          </a:solidFill>
          <a:ln w="9525">
            <a:solidFill>
              <a:srgbClr val="E8E5DE"/>
            </a:solidFill>
            <a:prstDash val="solid"/>
          </a:ln>
        </p:spPr>
      </p:sp>
      <p:sp>
        <p:nvSpPr>
          <p:cNvPr id="72" name="Text 70"/>
          <p:cNvSpPr/>
          <p:nvPr/>
        </p:nvSpPr>
        <p:spPr>
          <a:xfrm>
            <a:off x="723900" y="7175153"/>
            <a:ext cx="923925" cy="171450"/>
          </a:xfrm>
          <a:prstGeom prst="rect">
            <a:avLst/>
          </a:prstGeom>
          <a:noFill/>
          <a:ln/>
        </p:spPr>
        <p:txBody>
          <a:bodyPr wrap="square" lIns="25400" tIns="25400" rIns="25400" bIns="25400" rtlCol="0" anchor="t">
            <a:normAutofit/>
          </a:bodyPr>
          <a:lstStyle/>
          <a:p>
            <a:pPr algn="l" indent="0" marL="0">
              <a:lnSpc>
                <a:spcPct val="87500"/>
              </a:lnSpc>
              <a:buNone/>
            </a:pPr>
            <a:r>
              <a:rPr lang="en-US" sz="1050" b="1" dirty="0">
                <a:solidFill>
                  <a:srgbClr val="14233B"/>
                </a:solidFill>
                <a:latin typeface="Arial" pitchFamily="34" charset="0"/>
                <a:ea typeface="Arial" pitchFamily="34" charset="-122"/>
                <a:cs typeface="Arial" pitchFamily="34" charset="-120"/>
              </a:rPr>
              <a:t>30</a:t>
            </a:r>
            <a:endParaRPr lang="en-US" sz="1050" dirty="0"/>
          </a:p>
        </p:txBody>
      </p:sp>
      <p:sp>
        <p:nvSpPr>
          <p:cNvPr id="73" name="Text 71"/>
          <p:cNvSpPr/>
          <p:nvPr/>
        </p:nvSpPr>
        <p:spPr>
          <a:xfrm>
            <a:off x="723900" y="7337078"/>
            <a:ext cx="923925" cy="95250"/>
          </a:xfrm>
          <a:prstGeom prst="rect">
            <a:avLst/>
          </a:prstGeom>
          <a:noFill/>
          <a:ln/>
        </p:spPr>
        <p:txBody>
          <a:bodyPr wrap="square" lIns="25400" tIns="25400" rIns="25400" bIns="25400" rtlCol="0" anchor="t">
            <a:normAutofit/>
          </a:bodyPr>
          <a:lstStyle/>
          <a:p>
            <a:pPr algn="l" indent="0" marL="0">
              <a:buNone/>
            </a:pPr>
            <a:r>
              <a:rPr lang="en-US" sz="413" spc="52" kern="0" dirty="0">
                <a:solidFill>
                  <a:srgbClr val="8A8676"/>
                </a:solidFill>
                <a:latin typeface="Arial" pitchFamily="34" charset="0"/>
                <a:ea typeface="Arial" pitchFamily="34" charset="-122"/>
                <a:cs typeface="Arial" pitchFamily="34" charset="-120"/>
              </a:rPr>
              <a:t>REQUIREMENTS</a:t>
            </a:r>
            <a:endParaRPr lang="en-US" sz="413" dirty="0"/>
          </a:p>
        </p:txBody>
      </p:sp>
      <p:sp>
        <p:nvSpPr>
          <p:cNvPr id="74" name="Shape 72"/>
          <p:cNvSpPr/>
          <p:nvPr/>
        </p:nvSpPr>
        <p:spPr>
          <a:xfrm>
            <a:off x="1724025" y="7098953"/>
            <a:ext cx="1038225" cy="371475"/>
          </a:xfrm>
          <a:prstGeom prst="roundRect">
            <a:avLst>
              <a:gd name="adj" fmla="val 15385"/>
            </a:avLst>
          </a:prstGeom>
          <a:solidFill>
            <a:srgbClr val="FFFFFF"/>
          </a:solidFill>
          <a:ln w="9525">
            <a:solidFill>
              <a:srgbClr val="E8E5DE"/>
            </a:solidFill>
            <a:prstDash val="solid"/>
          </a:ln>
        </p:spPr>
      </p:sp>
      <p:sp>
        <p:nvSpPr>
          <p:cNvPr id="75" name="Text 73"/>
          <p:cNvSpPr/>
          <p:nvPr/>
        </p:nvSpPr>
        <p:spPr>
          <a:xfrm>
            <a:off x="1819275" y="7175153"/>
            <a:ext cx="923925" cy="171450"/>
          </a:xfrm>
          <a:prstGeom prst="rect">
            <a:avLst/>
          </a:prstGeom>
          <a:noFill/>
          <a:ln/>
        </p:spPr>
        <p:txBody>
          <a:bodyPr wrap="square" lIns="25400" tIns="25400" rIns="25400" bIns="25400" rtlCol="0" anchor="t">
            <a:normAutofit/>
          </a:bodyPr>
          <a:lstStyle/>
          <a:p>
            <a:pPr algn="l" indent="0" marL="0">
              <a:lnSpc>
                <a:spcPct val="87500"/>
              </a:lnSpc>
              <a:buNone/>
            </a:pPr>
            <a:r>
              <a:rPr lang="en-US" sz="1050" b="1" dirty="0">
                <a:solidFill>
                  <a:srgbClr val="1B9E52"/>
                </a:solidFill>
                <a:latin typeface="Arial" pitchFamily="34" charset="0"/>
                <a:ea typeface="Arial" pitchFamily="34" charset="-122"/>
                <a:cs typeface="Arial" pitchFamily="34" charset="-120"/>
              </a:rPr>
              <a:t>30</a:t>
            </a:r>
            <a:endParaRPr lang="en-US" sz="1050" dirty="0"/>
          </a:p>
        </p:txBody>
      </p:sp>
      <p:sp>
        <p:nvSpPr>
          <p:cNvPr id="76" name="Text 74"/>
          <p:cNvSpPr/>
          <p:nvPr/>
        </p:nvSpPr>
        <p:spPr>
          <a:xfrm>
            <a:off x="1819275" y="7337078"/>
            <a:ext cx="923925" cy="95250"/>
          </a:xfrm>
          <a:prstGeom prst="rect">
            <a:avLst/>
          </a:prstGeom>
          <a:noFill/>
          <a:ln/>
        </p:spPr>
        <p:txBody>
          <a:bodyPr wrap="square" lIns="25400" tIns="25400" rIns="25400" bIns="25400" rtlCol="0" anchor="t">
            <a:normAutofit/>
          </a:bodyPr>
          <a:lstStyle/>
          <a:p>
            <a:pPr algn="l" indent="0" marL="0">
              <a:buNone/>
            </a:pPr>
            <a:r>
              <a:rPr lang="en-US" sz="413" spc="52" kern="0" dirty="0">
                <a:solidFill>
                  <a:srgbClr val="8A8676"/>
                </a:solidFill>
                <a:latin typeface="Arial" pitchFamily="34" charset="0"/>
                <a:ea typeface="Arial" pitchFamily="34" charset="-122"/>
                <a:cs typeface="Arial" pitchFamily="34" charset="-120"/>
              </a:rPr>
              <a:t>MET</a:t>
            </a:r>
            <a:endParaRPr lang="en-US" sz="413" dirty="0"/>
          </a:p>
        </p:txBody>
      </p:sp>
      <p:sp>
        <p:nvSpPr>
          <p:cNvPr id="77" name="Shape 75"/>
          <p:cNvSpPr/>
          <p:nvPr/>
        </p:nvSpPr>
        <p:spPr>
          <a:xfrm>
            <a:off x="2819400" y="7098953"/>
            <a:ext cx="1038225" cy="371475"/>
          </a:xfrm>
          <a:prstGeom prst="roundRect">
            <a:avLst>
              <a:gd name="adj" fmla="val 15385"/>
            </a:avLst>
          </a:prstGeom>
          <a:solidFill>
            <a:srgbClr val="FFFFFF"/>
          </a:solidFill>
          <a:ln w="9525">
            <a:solidFill>
              <a:srgbClr val="E8E5DE"/>
            </a:solidFill>
            <a:prstDash val="solid"/>
          </a:ln>
        </p:spPr>
      </p:sp>
      <p:sp>
        <p:nvSpPr>
          <p:cNvPr id="78" name="Text 76"/>
          <p:cNvSpPr/>
          <p:nvPr/>
        </p:nvSpPr>
        <p:spPr>
          <a:xfrm>
            <a:off x="2914650" y="7175153"/>
            <a:ext cx="923925" cy="171450"/>
          </a:xfrm>
          <a:prstGeom prst="rect">
            <a:avLst/>
          </a:prstGeom>
          <a:noFill/>
          <a:ln/>
        </p:spPr>
        <p:txBody>
          <a:bodyPr wrap="square" lIns="25400" tIns="25400" rIns="25400" bIns="25400" rtlCol="0" anchor="t">
            <a:normAutofit/>
          </a:bodyPr>
          <a:lstStyle/>
          <a:p>
            <a:pPr algn="l" indent="0" marL="0">
              <a:lnSpc>
                <a:spcPct val="87500"/>
              </a:lnSpc>
              <a:buNone/>
            </a:pPr>
            <a:r>
              <a:rPr lang="en-US" sz="1050" b="1" dirty="0">
                <a:solidFill>
                  <a:srgbClr val="1B9E52"/>
                </a:solidFill>
                <a:latin typeface="Arial" pitchFamily="34" charset="0"/>
                <a:ea typeface="Arial" pitchFamily="34" charset="-122"/>
                <a:cs typeface="Arial" pitchFamily="34" charset="-120"/>
              </a:rPr>
              <a:t>0</a:t>
            </a:r>
            <a:endParaRPr lang="en-US" sz="1050" dirty="0"/>
          </a:p>
        </p:txBody>
      </p:sp>
      <p:sp>
        <p:nvSpPr>
          <p:cNvPr id="79" name="Text 77"/>
          <p:cNvSpPr/>
          <p:nvPr/>
        </p:nvSpPr>
        <p:spPr>
          <a:xfrm>
            <a:off x="2914650" y="7337078"/>
            <a:ext cx="923925" cy="95250"/>
          </a:xfrm>
          <a:prstGeom prst="rect">
            <a:avLst/>
          </a:prstGeom>
          <a:noFill/>
          <a:ln/>
        </p:spPr>
        <p:txBody>
          <a:bodyPr wrap="square" lIns="25400" tIns="25400" rIns="25400" bIns="25400" rtlCol="0" anchor="t">
            <a:normAutofit/>
          </a:bodyPr>
          <a:lstStyle/>
          <a:p>
            <a:pPr algn="l" indent="0" marL="0">
              <a:buNone/>
            </a:pPr>
            <a:r>
              <a:rPr lang="en-US" sz="413" spc="52" kern="0" dirty="0">
                <a:solidFill>
                  <a:srgbClr val="8A8676"/>
                </a:solidFill>
                <a:latin typeface="Arial" pitchFamily="34" charset="0"/>
                <a:ea typeface="Arial" pitchFamily="34" charset="-122"/>
                <a:cs typeface="Arial" pitchFamily="34" charset="-120"/>
              </a:rPr>
              <a:t>BLOCKERS</a:t>
            </a:r>
            <a:endParaRPr lang="en-US" sz="413" dirty="0"/>
          </a:p>
        </p:txBody>
      </p:sp>
      <p:sp>
        <p:nvSpPr>
          <p:cNvPr id="80" name="Shape 78"/>
          <p:cNvSpPr/>
          <p:nvPr/>
        </p:nvSpPr>
        <p:spPr>
          <a:xfrm>
            <a:off x="3914775" y="7098953"/>
            <a:ext cx="1038225" cy="371475"/>
          </a:xfrm>
          <a:prstGeom prst="roundRect">
            <a:avLst>
              <a:gd name="adj" fmla="val 15385"/>
            </a:avLst>
          </a:prstGeom>
          <a:solidFill>
            <a:srgbClr val="FFFFFF"/>
          </a:solidFill>
          <a:ln w="9525">
            <a:solidFill>
              <a:srgbClr val="E8E5DE"/>
            </a:solidFill>
            <a:prstDash val="solid"/>
          </a:ln>
        </p:spPr>
      </p:sp>
      <p:sp>
        <p:nvSpPr>
          <p:cNvPr id="81" name="Text 79"/>
          <p:cNvSpPr/>
          <p:nvPr/>
        </p:nvSpPr>
        <p:spPr>
          <a:xfrm>
            <a:off x="4010025" y="7175153"/>
            <a:ext cx="923925" cy="171450"/>
          </a:xfrm>
          <a:prstGeom prst="rect">
            <a:avLst/>
          </a:prstGeom>
          <a:noFill/>
          <a:ln/>
        </p:spPr>
        <p:txBody>
          <a:bodyPr wrap="square" lIns="25400" tIns="25400" rIns="25400" bIns="25400" rtlCol="0" anchor="t">
            <a:normAutofit/>
          </a:bodyPr>
          <a:lstStyle/>
          <a:p>
            <a:pPr algn="l" indent="0" marL="0">
              <a:lnSpc>
                <a:spcPct val="87500"/>
              </a:lnSpc>
              <a:buNone/>
            </a:pPr>
            <a:r>
              <a:rPr lang="en-US" sz="1050" b="1" dirty="0">
                <a:solidFill>
                  <a:srgbClr val="14233B"/>
                </a:solidFill>
                <a:latin typeface="Arial" pitchFamily="34" charset="0"/>
                <a:ea typeface="Arial" pitchFamily="34" charset="-122"/>
                <a:cs typeface="Arial" pitchFamily="34" charset="-120"/>
              </a:rPr>
              <a:t>100%</a:t>
            </a:r>
            <a:endParaRPr lang="en-US" sz="1050" dirty="0"/>
          </a:p>
        </p:txBody>
      </p:sp>
      <p:sp>
        <p:nvSpPr>
          <p:cNvPr id="82" name="Text 80"/>
          <p:cNvSpPr/>
          <p:nvPr/>
        </p:nvSpPr>
        <p:spPr>
          <a:xfrm>
            <a:off x="4010025" y="7337078"/>
            <a:ext cx="923925" cy="95250"/>
          </a:xfrm>
          <a:prstGeom prst="rect">
            <a:avLst/>
          </a:prstGeom>
          <a:noFill/>
          <a:ln/>
        </p:spPr>
        <p:txBody>
          <a:bodyPr wrap="square" lIns="25400" tIns="25400" rIns="25400" bIns="25400" rtlCol="0" anchor="t">
            <a:normAutofit/>
          </a:bodyPr>
          <a:lstStyle/>
          <a:p>
            <a:pPr algn="l" indent="0" marL="0">
              <a:buNone/>
            </a:pPr>
            <a:r>
              <a:rPr lang="en-US" sz="413" spc="52" kern="0" dirty="0">
                <a:solidFill>
                  <a:srgbClr val="8A8676"/>
                </a:solidFill>
                <a:latin typeface="Arial" pitchFamily="34" charset="0"/>
                <a:ea typeface="Arial" pitchFamily="34" charset="-122"/>
                <a:cs typeface="Arial" pitchFamily="34" charset="-120"/>
              </a:rPr>
              <a:t>EVIDENCE</a:t>
            </a:r>
            <a:endParaRPr lang="en-US" sz="413" dirty="0"/>
          </a:p>
        </p:txBody>
      </p:sp>
      <p:sp>
        <p:nvSpPr>
          <p:cNvPr id="83" name="Shape 81"/>
          <p:cNvSpPr/>
          <p:nvPr/>
        </p:nvSpPr>
        <p:spPr>
          <a:xfrm>
            <a:off x="5010150" y="7098953"/>
            <a:ext cx="1038225" cy="371475"/>
          </a:xfrm>
          <a:prstGeom prst="roundRect">
            <a:avLst>
              <a:gd name="adj" fmla="val 15385"/>
            </a:avLst>
          </a:prstGeom>
          <a:solidFill>
            <a:srgbClr val="FFFFFF"/>
          </a:solidFill>
          <a:ln w="9525">
            <a:solidFill>
              <a:srgbClr val="E8E5DE"/>
            </a:solidFill>
            <a:prstDash val="solid"/>
          </a:ln>
        </p:spPr>
      </p:sp>
      <p:sp>
        <p:nvSpPr>
          <p:cNvPr id="84" name="Text 82"/>
          <p:cNvSpPr/>
          <p:nvPr/>
        </p:nvSpPr>
        <p:spPr>
          <a:xfrm>
            <a:off x="5105400" y="7175153"/>
            <a:ext cx="923925" cy="171450"/>
          </a:xfrm>
          <a:prstGeom prst="rect">
            <a:avLst/>
          </a:prstGeom>
          <a:noFill/>
          <a:ln/>
        </p:spPr>
        <p:txBody>
          <a:bodyPr wrap="square" lIns="25400" tIns="25400" rIns="25400" bIns="25400" rtlCol="0" anchor="t">
            <a:normAutofit/>
          </a:bodyPr>
          <a:lstStyle/>
          <a:p>
            <a:pPr algn="l" indent="0" marL="0">
              <a:lnSpc>
                <a:spcPct val="87500"/>
              </a:lnSpc>
              <a:buNone/>
            </a:pPr>
            <a:r>
              <a:rPr lang="en-US" sz="1050" b="1" dirty="0">
                <a:solidFill>
                  <a:srgbClr val="14233B"/>
                </a:solidFill>
                <a:latin typeface="Arial" pitchFamily="34" charset="0"/>
                <a:ea typeface="Arial" pitchFamily="34" charset="-122"/>
                <a:cs typeface="Arial" pitchFamily="34" charset="-120"/>
              </a:rPr>
              <a:t>412</a:t>
            </a:r>
            <a:endParaRPr lang="en-US" sz="1050" dirty="0"/>
          </a:p>
        </p:txBody>
      </p:sp>
      <p:sp>
        <p:nvSpPr>
          <p:cNvPr id="85" name="Text 83"/>
          <p:cNvSpPr/>
          <p:nvPr/>
        </p:nvSpPr>
        <p:spPr>
          <a:xfrm>
            <a:off x="5105400" y="7337078"/>
            <a:ext cx="923925" cy="95250"/>
          </a:xfrm>
          <a:prstGeom prst="rect">
            <a:avLst/>
          </a:prstGeom>
          <a:noFill/>
          <a:ln/>
        </p:spPr>
        <p:txBody>
          <a:bodyPr wrap="square" lIns="25400" tIns="25400" rIns="25400" bIns="25400" rtlCol="0" anchor="t">
            <a:normAutofit/>
          </a:bodyPr>
          <a:lstStyle/>
          <a:p>
            <a:pPr algn="l" indent="0" marL="0">
              <a:buNone/>
            </a:pPr>
            <a:r>
              <a:rPr lang="en-US" sz="413" spc="52" kern="0" dirty="0">
                <a:solidFill>
                  <a:srgbClr val="8A8676"/>
                </a:solidFill>
                <a:latin typeface="Arial" pitchFamily="34" charset="0"/>
                <a:ea typeface="Arial" pitchFamily="34" charset="-122"/>
                <a:cs typeface="Arial" pitchFamily="34" charset="-120"/>
              </a:rPr>
              <a:t>BOM COMPONENTS</a:t>
            </a:r>
            <a:endParaRPr lang="en-US" sz="413" dirty="0"/>
          </a:p>
        </p:txBody>
      </p:sp>
      <p:sp>
        <p:nvSpPr>
          <p:cNvPr id="86" name="Shape 84"/>
          <p:cNvSpPr/>
          <p:nvPr/>
        </p:nvSpPr>
        <p:spPr>
          <a:xfrm>
            <a:off x="6105525" y="7098953"/>
            <a:ext cx="1038225" cy="371475"/>
          </a:xfrm>
          <a:prstGeom prst="roundRect">
            <a:avLst>
              <a:gd name="adj" fmla="val 15385"/>
            </a:avLst>
          </a:prstGeom>
          <a:solidFill>
            <a:srgbClr val="FFFFFF"/>
          </a:solidFill>
          <a:ln w="9525">
            <a:solidFill>
              <a:srgbClr val="E8E5DE"/>
            </a:solidFill>
            <a:prstDash val="solid"/>
          </a:ln>
        </p:spPr>
      </p:sp>
      <p:sp>
        <p:nvSpPr>
          <p:cNvPr id="87" name="Text 85"/>
          <p:cNvSpPr/>
          <p:nvPr/>
        </p:nvSpPr>
        <p:spPr>
          <a:xfrm>
            <a:off x="6200775" y="7175153"/>
            <a:ext cx="923925" cy="171450"/>
          </a:xfrm>
          <a:prstGeom prst="rect">
            <a:avLst/>
          </a:prstGeom>
          <a:noFill/>
          <a:ln/>
        </p:spPr>
        <p:txBody>
          <a:bodyPr wrap="square" lIns="25400" tIns="25400" rIns="25400" bIns="25400" rtlCol="0" anchor="t">
            <a:normAutofit/>
          </a:bodyPr>
          <a:lstStyle/>
          <a:p>
            <a:pPr algn="l" indent="0" marL="0">
              <a:lnSpc>
                <a:spcPct val="87500"/>
              </a:lnSpc>
              <a:buNone/>
            </a:pPr>
            <a:r>
              <a:rPr lang="en-US" sz="1050" b="1" dirty="0">
                <a:solidFill>
                  <a:srgbClr val="14233B"/>
                </a:solidFill>
                <a:latin typeface="Arial" pitchFamily="34" charset="0"/>
                <a:ea typeface="Arial" pitchFamily="34" charset="-122"/>
                <a:cs typeface="Arial" pitchFamily="34" charset="-120"/>
              </a:rPr>
              <a:t>A</a:t>
            </a:r>
            <a:endParaRPr lang="en-US" sz="1050" dirty="0"/>
          </a:p>
        </p:txBody>
      </p:sp>
      <p:sp>
        <p:nvSpPr>
          <p:cNvPr id="88" name="Text 86"/>
          <p:cNvSpPr/>
          <p:nvPr/>
        </p:nvSpPr>
        <p:spPr>
          <a:xfrm>
            <a:off x="6200775" y="7337078"/>
            <a:ext cx="923925" cy="95250"/>
          </a:xfrm>
          <a:prstGeom prst="rect">
            <a:avLst/>
          </a:prstGeom>
          <a:noFill/>
          <a:ln/>
        </p:spPr>
        <p:txBody>
          <a:bodyPr wrap="square" lIns="25400" tIns="25400" rIns="25400" bIns="25400" rtlCol="0" anchor="t">
            <a:normAutofit/>
          </a:bodyPr>
          <a:lstStyle/>
          <a:p>
            <a:pPr algn="l" indent="0" marL="0">
              <a:buNone/>
            </a:pPr>
            <a:r>
              <a:rPr lang="en-US" sz="413" spc="52" kern="0" dirty="0">
                <a:solidFill>
                  <a:srgbClr val="8A8676"/>
                </a:solidFill>
                <a:latin typeface="Arial" pitchFamily="34" charset="0"/>
                <a:ea typeface="Arial" pitchFamily="34" charset="-122"/>
                <a:cs typeface="Arial" pitchFamily="34" charset="-120"/>
              </a:rPr>
              <a:t>READINESS GRADE</a:t>
            </a:r>
            <a:endParaRPr lang="en-US" sz="413" dirty="0"/>
          </a:p>
        </p:txBody>
      </p:sp>
      <p:sp>
        <p:nvSpPr>
          <p:cNvPr id="89" name="Shape 87"/>
          <p:cNvSpPr/>
          <p:nvPr/>
        </p:nvSpPr>
        <p:spPr>
          <a:xfrm>
            <a:off x="628650" y="7546628"/>
            <a:ext cx="6515100" cy="1749772"/>
          </a:xfrm>
          <a:prstGeom prst="roundRect">
            <a:avLst>
              <a:gd name="adj" fmla="val 4355"/>
            </a:avLst>
          </a:prstGeom>
          <a:solidFill>
            <a:srgbClr val="FFFFFF"/>
          </a:solidFill>
          <a:ln w="9525">
            <a:solidFill>
              <a:srgbClr val="E8E5DE"/>
            </a:solidFill>
            <a:prstDash val="solid"/>
          </a:ln>
        </p:spPr>
      </p:sp>
      <p:sp>
        <p:nvSpPr>
          <p:cNvPr id="90" name="Shape 88"/>
          <p:cNvSpPr/>
          <p:nvPr/>
        </p:nvSpPr>
        <p:spPr>
          <a:xfrm>
            <a:off x="638175" y="7827615"/>
            <a:ext cx="6496050" cy="9525"/>
          </a:xfrm>
          <a:prstGeom prst="rect">
            <a:avLst/>
          </a:prstGeom>
          <a:solidFill>
            <a:srgbClr val="F0EEE8"/>
          </a:solidFill>
          <a:ln/>
        </p:spPr>
      </p:sp>
      <p:sp>
        <p:nvSpPr>
          <p:cNvPr id="91" name="Text 89"/>
          <p:cNvSpPr/>
          <p:nvPr/>
        </p:nvSpPr>
        <p:spPr>
          <a:xfrm>
            <a:off x="752475" y="7632353"/>
            <a:ext cx="812602" cy="157163"/>
          </a:xfrm>
          <a:prstGeom prst="rect">
            <a:avLst/>
          </a:prstGeom>
          <a:noFill/>
          <a:ln/>
        </p:spPr>
        <p:txBody>
          <a:bodyPr wrap="square" lIns="25400" tIns="25400" rIns="25400" bIns="25400" rtlCol="0" anchor="t">
            <a:normAutofit/>
          </a:bodyPr>
          <a:lstStyle/>
          <a:p>
            <a:pPr algn="l" indent="0" marL="0">
              <a:buNone/>
            </a:pPr>
            <a:r>
              <a:rPr lang="en-US" sz="825" b="1" dirty="0">
                <a:solidFill>
                  <a:srgbClr val="14233B"/>
                </a:solidFill>
                <a:latin typeface="Georgia" pitchFamily="34" charset="0"/>
                <a:ea typeface="Georgia" pitchFamily="34" charset="-122"/>
                <a:cs typeface="Georgia" pitchFamily="34" charset="-120"/>
              </a:rPr>
              <a:t>Packet manifest</a:t>
            </a:r>
            <a:endParaRPr lang="en-US" sz="825" dirty="0"/>
          </a:p>
        </p:txBody>
      </p:sp>
      <p:sp>
        <p:nvSpPr>
          <p:cNvPr id="92" name="Shape 90"/>
          <p:cNvSpPr/>
          <p:nvPr/>
        </p:nvSpPr>
        <p:spPr>
          <a:xfrm>
            <a:off x="1565077" y="7639496"/>
            <a:ext cx="555799" cy="104775"/>
          </a:xfrm>
          <a:prstGeom prst="roundRect">
            <a:avLst>
              <a:gd name="adj" fmla="val 50000"/>
            </a:avLst>
          </a:prstGeom>
          <a:solidFill>
            <a:srgbClr val="E4F5EB"/>
          </a:solidFill>
          <a:ln/>
        </p:spPr>
      </p:sp>
      <p:sp>
        <p:nvSpPr>
          <p:cNvPr id="93" name="Text 91"/>
          <p:cNvSpPr/>
          <p:nvPr/>
        </p:nvSpPr>
        <p:spPr>
          <a:xfrm>
            <a:off x="1622227" y="7658546"/>
            <a:ext cx="517699" cy="104775"/>
          </a:xfrm>
          <a:prstGeom prst="rect">
            <a:avLst/>
          </a:prstGeom>
          <a:noFill/>
          <a:ln/>
        </p:spPr>
        <p:txBody>
          <a:bodyPr wrap="square" lIns="25400" tIns="25400" rIns="25400" bIns="25400" rtlCol="0" anchor="t">
            <a:normAutofit/>
          </a:bodyPr>
          <a:lstStyle/>
          <a:p>
            <a:pPr algn="l" indent="0" marL="0">
              <a:buNone/>
            </a:pPr>
            <a:r>
              <a:rPr lang="en-US" sz="450" b="1" dirty="0">
                <a:solidFill>
                  <a:srgbClr val="1B9E52"/>
                </a:solidFill>
                <a:latin typeface="Arial" pitchFamily="34" charset="0"/>
                <a:ea typeface="Arial" pitchFamily="34" charset="-122"/>
                <a:cs typeface="Arial" pitchFamily="34" charset="-120"/>
              </a:rPr>
              <a:t>6 / 6 COMPLETE</a:t>
            </a:r>
            <a:endParaRPr lang="en-US" sz="450" dirty="0"/>
          </a:p>
        </p:txBody>
      </p:sp>
      <p:sp>
        <p:nvSpPr>
          <p:cNvPr id="94" name="Text 92"/>
          <p:cNvSpPr/>
          <p:nvPr/>
        </p:nvSpPr>
        <p:spPr>
          <a:xfrm>
            <a:off x="6265515" y="7653784"/>
            <a:ext cx="830610" cy="114300"/>
          </a:xfrm>
          <a:prstGeom prst="rect">
            <a:avLst/>
          </a:prstGeom>
          <a:noFill/>
          <a:ln/>
        </p:spPr>
        <p:txBody>
          <a:bodyPr wrap="square" lIns="25400" tIns="25400" rIns="25400" bIns="25400" rtlCol="0" anchor="t">
            <a:normAutofit/>
          </a:bodyPr>
          <a:lstStyle/>
          <a:p>
            <a:pPr algn="l" indent="0" marL="0">
              <a:buNone/>
            </a:pPr>
            <a:r>
              <a:rPr lang="en-US" sz="450" dirty="0">
                <a:solidFill>
                  <a:srgbClr val="8A8676"/>
                </a:solidFill>
                <a:latin typeface="Consolas" pitchFamily="34" charset="0"/>
                <a:ea typeface="Consolas" pitchFamily="34" charset="-122"/>
                <a:cs typeface="Consolas" pitchFamily="34" charset="-120"/>
              </a:rPr>
              <a:t>SEAL 9f2a41c7be03d514…</a:t>
            </a:r>
            <a:endParaRPr lang="en-US" sz="450" dirty="0"/>
          </a:p>
        </p:txBody>
      </p:sp>
      <p:sp>
        <p:nvSpPr>
          <p:cNvPr id="95" name="Shape 93"/>
          <p:cNvSpPr/>
          <p:nvPr/>
        </p:nvSpPr>
        <p:spPr>
          <a:xfrm>
            <a:off x="752475" y="8061871"/>
            <a:ext cx="6267450" cy="9525"/>
          </a:xfrm>
          <a:prstGeom prst="rect">
            <a:avLst/>
          </a:prstGeom>
          <a:solidFill>
            <a:srgbClr val="F4F2EC"/>
          </a:solidFill>
          <a:ln/>
        </p:spPr>
      </p:sp>
      <p:sp>
        <p:nvSpPr>
          <p:cNvPr id="96" name="Shape 94"/>
          <p:cNvSpPr/>
          <p:nvPr/>
        </p:nvSpPr>
        <p:spPr>
          <a:xfrm>
            <a:off x="752475" y="7918996"/>
            <a:ext cx="114300" cy="114300"/>
          </a:xfrm>
          <a:prstGeom prst="ellipse">
            <a:avLst/>
          </a:prstGeom>
          <a:solidFill>
            <a:srgbClr val="1B9E52"/>
          </a:solidFill>
          <a:ln/>
        </p:spPr>
      </p:sp>
      <p:sp>
        <p:nvSpPr>
          <p:cNvPr id="97" name="Text 95"/>
          <p:cNvSpPr/>
          <p:nvPr/>
        </p:nvSpPr>
        <p:spPr>
          <a:xfrm>
            <a:off x="714375" y="7918996"/>
            <a:ext cx="190500" cy="152400"/>
          </a:xfrm>
          <a:prstGeom prst="rect">
            <a:avLst/>
          </a:prstGeom>
          <a:noFill/>
          <a:ln/>
        </p:spPr>
        <p:txBody>
          <a:bodyPr wrap="square" lIns="25400" tIns="25400" rIns="25400" bIns="25400" rtlCol="0" anchor="ctr">
            <a:normAutofit/>
          </a:bodyPr>
          <a:lstStyle/>
          <a:p>
            <a:pPr algn="ctr" indent="0" marL="0">
              <a:buNone/>
            </a:pPr>
            <a:r>
              <a:rPr lang="en-US" sz="525" dirty="0">
                <a:solidFill>
                  <a:srgbClr val="FFFFFF"/>
                </a:solidFill>
                <a:latin typeface="Arial" pitchFamily="34" charset="0"/>
                <a:ea typeface="Arial" pitchFamily="34" charset="-122"/>
                <a:cs typeface="Arial" pitchFamily="34" charset="-120"/>
              </a:rPr>
              <a:t>✓</a:t>
            </a:r>
            <a:endParaRPr lang="en-US" sz="525" dirty="0"/>
          </a:p>
        </p:txBody>
      </p:sp>
      <p:sp>
        <p:nvSpPr>
          <p:cNvPr id="98" name="Text 96"/>
          <p:cNvSpPr/>
          <p:nvPr/>
        </p:nvSpPr>
        <p:spPr>
          <a:xfrm>
            <a:off x="942975" y="7935664"/>
            <a:ext cx="6192203" cy="119063"/>
          </a:xfrm>
          <a:prstGeom prst="rect">
            <a:avLst/>
          </a:prstGeom>
          <a:noFill/>
          <a:ln/>
        </p:spPr>
        <p:txBody>
          <a:bodyPr wrap="square" lIns="25400" tIns="25400" rIns="25400" bIns="25400" rtlCol="0" anchor="t">
            <a:normAutofit/>
          </a:bodyPr>
          <a:lstStyle/>
          <a:p>
            <a:pPr algn="l" indent="0" marL="0">
              <a:buNone/>
            </a:pPr>
            <a:r>
              <a:rPr lang="en-US" sz="600" dirty="0">
                <a:solidFill>
                  <a:srgbClr val="14233B"/>
                </a:solidFill>
                <a:latin typeface="Arial" pitchFamily="34" charset="0"/>
                <a:ea typeface="Arial" pitchFamily="34" charset="-122"/>
                <a:cs typeface="Arial" pitchFamily="34" charset="-120"/>
              </a:rPr>
              <a:t>Classification determination · Annex III Class I</a:t>
            </a:r>
            <a:endParaRPr lang="en-US" sz="600" dirty="0"/>
          </a:p>
        </p:txBody>
      </p:sp>
      <p:sp>
        <p:nvSpPr>
          <p:cNvPr id="99" name="Text 97"/>
          <p:cNvSpPr/>
          <p:nvPr/>
        </p:nvSpPr>
        <p:spPr>
          <a:xfrm>
            <a:off x="6648450" y="7935664"/>
            <a:ext cx="447675" cy="119063"/>
          </a:xfrm>
          <a:prstGeom prst="rect">
            <a:avLst/>
          </a:prstGeom>
          <a:noFill/>
          <a:ln/>
        </p:spPr>
        <p:txBody>
          <a:bodyPr wrap="square" lIns="25400" tIns="25400" rIns="25400" bIns="25400" rtlCol="0" anchor="t">
            <a:normAutofit/>
          </a:bodyPr>
          <a:lstStyle/>
          <a:p>
            <a:pPr algn="l" indent="0" marL="0">
              <a:buNone/>
            </a:pPr>
            <a:r>
              <a:rPr lang="en-US" sz="488" dirty="0">
                <a:solidFill>
                  <a:srgbClr val="8A8676"/>
                </a:solidFill>
                <a:latin typeface="Consolas" pitchFamily="34" charset="0"/>
                <a:ea typeface="Consolas" pitchFamily="34" charset="-122"/>
                <a:cs typeface="Consolas" pitchFamily="34" charset="-120"/>
              </a:rPr>
              <a:t>PDF · 4 pp</a:t>
            </a:r>
            <a:endParaRPr lang="en-US" sz="488" dirty="0"/>
          </a:p>
        </p:txBody>
      </p:sp>
      <p:sp>
        <p:nvSpPr>
          <p:cNvPr id="100" name="Shape 98"/>
          <p:cNvSpPr/>
          <p:nvPr/>
        </p:nvSpPr>
        <p:spPr>
          <a:xfrm>
            <a:off x="752475" y="8296201"/>
            <a:ext cx="6267450" cy="9525"/>
          </a:xfrm>
          <a:prstGeom prst="rect">
            <a:avLst/>
          </a:prstGeom>
          <a:solidFill>
            <a:srgbClr val="F4F2EC"/>
          </a:solidFill>
          <a:ln/>
        </p:spPr>
      </p:sp>
      <p:sp>
        <p:nvSpPr>
          <p:cNvPr id="101" name="Shape 99"/>
          <p:cNvSpPr/>
          <p:nvPr/>
        </p:nvSpPr>
        <p:spPr>
          <a:xfrm>
            <a:off x="752475" y="8153326"/>
            <a:ext cx="114300" cy="114300"/>
          </a:xfrm>
          <a:prstGeom prst="ellipse">
            <a:avLst/>
          </a:prstGeom>
          <a:solidFill>
            <a:srgbClr val="1B9E52"/>
          </a:solidFill>
          <a:ln/>
        </p:spPr>
      </p:sp>
      <p:sp>
        <p:nvSpPr>
          <p:cNvPr id="102" name="Text 100"/>
          <p:cNvSpPr/>
          <p:nvPr/>
        </p:nvSpPr>
        <p:spPr>
          <a:xfrm>
            <a:off x="714375" y="8153326"/>
            <a:ext cx="190500" cy="152400"/>
          </a:xfrm>
          <a:prstGeom prst="rect">
            <a:avLst/>
          </a:prstGeom>
          <a:noFill/>
          <a:ln/>
        </p:spPr>
        <p:txBody>
          <a:bodyPr wrap="square" lIns="25400" tIns="25400" rIns="25400" bIns="25400" rtlCol="0" anchor="ctr">
            <a:normAutofit/>
          </a:bodyPr>
          <a:lstStyle/>
          <a:p>
            <a:pPr algn="ctr" indent="0" marL="0">
              <a:buNone/>
            </a:pPr>
            <a:r>
              <a:rPr lang="en-US" sz="525" dirty="0">
                <a:solidFill>
                  <a:srgbClr val="FFFFFF"/>
                </a:solidFill>
                <a:latin typeface="Arial" pitchFamily="34" charset="0"/>
                <a:ea typeface="Arial" pitchFamily="34" charset="-122"/>
                <a:cs typeface="Arial" pitchFamily="34" charset="-120"/>
              </a:rPr>
              <a:t>✓</a:t>
            </a:r>
            <a:endParaRPr lang="en-US" sz="525" dirty="0"/>
          </a:p>
        </p:txBody>
      </p:sp>
      <p:sp>
        <p:nvSpPr>
          <p:cNvPr id="103" name="Text 101"/>
          <p:cNvSpPr/>
          <p:nvPr/>
        </p:nvSpPr>
        <p:spPr>
          <a:xfrm>
            <a:off x="942975" y="8169994"/>
            <a:ext cx="6192203" cy="119063"/>
          </a:xfrm>
          <a:prstGeom prst="rect">
            <a:avLst/>
          </a:prstGeom>
          <a:noFill/>
          <a:ln/>
        </p:spPr>
        <p:txBody>
          <a:bodyPr wrap="square" lIns="25400" tIns="25400" rIns="25400" bIns="25400" rtlCol="0" anchor="t">
            <a:normAutofit/>
          </a:bodyPr>
          <a:lstStyle/>
          <a:p>
            <a:pPr algn="l" indent="0" marL="0">
              <a:buNone/>
            </a:pPr>
            <a:r>
              <a:rPr lang="en-US" sz="600" dirty="0">
                <a:solidFill>
                  <a:srgbClr val="14233B"/>
                </a:solidFill>
                <a:latin typeface="Arial" pitchFamily="34" charset="0"/>
                <a:ea typeface="Arial" pitchFamily="34" charset="-122"/>
                <a:cs typeface="Arial" pitchFamily="34" charset="-120"/>
              </a:rPr>
              <a:t>Annex I conformance matrix · 30 requirements</a:t>
            </a:r>
            <a:endParaRPr lang="en-US" sz="600" dirty="0"/>
          </a:p>
        </p:txBody>
      </p:sp>
      <p:sp>
        <p:nvSpPr>
          <p:cNvPr id="104" name="Text 102"/>
          <p:cNvSpPr/>
          <p:nvPr/>
        </p:nvSpPr>
        <p:spPr>
          <a:xfrm>
            <a:off x="6648450" y="8169994"/>
            <a:ext cx="447675" cy="119063"/>
          </a:xfrm>
          <a:prstGeom prst="rect">
            <a:avLst/>
          </a:prstGeom>
          <a:noFill/>
          <a:ln/>
        </p:spPr>
        <p:txBody>
          <a:bodyPr wrap="square" lIns="25400" tIns="25400" rIns="25400" bIns="25400" rtlCol="0" anchor="t">
            <a:normAutofit/>
          </a:bodyPr>
          <a:lstStyle/>
          <a:p>
            <a:pPr algn="l" indent="0" marL="0">
              <a:buNone/>
            </a:pPr>
            <a:r>
              <a:rPr lang="en-US" sz="488" dirty="0">
                <a:solidFill>
                  <a:srgbClr val="8A8676"/>
                </a:solidFill>
                <a:latin typeface="Consolas" pitchFamily="34" charset="0"/>
                <a:ea typeface="Consolas" pitchFamily="34" charset="-122"/>
                <a:cs typeface="Consolas" pitchFamily="34" charset="-120"/>
              </a:rPr>
              <a:t>XLSX · PDF</a:t>
            </a:r>
            <a:endParaRPr lang="en-US" sz="488" dirty="0"/>
          </a:p>
        </p:txBody>
      </p:sp>
      <p:sp>
        <p:nvSpPr>
          <p:cNvPr id="105" name="Shape 103"/>
          <p:cNvSpPr/>
          <p:nvPr/>
        </p:nvSpPr>
        <p:spPr>
          <a:xfrm>
            <a:off x="752475" y="8530530"/>
            <a:ext cx="6267450" cy="9525"/>
          </a:xfrm>
          <a:prstGeom prst="rect">
            <a:avLst/>
          </a:prstGeom>
          <a:solidFill>
            <a:srgbClr val="F4F2EC"/>
          </a:solidFill>
          <a:ln/>
        </p:spPr>
      </p:sp>
      <p:sp>
        <p:nvSpPr>
          <p:cNvPr id="106" name="Shape 104"/>
          <p:cNvSpPr/>
          <p:nvPr/>
        </p:nvSpPr>
        <p:spPr>
          <a:xfrm>
            <a:off x="752475" y="8387655"/>
            <a:ext cx="114300" cy="114300"/>
          </a:xfrm>
          <a:prstGeom prst="ellipse">
            <a:avLst/>
          </a:prstGeom>
          <a:solidFill>
            <a:srgbClr val="1B9E52"/>
          </a:solidFill>
          <a:ln/>
        </p:spPr>
      </p:sp>
      <p:sp>
        <p:nvSpPr>
          <p:cNvPr id="107" name="Text 105"/>
          <p:cNvSpPr/>
          <p:nvPr/>
        </p:nvSpPr>
        <p:spPr>
          <a:xfrm>
            <a:off x="714375" y="8387655"/>
            <a:ext cx="190500" cy="152400"/>
          </a:xfrm>
          <a:prstGeom prst="rect">
            <a:avLst/>
          </a:prstGeom>
          <a:noFill/>
          <a:ln/>
        </p:spPr>
        <p:txBody>
          <a:bodyPr wrap="square" lIns="25400" tIns="25400" rIns="25400" bIns="25400" rtlCol="0" anchor="ctr">
            <a:normAutofit/>
          </a:bodyPr>
          <a:lstStyle/>
          <a:p>
            <a:pPr algn="ctr" indent="0" marL="0">
              <a:buNone/>
            </a:pPr>
            <a:r>
              <a:rPr lang="en-US" sz="525" dirty="0">
                <a:solidFill>
                  <a:srgbClr val="FFFFFF"/>
                </a:solidFill>
                <a:latin typeface="Arial" pitchFamily="34" charset="0"/>
                <a:ea typeface="Arial" pitchFamily="34" charset="-122"/>
                <a:cs typeface="Arial" pitchFamily="34" charset="-120"/>
              </a:rPr>
              <a:t>✓</a:t>
            </a:r>
            <a:endParaRPr lang="en-US" sz="525" dirty="0"/>
          </a:p>
        </p:txBody>
      </p:sp>
      <p:sp>
        <p:nvSpPr>
          <p:cNvPr id="108" name="Text 106"/>
          <p:cNvSpPr/>
          <p:nvPr/>
        </p:nvSpPr>
        <p:spPr>
          <a:xfrm>
            <a:off x="942975" y="8404324"/>
            <a:ext cx="6110429" cy="119063"/>
          </a:xfrm>
          <a:prstGeom prst="rect">
            <a:avLst/>
          </a:prstGeom>
          <a:noFill/>
          <a:ln/>
        </p:spPr>
        <p:txBody>
          <a:bodyPr wrap="square" lIns="25400" tIns="25400" rIns="25400" bIns="25400" rtlCol="0" anchor="t">
            <a:normAutofit/>
          </a:bodyPr>
          <a:lstStyle/>
          <a:p>
            <a:pPr algn="l" indent="0" marL="0">
              <a:buNone/>
            </a:pPr>
            <a:r>
              <a:rPr lang="en-US" sz="600" dirty="0">
                <a:solidFill>
                  <a:srgbClr val="14233B"/>
                </a:solidFill>
                <a:latin typeface="Arial" pitchFamily="34" charset="0"/>
                <a:ea typeface="Arial" pitchFamily="34" charset="-122"/>
                <a:cs typeface="Arial" pitchFamily="34" charset="-120"/>
              </a:rPr>
              <a:t>Annex IV technical documentation</a:t>
            </a:r>
            <a:endParaRPr lang="en-US" sz="600" dirty="0"/>
          </a:p>
        </p:txBody>
      </p:sp>
      <p:sp>
        <p:nvSpPr>
          <p:cNvPr id="109" name="Text 107"/>
          <p:cNvSpPr/>
          <p:nvPr/>
        </p:nvSpPr>
        <p:spPr>
          <a:xfrm>
            <a:off x="6574110" y="8404324"/>
            <a:ext cx="522015" cy="119063"/>
          </a:xfrm>
          <a:prstGeom prst="rect">
            <a:avLst/>
          </a:prstGeom>
          <a:noFill/>
          <a:ln/>
        </p:spPr>
        <p:txBody>
          <a:bodyPr wrap="square" lIns="25400" tIns="25400" rIns="25400" bIns="25400" rtlCol="0" anchor="t">
            <a:normAutofit/>
          </a:bodyPr>
          <a:lstStyle/>
          <a:p>
            <a:pPr algn="l" indent="0" marL="0">
              <a:buNone/>
            </a:pPr>
            <a:r>
              <a:rPr lang="en-US" sz="488" dirty="0">
                <a:solidFill>
                  <a:srgbClr val="8A8676"/>
                </a:solidFill>
                <a:latin typeface="Consolas" pitchFamily="34" charset="0"/>
                <a:ea typeface="Consolas" pitchFamily="34" charset="-122"/>
                <a:cs typeface="Consolas" pitchFamily="34" charset="-120"/>
              </a:rPr>
              <a:t>PDF · 118 pp</a:t>
            </a:r>
            <a:endParaRPr lang="en-US" sz="488" dirty="0"/>
          </a:p>
        </p:txBody>
      </p:sp>
      <p:sp>
        <p:nvSpPr>
          <p:cNvPr id="110" name="Shape 108"/>
          <p:cNvSpPr/>
          <p:nvPr/>
        </p:nvSpPr>
        <p:spPr>
          <a:xfrm>
            <a:off x="752475" y="8764860"/>
            <a:ext cx="6267450" cy="9525"/>
          </a:xfrm>
          <a:prstGeom prst="rect">
            <a:avLst/>
          </a:prstGeom>
          <a:solidFill>
            <a:srgbClr val="F4F2EC"/>
          </a:solidFill>
          <a:ln/>
        </p:spPr>
      </p:sp>
      <p:sp>
        <p:nvSpPr>
          <p:cNvPr id="111" name="Shape 109"/>
          <p:cNvSpPr/>
          <p:nvPr/>
        </p:nvSpPr>
        <p:spPr>
          <a:xfrm>
            <a:off x="752475" y="8621985"/>
            <a:ext cx="114300" cy="114300"/>
          </a:xfrm>
          <a:prstGeom prst="ellipse">
            <a:avLst/>
          </a:prstGeom>
          <a:solidFill>
            <a:srgbClr val="1B9E52"/>
          </a:solidFill>
          <a:ln/>
        </p:spPr>
      </p:sp>
      <p:sp>
        <p:nvSpPr>
          <p:cNvPr id="112" name="Text 110"/>
          <p:cNvSpPr/>
          <p:nvPr/>
        </p:nvSpPr>
        <p:spPr>
          <a:xfrm>
            <a:off x="714375" y="8621985"/>
            <a:ext cx="190500" cy="152400"/>
          </a:xfrm>
          <a:prstGeom prst="rect">
            <a:avLst/>
          </a:prstGeom>
          <a:noFill/>
          <a:ln/>
        </p:spPr>
        <p:txBody>
          <a:bodyPr wrap="square" lIns="25400" tIns="25400" rIns="25400" bIns="25400" rtlCol="0" anchor="ctr">
            <a:normAutofit/>
          </a:bodyPr>
          <a:lstStyle/>
          <a:p>
            <a:pPr algn="ctr" indent="0" marL="0">
              <a:buNone/>
            </a:pPr>
            <a:r>
              <a:rPr lang="en-US" sz="525" dirty="0">
                <a:solidFill>
                  <a:srgbClr val="FFFFFF"/>
                </a:solidFill>
                <a:latin typeface="Arial" pitchFamily="34" charset="0"/>
                <a:ea typeface="Arial" pitchFamily="34" charset="-122"/>
                <a:cs typeface="Arial" pitchFamily="34" charset="-120"/>
              </a:rPr>
              <a:t>✓</a:t>
            </a:r>
            <a:endParaRPr lang="en-US" sz="525" dirty="0"/>
          </a:p>
        </p:txBody>
      </p:sp>
      <p:sp>
        <p:nvSpPr>
          <p:cNvPr id="113" name="Text 111"/>
          <p:cNvSpPr/>
          <p:nvPr/>
        </p:nvSpPr>
        <p:spPr>
          <a:xfrm>
            <a:off x="942975" y="8638654"/>
            <a:ext cx="6233048" cy="119063"/>
          </a:xfrm>
          <a:prstGeom prst="rect">
            <a:avLst/>
          </a:prstGeom>
          <a:noFill/>
          <a:ln/>
        </p:spPr>
        <p:txBody>
          <a:bodyPr wrap="square" lIns="25400" tIns="25400" rIns="25400" bIns="25400" rtlCol="0" anchor="t">
            <a:normAutofit/>
          </a:bodyPr>
          <a:lstStyle/>
          <a:p>
            <a:pPr algn="l" indent="0" marL="0">
              <a:buNone/>
            </a:pPr>
            <a:r>
              <a:rPr lang="en-US" sz="600" dirty="0">
                <a:solidFill>
                  <a:srgbClr val="14233B"/>
                </a:solidFill>
                <a:latin typeface="Arial" pitchFamily="34" charset="0"/>
                <a:ea typeface="Arial" pitchFamily="34" charset="-122"/>
                <a:cs typeface="Arial" pitchFamily="34" charset="-120"/>
              </a:rPr>
              <a:t>xBOM set · SBOM, HBOM, CBOM + VEX</a:t>
            </a:r>
            <a:endParaRPr lang="en-US" sz="600" dirty="0"/>
          </a:p>
        </p:txBody>
      </p:sp>
      <p:sp>
        <p:nvSpPr>
          <p:cNvPr id="114" name="Text 112"/>
          <p:cNvSpPr/>
          <p:nvPr/>
        </p:nvSpPr>
        <p:spPr>
          <a:xfrm>
            <a:off x="6685583" y="8638654"/>
            <a:ext cx="410542" cy="119063"/>
          </a:xfrm>
          <a:prstGeom prst="rect">
            <a:avLst/>
          </a:prstGeom>
          <a:noFill/>
          <a:ln/>
        </p:spPr>
        <p:txBody>
          <a:bodyPr wrap="square" lIns="25400" tIns="25400" rIns="25400" bIns="25400" rtlCol="0" anchor="t">
            <a:normAutofit/>
          </a:bodyPr>
          <a:lstStyle/>
          <a:p>
            <a:pPr algn="l" indent="0" marL="0">
              <a:buNone/>
            </a:pPr>
            <a:r>
              <a:rPr lang="en-US" sz="488" dirty="0">
                <a:solidFill>
                  <a:srgbClr val="8A8676"/>
                </a:solidFill>
                <a:latin typeface="Consolas" pitchFamily="34" charset="0"/>
                <a:ea typeface="Consolas" pitchFamily="34" charset="-122"/>
                <a:cs typeface="Consolas" pitchFamily="34" charset="-120"/>
              </a:rPr>
              <a:t>CycloneDX</a:t>
            </a:r>
            <a:endParaRPr lang="en-US" sz="488" dirty="0"/>
          </a:p>
        </p:txBody>
      </p:sp>
      <p:sp>
        <p:nvSpPr>
          <p:cNvPr id="115" name="Shape 113"/>
          <p:cNvSpPr/>
          <p:nvPr/>
        </p:nvSpPr>
        <p:spPr>
          <a:xfrm>
            <a:off x="752475" y="8999116"/>
            <a:ext cx="6267450" cy="9525"/>
          </a:xfrm>
          <a:prstGeom prst="rect">
            <a:avLst/>
          </a:prstGeom>
          <a:solidFill>
            <a:srgbClr val="F4F2EC"/>
          </a:solidFill>
          <a:ln/>
        </p:spPr>
      </p:sp>
      <p:sp>
        <p:nvSpPr>
          <p:cNvPr id="116" name="Shape 114"/>
          <p:cNvSpPr/>
          <p:nvPr/>
        </p:nvSpPr>
        <p:spPr>
          <a:xfrm>
            <a:off x="752475" y="8856241"/>
            <a:ext cx="114300" cy="114300"/>
          </a:xfrm>
          <a:prstGeom prst="ellipse">
            <a:avLst/>
          </a:prstGeom>
          <a:solidFill>
            <a:srgbClr val="1B9E52"/>
          </a:solidFill>
          <a:ln/>
        </p:spPr>
      </p:sp>
      <p:sp>
        <p:nvSpPr>
          <p:cNvPr id="117" name="Text 115"/>
          <p:cNvSpPr/>
          <p:nvPr/>
        </p:nvSpPr>
        <p:spPr>
          <a:xfrm>
            <a:off x="714375" y="8856241"/>
            <a:ext cx="190500" cy="152400"/>
          </a:xfrm>
          <a:prstGeom prst="rect">
            <a:avLst/>
          </a:prstGeom>
          <a:noFill/>
          <a:ln/>
        </p:spPr>
        <p:txBody>
          <a:bodyPr wrap="square" lIns="25400" tIns="25400" rIns="25400" bIns="25400" rtlCol="0" anchor="ctr">
            <a:normAutofit/>
          </a:bodyPr>
          <a:lstStyle/>
          <a:p>
            <a:pPr algn="ctr" indent="0" marL="0">
              <a:buNone/>
            </a:pPr>
            <a:r>
              <a:rPr lang="en-US" sz="525" dirty="0">
                <a:solidFill>
                  <a:srgbClr val="FFFFFF"/>
                </a:solidFill>
                <a:latin typeface="Arial" pitchFamily="34" charset="0"/>
                <a:ea typeface="Arial" pitchFamily="34" charset="-122"/>
                <a:cs typeface="Arial" pitchFamily="34" charset="-120"/>
              </a:rPr>
              <a:t>✓</a:t>
            </a:r>
            <a:endParaRPr lang="en-US" sz="525" dirty="0"/>
          </a:p>
        </p:txBody>
      </p:sp>
      <p:sp>
        <p:nvSpPr>
          <p:cNvPr id="118" name="Text 116"/>
          <p:cNvSpPr/>
          <p:nvPr/>
        </p:nvSpPr>
        <p:spPr>
          <a:xfrm>
            <a:off x="942975" y="8872910"/>
            <a:ext cx="6151275" cy="119063"/>
          </a:xfrm>
          <a:prstGeom prst="rect">
            <a:avLst/>
          </a:prstGeom>
          <a:noFill/>
          <a:ln/>
        </p:spPr>
        <p:txBody>
          <a:bodyPr wrap="square" lIns="25400" tIns="25400" rIns="25400" bIns="25400" rtlCol="0" anchor="t">
            <a:normAutofit/>
          </a:bodyPr>
          <a:lstStyle/>
          <a:p>
            <a:pPr algn="l" indent="0" marL="0">
              <a:buNone/>
            </a:pPr>
            <a:r>
              <a:rPr lang="en-US" sz="600" dirty="0">
                <a:solidFill>
                  <a:srgbClr val="14233B"/>
                </a:solidFill>
                <a:latin typeface="Arial" pitchFamily="34" charset="0"/>
                <a:ea typeface="Arial" pitchFamily="34" charset="-122"/>
                <a:cs typeface="Arial" pitchFamily="34" charset="-120"/>
              </a:rPr>
              <a:t>Vulnerability handling · CVD policy &amp; PSIRT procedure</a:t>
            </a:r>
            <a:endParaRPr lang="en-US" sz="600" dirty="0"/>
          </a:p>
        </p:txBody>
      </p:sp>
      <p:sp>
        <p:nvSpPr>
          <p:cNvPr id="119" name="Text 117"/>
          <p:cNvSpPr/>
          <p:nvPr/>
        </p:nvSpPr>
        <p:spPr>
          <a:xfrm>
            <a:off x="6611243" y="8872910"/>
            <a:ext cx="484882" cy="119063"/>
          </a:xfrm>
          <a:prstGeom prst="rect">
            <a:avLst/>
          </a:prstGeom>
          <a:noFill/>
          <a:ln/>
        </p:spPr>
        <p:txBody>
          <a:bodyPr wrap="square" lIns="25400" tIns="25400" rIns="25400" bIns="25400" rtlCol="0" anchor="t">
            <a:normAutofit/>
          </a:bodyPr>
          <a:lstStyle/>
          <a:p>
            <a:pPr algn="l" indent="0" marL="0">
              <a:buNone/>
            </a:pPr>
            <a:r>
              <a:rPr lang="en-US" sz="488" dirty="0">
                <a:solidFill>
                  <a:srgbClr val="8A8676"/>
                </a:solidFill>
                <a:latin typeface="Consolas" pitchFamily="34" charset="0"/>
                <a:ea typeface="Consolas" pitchFamily="34" charset="-122"/>
                <a:cs typeface="Consolas" pitchFamily="34" charset="-120"/>
              </a:rPr>
              <a:t>PDF · 22 pp</a:t>
            </a:r>
            <a:endParaRPr lang="en-US" sz="488" dirty="0"/>
          </a:p>
        </p:txBody>
      </p:sp>
      <p:sp>
        <p:nvSpPr>
          <p:cNvPr id="120" name="Shape 118"/>
          <p:cNvSpPr/>
          <p:nvPr/>
        </p:nvSpPr>
        <p:spPr>
          <a:xfrm>
            <a:off x="752475" y="9090571"/>
            <a:ext cx="114300" cy="114300"/>
          </a:xfrm>
          <a:prstGeom prst="ellipse">
            <a:avLst/>
          </a:prstGeom>
          <a:solidFill>
            <a:srgbClr val="1B9E52"/>
          </a:solidFill>
          <a:ln/>
        </p:spPr>
      </p:sp>
      <p:sp>
        <p:nvSpPr>
          <p:cNvPr id="121" name="Text 119"/>
          <p:cNvSpPr/>
          <p:nvPr/>
        </p:nvSpPr>
        <p:spPr>
          <a:xfrm>
            <a:off x="714375" y="9090571"/>
            <a:ext cx="190500" cy="152400"/>
          </a:xfrm>
          <a:prstGeom prst="rect">
            <a:avLst/>
          </a:prstGeom>
          <a:noFill/>
          <a:ln/>
        </p:spPr>
        <p:txBody>
          <a:bodyPr wrap="square" lIns="25400" tIns="25400" rIns="25400" bIns="25400" rtlCol="0" anchor="ctr">
            <a:normAutofit/>
          </a:bodyPr>
          <a:lstStyle/>
          <a:p>
            <a:pPr algn="ctr" indent="0" marL="0">
              <a:buNone/>
            </a:pPr>
            <a:r>
              <a:rPr lang="en-US" sz="525" dirty="0">
                <a:solidFill>
                  <a:srgbClr val="FFFFFF"/>
                </a:solidFill>
                <a:latin typeface="Arial" pitchFamily="34" charset="0"/>
                <a:ea typeface="Arial" pitchFamily="34" charset="-122"/>
                <a:cs typeface="Arial" pitchFamily="34" charset="-120"/>
              </a:rPr>
              <a:t>✓</a:t>
            </a:r>
            <a:endParaRPr lang="en-US" sz="525" dirty="0"/>
          </a:p>
        </p:txBody>
      </p:sp>
      <p:sp>
        <p:nvSpPr>
          <p:cNvPr id="122" name="Text 120"/>
          <p:cNvSpPr/>
          <p:nvPr/>
        </p:nvSpPr>
        <p:spPr>
          <a:xfrm>
            <a:off x="942975" y="9107239"/>
            <a:ext cx="6233048" cy="119063"/>
          </a:xfrm>
          <a:prstGeom prst="rect">
            <a:avLst/>
          </a:prstGeom>
          <a:noFill/>
          <a:ln/>
        </p:spPr>
        <p:txBody>
          <a:bodyPr wrap="square" lIns="25400" tIns="25400" rIns="25400" bIns="25400" rtlCol="0" anchor="t">
            <a:normAutofit/>
          </a:bodyPr>
          <a:lstStyle/>
          <a:p>
            <a:pPr algn="l" indent="0" marL="0">
              <a:buNone/>
            </a:pPr>
            <a:r>
              <a:rPr lang="en-US" sz="600" dirty="0">
                <a:solidFill>
                  <a:srgbClr val="14233B"/>
                </a:solidFill>
                <a:latin typeface="Arial" pitchFamily="34" charset="0"/>
                <a:ea typeface="Arial" pitchFamily="34" charset="-122"/>
                <a:cs typeface="Arial" pitchFamily="34" charset="-120"/>
              </a:rPr>
              <a:t>Test evidence &amp; residual gap register</a:t>
            </a:r>
            <a:endParaRPr lang="en-US" sz="600" dirty="0"/>
          </a:p>
        </p:txBody>
      </p:sp>
      <p:sp>
        <p:nvSpPr>
          <p:cNvPr id="123" name="Text 121"/>
          <p:cNvSpPr/>
          <p:nvPr/>
        </p:nvSpPr>
        <p:spPr>
          <a:xfrm>
            <a:off x="6685583" y="9107239"/>
            <a:ext cx="410542" cy="119063"/>
          </a:xfrm>
          <a:prstGeom prst="rect">
            <a:avLst/>
          </a:prstGeom>
          <a:noFill/>
          <a:ln/>
        </p:spPr>
        <p:txBody>
          <a:bodyPr wrap="square" lIns="25400" tIns="25400" rIns="25400" bIns="25400" rtlCol="0" anchor="t">
            <a:normAutofit/>
          </a:bodyPr>
          <a:lstStyle/>
          <a:p>
            <a:pPr algn="l" indent="0" marL="0">
              <a:buNone/>
            </a:pPr>
            <a:r>
              <a:rPr lang="en-US" sz="488" dirty="0">
                <a:solidFill>
                  <a:srgbClr val="8A8676"/>
                </a:solidFill>
                <a:latin typeface="Consolas" pitchFamily="34" charset="0"/>
                <a:ea typeface="Consolas" pitchFamily="34" charset="-122"/>
                <a:cs typeface="Consolas" pitchFamily="34" charset="-120"/>
              </a:rPr>
              <a:t>PDF · ZIP</a:t>
            </a:r>
            <a:endParaRPr lang="en-US" sz="488" dirty="0"/>
          </a:p>
        </p:txBody>
      </p:sp>
      <p:sp>
        <p:nvSpPr>
          <p:cNvPr id="124" name="Shape 122"/>
          <p:cNvSpPr/>
          <p:nvPr/>
        </p:nvSpPr>
        <p:spPr>
          <a:xfrm>
            <a:off x="495300" y="9525000"/>
            <a:ext cx="6781800" cy="9525"/>
          </a:xfrm>
          <a:prstGeom prst="rect">
            <a:avLst/>
          </a:prstGeom>
          <a:solidFill>
            <a:srgbClr val="E2DCCE"/>
          </a:solidFill>
          <a:ln/>
        </p:spPr>
      </p:sp>
      <p:sp>
        <p:nvSpPr>
          <p:cNvPr id="125" name="Text 123"/>
          <p:cNvSpPr/>
          <p:nvPr/>
        </p:nvSpPr>
        <p:spPr>
          <a:xfrm>
            <a:off x="495300" y="9620250"/>
            <a:ext cx="2132990"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Illustrative view of the OXOT Conformity application</a:t>
            </a:r>
            <a:endParaRPr lang="en-US" sz="675" dirty="0"/>
          </a:p>
        </p:txBody>
      </p:sp>
      <p:sp>
        <p:nvSpPr>
          <p:cNvPr id="126" name="Text 124"/>
          <p:cNvSpPr/>
          <p:nvPr/>
        </p:nvSpPr>
        <p:spPr>
          <a:xfrm>
            <a:off x="6799883" y="9620250"/>
            <a:ext cx="553417"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oxot.nl · 3 / 4</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95300" y="690563"/>
            <a:ext cx="6781800" cy="19050"/>
          </a:xfrm>
          <a:prstGeom prst="rect">
            <a:avLst/>
          </a:prstGeom>
          <a:solidFill>
            <a:srgbClr val="14233B"/>
          </a:solidFill>
          <a:ln/>
        </p:spPr>
      </p:sp>
      <p:sp>
        <p:nvSpPr>
          <p:cNvPr id="3" name="Text 1"/>
          <p:cNvSpPr/>
          <p:nvPr/>
        </p:nvSpPr>
        <p:spPr>
          <a:xfrm>
            <a:off x="495300" y="419100"/>
            <a:ext cx="779562" cy="214313"/>
          </a:xfrm>
          <a:prstGeom prst="rect">
            <a:avLst/>
          </a:prstGeom>
          <a:noFill/>
          <a:ln/>
        </p:spPr>
        <p:txBody>
          <a:bodyPr wrap="square" lIns="25400" tIns="25400" rIns="25400" bIns="25400" rtlCol="0" anchor="t">
            <a:normAutofit/>
          </a:bodyPr>
          <a:lstStyle/>
          <a:p>
            <a:pPr algn="l" indent="0" marL="0">
              <a:buNone/>
            </a:pPr>
            <a:r>
              <a:rPr lang="en-US" sz="1275" spc="488" kern="0" dirty="0">
                <a:solidFill>
                  <a:srgbClr val="14233B"/>
                </a:solidFill>
                <a:latin typeface="Arial" pitchFamily="34" charset="0"/>
                <a:ea typeface="Arial" pitchFamily="34" charset="-122"/>
                <a:cs typeface="Arial" pitchFamily="34" charset="-120"/>
              </a:rPr>
              <a:t>O</a:t>
            </a:r>
            <a:pPr algn="l" indent="0" marL="0">
              <a:buNone/>
            </a:pPr>
            <a:r>
              <a:rPr lang="en-US" sz="1275" spc="488" kern="0" dirty="0">
                <a:solidFill>
                  <a:srgbClr val="FF7900"/>
                </a:solidFill>
                <a:latin typeface="Arial" pitchFamily="34" charset="0"/>
                <a:ea typeface="Arial" pitchFamily="34" charset="-122"/>
                <a:cs typeface="Arial" pitchFamily="34" charset="-120"/>
              </a:rPr>
              <a:t>X</a:t>
            </a:r>
            <a:pPr algn="l" indent="0" marL="0">
              <a:buNone/>
            </a:pPr>
            <a:r>
              <a:rPr lang="en-US" sz="1275" spc="488" kern="0" dirty="0">
                <a:solidFill>
                  <a:srgbClr val="14233B"/>
                </a:solidFill>
                <a:latin typeface="Arial" pitchFamily="34" charset="0"/>
                <a:ea typeface="Arial" pitchFamily="34" charset="-122"/>
                <a:cs typeface="Arial" pitchFamily="34" charset="-120"/>
              </a:rPr>
              <a:t>OT</a:t>
            </a:r>
            <a:endParaRPr lang="en-US" sz="1275" dirty="0"/>
          </a:p>
        </p:txBody>
      </p:sp>
      <p:sp>
        <p:nvSpPr>
          <p:cNvPr id="4" name="Text 2"/>
          <p:cNvSpPr/>
          <p:nvPr/>
        </p:nvSpPr>
        <p:spPr>
          <a:xfrm>
            <a:off x="1322487" y="485775"/>
            <a:ext cx="938213" cy="138113"/>
          </a:xfrm>
          <a:prstGeom prst="rect">
            <a:avLst/>
          </a:prstGeom>
          <a:noFill/>
          <a:ln/>
        </p:spPr>
        <p:txBody>
          <a:bodyPr wrap="square" lIns="25400" tIns="25400" rIns="25400" bIns="25400" rtlCol="0" anchor="t">
            <a:normAutofit/>
          </a:bodyPr>
          <a:lstStyle/>
          <a:p>
            <a:pPr algn="l" indent="0" marL="0">
              <a:buNone/>
            </a:pPr>
            <a:r>
              <a:rPr lang="en-US" sz="675" b="1" spc="225" kern="0" dirty="0">
                <a:solidFill>
                  <a:srgbClr val="8A8676"/>
                </a:solidFill>
                <a:latin typeface="Arial" pitchFamily="34" charset="0"/>
                <a:ea typeface="Arial" pitchFamily="34" charset="-122"/>
                <a:cs typeface="Arial" pitchFamily="34" charset="-120"/>
              </a:rPr>
              <a:t>CONFORMITY</a:t>
            </a:r>
            <a:endParaRPr lang="en-US" sz="675" dirty="0"/>
          </a:p>
        </p:txBody>
      </p:sp>
      <p:sp>
        <p:nvSpPr>
          <p:cNvPr id="5" name="Text 3"/>
          <p:cNvSpPr/>
          <p:nvPr/>
        </p:nvSpPr>
        <p:spPr>
          <a:xfrm>
            <a:off x="6250186" y="485775"/>
            <a:ext cx="1103114" cy="133350"/>
          </a:xfrm>
          <a:prstGeom prst="rect">
            <a:avLst/>
          </a:prstGeom>
          <a:noFill/>
          <a:ln/>
        </p:spPr>
        <p:txBody>
          <a:bodyPr wrap="square" lIns="25400" tIns="25400" rIns="25400" bIns="25400" rtlCol="0" anchor="t">
            <a:normAutofit/>
          </a:bodyPr>
          <a:lstStyle/>
          <a:p>
            <a:pPr algn="l" indent="0" marL="0">
              <a:buNone/>
            </a:pPr>
            <a:r>
              <a:rPr lang="en-US" sz="675" spc="120" kern="0" dirty="0">
                <a:solidFill>
                  <a:srgbClr val="8A8676"/>
                </a:solidFill>
                <a:latin typeface="Arial" pitchFamily="34" charset="0"/>
                <a:ea typeface="Arial" pitchFamily="34" charset="-122"/>
                <a:cs typeface="Arial" pitchFamily="34" charset="-120"/>
              </a:rPr>
              <a:t>THE PARTNERSHIP</a:t>
            </a:r>
            <a:endParaRPr lang="en-US" sz="675" dirty="0"/>
          </a:p>
        </p:txBody>
      </p:sp>
      <p:sp>
        <p:nvSpPr>
          <p:cNvPr id="6" name="Text 4"/>
          <p:cNvSpPr/>
          <p:nvPr/>
        </p:nvSpPr>
        <p:spPr>
          <a:xfrm>
            <a:off x="495300" y="938213"/>
            <a:ext cx="7459980" cy="333375"/>
          </a:xfrm>
          <a:prstGeom prst="rect">
            <a:avLst/>
          </a:prstGeom>
          <a:noFill/>
          <a:ln/>
        </p:spPr>
        <p:txBody>
          <a:bodyPr wrap="square" lIns="25400" tIns="25400" rIns="25400" bIns="25400" rtlCol="0" anchor="t">
            <a:normAutofit/>
          </a:bodyPr>
          <a:lstStyle/>
          <a:p>
            <a:pPr algn="l" indent="0" marL="0">
              <a:buNone/>
            </a:pPr>
            <a:r>
              <a:rPr lang="en-US" sz="2025" b="1" spc="-22" kern="0" dirty="0">
                <a:solidFill>
                  <a:srgbClr val="14233B"/>
                </a:solidFill>
                <a:latin typeface="Georgia" pitchFamily="34" charset="0"/>
                <a:ea typeface="Georgia" pitchFamily="34" charset="-122"/>
                <a:cs typeface="Georgia" pitchFamily="34" charset="-120"/>
              </a:rPr>
              <a:t>What the arrangement gives your bench</a:t>
            </a:r>
            <a:endParaRPr lang="en-US" sz="2025" dirty="0"/>
          </a:p>
        </p:txBody>
      </p:sp>
      <p:sp>
        <p:nvSpPr>
          <p:cNvPr id="7" name="Shape 5"/>
          <p:cNvSpPr/>
          <p:nvPr/>
        </p:nvSpPr>
        <p:spPr>
          <a:xfrm>
            <a:off x="495300" y="1338263"/>
            <a:ext cx="400050" cy="19050"/>
          </a:xfrm>
          <a:prstGeom prst="rect">
            <a:avLst/>
          </a:prstGeom>
          <a:solidFill>
            <a:srgbClr val="FF7900"/>
          </a:solidFill>
          <a:ln/>
        </p:spPr>
      </p:sp>
      <p:sp>
        <p:nvSpPr>
          <p:cNvPr id="8" name="Shape 6"/>
          <p:cNvSpPr/>
          <p:nvPr/>
        </p:nvSpPr>
        <p:spPr>
          <a:xfrm>
            <a:off x="495300" y="1490663"/>
            <a:ext cx="3333750" cy="947886"/>
          </a:xfrm>
          <a:prstGeom prst="roundRect">
            <a:avLst>
              <a:gd name="adj" fmla="val 8039"/>
            </a:avLst>
          </a:prstGeom>
          <a:solidFill>
            <a:srgbClr val="F5F8FC"/>
          </a:solidFill>
          <a:ln w="9525">
            <a:solidFill>
              <a:srgbClr val="D7E1EF"/>
            </a:solidFill>
            <a:prstDash val="solid"/>
          </a:ln>
        </p:spPr>
      </p:sp>
      <p:sp>
        <p:nvSpPr>
          <p:cNvPr id="9" name="Text 7"/>
          <p:cNvSpPr/>
          <p:nvPr/>
        </p:nvSpPr>
        <p:spPr>
          <a:xfrm>
            <a:off x="666750" y="1643063"/>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1E3A6E"/>
                </a:solidFill>
                <a:latin typeface="Arial" pitchFamily="34" charset="0"/>
                <a:ea typeface="Arial" pitchFamily="34" charset="-122"/>
                <a:cs typeface="Arial" pitchFamily="34" charset="-120"/>
              </a:rPr>
              <a:t>FORECASTABLE DEMAND</a:t>
            </a:r>
            <a:endParaRPr lang="en-US" sz="675" dirty="0"/>
          </a:p>
        </p:txBody>
      </p:sp>
      <p:sp>
        <p:nvSpPr>
          <p:cNvPr id="10" name="Text 8"/>
          <p:cNvSpPr/>
          <p:nvPr/>
        </p:nvSpPr>
        <p:spPr>
          <a:xfrm>
            <a:off x="666750" y="1809750"/>
            <a:ext cx="3080576" cy="5144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3C4757"/>
                </a:solidFill>
                <a:latin typeface="Arial" pitchFamily="34" charset="0"/>
                <a:ea typeface="Arial" pitchFamily="34" charset="-122"/>
                <a:cs typeface="Arial" pitchFamily="34" charset="-120"/>
              </a:rPr>
              <a:t>Every engagement enters our funnel with a projected bench date at kick-off. You see the pipeline forming months out, not the week the applicant calls.</a:t>
            </a:r>
            <a:endParaRPr lang="en-US" sz="863" dirty="0"/>
          </a:p>
        </p:txBody>
      </p:sp>
      <p:sp>
        <p:nvSpPr>
          <p:cNvPr id="11" name="Shape 9"/>
          <p:cNvSpPr/>
          <p:nvPr/>
        </p:nvSpPr>
        <p:spPr>
          <a:xfrm>
            <a:off x="3943350" y="1490663"/>
            <a:ext cx="3333750" cy="947886"/>
          </a:xfrm>
          <a:prstGeom prst="roundRect">
            <a:avLst>
              <a:gd name="adj" fmla="val 8039"/>
            </a:avLst>
          </a:prstGeom>
          <a:solidFill>
            <a:srgbClr val="F5F8FC"/>
          </a:solidFill>
          <a:ln w="9525">
            <a:solidFill>
              <a:srgbClr val="D7E1EF"/>
            </a:solidFill>
            <a:prstDash val="solid"/>
          </a:ln>
        </p:spPr>
      </p:sp>
      <p:sp>
        <p:nvSpPr>
          <p:cNvPr id="12" name="Text 10"/>
          <p:cNvSpPr/>
          <p:nvPr/>
        </p:nvSpPr>
        <p:spPr>
          <a:xfrm>
            <a:off x="4114800" y="1643063"/>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1E3A6E"/>
                </a:solidFill>
                <a:latin typeface="Arial" pitchFamily="34" charset="0"/>
                <a:ea typeface="Arial" pitchFamily="34" charset="-122"/>
                <a:cs typeface="Arial" pitchFamily="34" charset="-120"/>
              </a:rPr>
              <a:t>NO COMMERCIAL SOLICITATION</a:t>
            </a:r>
            <a:endParaRPr lang="en-US" sz="675" dirty="0"/>
          </a:p>
        </p:txBody>
      </p:sp>
      <p:sp>
        <p:nvSpPr>
          <p:cNvPr id="13" name="Text 11"/>
          <p:cNvSpPr/>
          <p:nvPr/>
        </p:nvSpPr>
        <p:spPr>
          <a:xfrm>
            <a:off x="4114800" y="1809750"/>
            <a:ext cx="3080576" cy="5144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3C4757"/>
                </a:solidFill>
                <a:latin typeface="Arial" pitchFamily="34" charset="0"/>
                <a:ea typeface="Arial" pitchFamily="34" charset="-122"/>
                <a:cs typeface="Arial" pitchFamily="34" charset="-120"/>
              </a:rPr>
              <a:t>OXOT finds, qualifies and contracts the manufacturer. Your commercial relationship begins at the assessment, on your own terms and fee schedule.</a:t>
            </a:r>
            <a:endParaRPr lang="en-US" sz="863" dirty="0"/>
          </a:p>
        </p:txBody>
      </p:sp>
      <p:sp>
        <p:nvSpPr>
          <p:cNvPr id="14" name="Shape 12"/>
          <p:cNvSpPr/>
          <p:nvPr/>
        </p:nvSpPr>
        <p:spPr>
          <a:xfrm>
            <a:off x="495300" y="2552849"/>
            <a:ext cx="3333750" cy="947886"/>
          </a:xfrm>
          <a:prstGeom prst="roundRect">
            <a:avLst>
              <a:gd name="adj" fmla="val 8039"/>
            </a:avLst>
          </a:prstGeom>
          <a:solidFill>
            <a:srgbClr val="F5F8FC"/>
          </a:solidFill>
          <a:ln w="9525">
            <a:solidFill>
              <a:srgbClr val="D7E1EF"/>
            </a:solidFill>
            <a:prstDash val="solid"/>
          </a:ln>
        </p:spPr>
      </p:sp>
      <p:sp>
        <p:nvSpPr>
          <p:cNvPr id="15" name="Text 13"/>
          <p:cNvSpPr/>
          <p:nvPr/>
        </p:nvSpPr>
        <p:spPr>
          <a:xfrm>
            <a:off x="666750" y="2705249"/>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1E3A6E"/>
                </a:solidFill>
                <a:latin typeface="Arial" pitchFamily="34" charset="0"/>
                <a:ea typeface="Arial" pitchFamily="34" charset="-122"/>
                <a:cs typeface="Arial" pitchFamily="34" charset="-120"/>
              </a:rPr>
              <a:t>ASSESSOR TIME PROTECTED</a:t>
            </a:r>
            <a:endParaRPr lang="en-US" sz="675" dirty="0"/>
          </a:p>
        </p:txBody>
      </p:sp>
      <p:sp>
        <p:nvSpPr>
          <p:cNvPr id="16" name="Text 14"/>
          <p:cNvSpPr/>
          <p:nvPr/>
        </p:nvSpPr>
        <p:spPr>
          <a:xfrm>
            <a:off x="666750" y="2871936"/>
            <a:ext cx="3080576" cy="5144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3C4757"/>
                </a:solidFill>
                <a:latin typeface="Arial" pitchFamily="34" charset="0"/>
                <a:ea typeface="Arial" pitchFamily="34" charset="-122"/>
                <a:cs typeface="Arial" pitchFamily="34" charset="-120"/>
              </a:rPr>
              <a:t>Files open complete and in a familiar order. Assessment hours go to assessment rather than to chasing an SBOM or a missing CVD policy.</a:t>
            </a:r>
            <a:endParaRPr lang="en-US" sz="863" dirty="0"/>
          </a:p>
        </p:txBody>
      </p:sp>
      <p:sp>
        <p:nvSpPr>
          <p:cNvPr id="17" name="Shape 15"/>
          <p:cNvSpPr/>
          <p:nvPr/>
        </p:nvSpPr>
        <p:spPr>
          <a:xfrm>
            <a:off x="3943350" y="2552849"/>
            <a:ext cx="3333750" cy="947886"/>
          </a:xfrm>
          <a:prstGeom prst="roundRect">
            <a:avLst>
              <a:gd name="adj" fmla="val 8039"/>
            </a:avLst>
          </a:prstGeom>
          <a:solidFill>
            <a:srgbClr val="F5F8FC"/>
          </a:solidFill>
          <a:ln w="9525">
            <a:solidFill>
              <a:srgbClr val="D7E1EF"/>
            </a:solidFill>
            <a:prstDash val="solid"/>
          </a:ln>
        </p:spPr>
      </p:sp>
      <p:sp>
        <p:nvSpPr>
          <p:cNvPr id="18" name="Text 16"/>
          <p:cNvSpPr/>
          <p:nvPr/>
        </p:nvSpPr>
        <p:spPr>
          <a:xfrm>
            <a:off x="4114800" y="2705249"/>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1E3A6E"/>
                </a:solidFill>
                <a:latin typeface="Arial" pitchFamily="34" charset="0"/>
                <a:ea typeface="Arial" pitchFamily="34" charset="-122"/>
                <a:cs typeface="Arial" pitchFamily="34" charset="-120"/>
              </a:rPr>
              <a:t>SCHEDULE RISK REDUCED</a:t>
            </a:r>
            <a:endParaRPr lang="en-US" sz="675" dirty="0"/>
          </a:p>
        </p:txBody>
      </p:sp>
      <p:sp>
        <p:nvSpPr>
          <p:cNvPr id="19" name="Text 17"/>
          <p:cNvSpPr/>
          <p:nvPr/>
        </p:nvSpPr>
        <p:spPr>
          <a:xfrm>
            <a:off x="4114800" y="2871936"/>
            <a:ext cx="3080576" cy="5144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3C4757"/>
                </a:solidFill>
                <a:latin typeface="Arial" pitchFamily="34" charset="0"/>
                <a:ea typeface="Arial" pitchFamily="34" charset="-122"/>
                <a:cs typeface="Arial" pitchFamily="34" charset="-120"/>
              </a:rPr>
              <a:t>The readiness gate sits before the booking, so a slot is not consumed by a file that cannot proceed. Rework and re-submission rates fall accordingly.</a:t>
            </a:r>
            <a:endParaRPr lang="en-US" sz="863" dirty="0"/>
          </a:p>
        </p:txBody>
      </p:sp>
      <p:sp>
        <p:nvSpPr>
          <p:cNvPr id="20" name="Shape 18"/>
          <p:cNvSpPr/>
          <p:nvPr/>
        </p:nvSpPr>
        <p:spPr>
          <a:xfrm>
            <a:off x="495300" y="3615035"/>
            <a:ext cx="3333750" cy="947886"/>
          </a:xfrm>
          <a:prstGeom prst="roundRect">
            <a:avLst>
              <a:gd name="adj" fmla="val 8039"/>
            </a:avLst>
          </a:prstGeom>
          <a:solidFill>
            <a:srgbClr val="F5F8FC"/>
          </a:solidFill>
          <a:ln w="9525">
            <a:solidFill>
              <a:srgbClr val="D7E1EF"/>
            </a:solidFill>
            <a:prstDash val="solid"/>
          </a:ln>
        </p:spPr>
      </p:sp>
      <p:sp>
        <p:nvSpPr>
          <p:cNvPr id="21" name="Text 19"/>
          <p:cNvSpPr/>
          <p:nvPr/>
        </p:nvSpPr>
        <p:spPr>
          <a:xfrm>
            <a:off x="666750" y="3767435"/>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1E3A6E"/>
                </a:solidFill>
                <a:latin typeface="Arial" pitchFamily="34" charset="0"/>
                <a:ea typeface="Arial" pitchFamily="34" charset="-122"/>
                <a:cs typeface="Arial" pitchFamily="34" charset="-120"/>
              </a:rPr>
              <a:t>CAPACITY PLANNING INPUT</a:t>
            </a:r>
            <a:endParaRPr lang="en-US" sz="675" dirty="0"/>
          </a:p>
        </p:txBody>
      </p:sp>
      <p:sp>
        <p:nvSpPr>
          <p:cNvPr id="22" name="Text 20"/>
          <p:cNvSpPr/>
          <p:nvPr/>
        </p:nvSpPr>
        <p:spPr>
          <a:xfrm>
            <a:off x="666750" y="3934123"/>
            <a:ext cx="3080576" cy="5144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3C4757"/>
                </a:solidFill>
                <a:latin typeface="Arial" pitchFamily="34" charset="0"/>
                <a:ea typeface="Arial" pitchFamily="34" charset="-122"/>
                <a:cs typeface="Arial" pitchFamily="34" charset="-120"/>
              </a:rPr>
              <a:t>Pipeline by product class, module and expected date, shared on an agreed cadence — usable for resourcing, recruitment and scope-extension decisions.</a:t>
            </a:r>
            <a:endParaRPr lang="en-US" sz="863" dirty="0"/>
          </a:p>
        </p:txBody>
      </p:sp>
      <p:sp>
        <p:nvSpPr>
          <p:cNvPr id="23" name="Shape 21"/>
          <p:cNvSpPr/>
          <p:nvPr/>
        </p:nvSpPr>
        <p:spPr>
          <a:xfrm>
            <a:off x="3943350" y="3615035"/>
            <a:ext cx="3333750" cy="947886"/>
          </a:xfrm>
          <a:prstGeom prst="roundRect">
            <a:avLst>
              <a:gd name="adj" fmla="val 8039"/>
            </a:avLst>
          </a:prstGeom>
          <a:solidFill>
            <a:srgbClr val="F5F8FC"/>
          </a:solidFill>
          <a:ln w="9525">
            <a:solidFill>
              <a:srgbClr val="D7E1EF"/>
            </a:solidFill>
            <a:prstDash val="solid"/>
          </a:ln>
        </p:spPr>
      </p:sp>
      <p:sp>
        <p:nvSpPr>
          <p:cNvPr id="24" name="Text 22"/>
          <p:cNvSpPr/>
          <p:nvPr/>
        </p:nvSpPr>
        <p:spPr>
          <a:xfrm>
            <a:off x="4114800" y="3767435"/>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1E3A6E"/>
                </a:solidFill>
                <a:latin typeface="Arial" pitchFamily="34" charset="0"/>
                <a:ea typeface="Arial" pitchFamily="34" charset="-122"/>
                <a:cs typeface="Arial" pitchFamily="34" charset="-120"/>
              </a:rPr>
              <a:t>OT DEPTH BEHIND THE FILE</a:t>
            </a:r>
            <a:endParaRPr lang="en-US" sz="675" dirty="0"/>
          </a:p>
        </p:txBody>
      </p:sp>
      <p:sp>
        <p:nvSpPr>
          <p:cNvPr id="25" name="Text 23"/>
          <p:cNvSpPr/>
          <p:nvPr/>
        </p:nvSpPr>
        <p:spPr>
          <a:xfrm>
            <a:off x="4114800" y="3934123"/>
            <a:ext cx="3080576" cy="5144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3C4757"/>
                </a:solidFill>
                <a:latin typeface="Arial" pitchFamily="34" charset="0"/>
                <a:ea typeface="Arial" pitchFamily="34" charset="-122"/>
                <a:cs typeface="Arial" pitchFamily="34" charset="-120"/>
              </a:rPr>
              <a:t>Preparation is done by operational-technology engineers working to IEC 62443, so the security case is coherent before it reaches your assessors.</a:t>
            </a:r>
            <a:endParaRPr lang="en-US" sz="863" dirty="0"/>
          </a:p>
        </p:txBody>
      </p:sp>
      <p:sp>
        <p:nvSpPr>
          <p:cNvPr id="26" name="Text 24"/>
          <p:cNvSpPr/>
          <p:nvPr/>
        </p:nvSpPr>
        <p:spPr>
          <a:xfrm>
            <a:off x="495300" y="4772471"/>
            <a:ext cx="7459980" cy="152400"/>
          </a:xfrm>
          <a:prstGeom prst="rect">
            <a:avLst/>
          </a:prstGeom>
          <a:noFill/>
          <a:ln/>
        </p:spPr>
        <p:txBody>
          <a:bodyPr wrap="square" lIns="25400" tIns="25400" rIns="25400" bIns="25400" rtlCol="0" anchor="t">
            <a:normAutofit/>
          </a:bodyPr>
          <a:lstStyle/>
          <a:p>
            <a:pPr algn="l" indent="0" marL="0">
              <a:buNone/>
            </a:pPr>
            <a:r>
              <a:rPr lang="en-US" sz="788" b="1" spc="180" kern="0" dirty="0">
                <a:solidFill>
                  <a:srgbClr val="14233B"/>
                </a:solidFill>
                <a:latin typeface="Arial" pitchFamily="34" charset="0"/>
                <a:ea typeface="Arial" pitchFamily="34" charset="-122"/>
                <a:cs typeface="Arial" pitchFamily="34" charset="-120"/>
              </a:rPr>
              <a:t>WHERE THE LINE SITS</a:t>
            </a:r>
            <a:endParaRPr lang="en-US" sz="788" dirty="0"/>
          </a:p>
        </p:txBody>
      </p:sp>
      <p:sp>
        <p:nvSpPr>
          <p:cNvPr id="27" name="Shape 25"/>
          <p:cNvSpPr/>
          <p:nvPr/>
        </p:nvSpPr>
        <p:spPr>
          <a:xfrm>
            <a:off x="495300" y="4953446"/>
            <a:ext cx="400050" cy="19050"/>
          </a:xfrm>
          <a:prstGeom prst="rect">
            <a:avLst/>
          </a:prstGeom>
          <a:solidFill>
            <a:srgbClr val="FF7900"/>
          </a:solidFill>
          <a:ln/>
        </p:spPr>
      </p:sp>
      <p:sp>
        <p:nvSpPr>
          <p:cNvPr id="28" name="Shape 26"/>
          <p:cNvSpPr/>
          <p:nvPr/>
        </p:nvSpPr>
        <p:spPr>
          <a:xfrm>
            <a:off x="495300" y="5086796"/>
            <a:ext cx="3333750" cy="1181993"/>
          </a:xfrm>
          <a:prstGeom prst="roundRect">
            <a:avLst>
              <a:gd name="adj" fmla="val 6447"/>
            </a:avLst>
          </a:prstGeom>
          <a:solidFill>
            <a:srgbClr val="F7F5EF"/>
          </a:solidFill>
          <a:ln w="9525">
            <a:solidFill>
              <a:srgbClr val="E2DCCE"/>
            </a:solidFill>
            <a:prstDash val="solid"/>
          </a:ln>
        </p:spPr>
      </p:sp>
      <p:sp>
        <p:nvSpPr>
          <p:cNvPr id="29" name="Text 27"/>
          <p:cNvSpPr/>
          <p:nvPr/>
        </p:nvSpPr>
        <p:spPr>
          <a:xfrm>
            <a:off x="666750" y="5239196"/>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8A8676"/>
                </a:solidFill>
                <a:latin typeface="Arial" pitchFamily="34" charset="0"/>
                <a:ea typeface="Arial" pitchFamily="34" charset="-122"/>
                <a:cs typeface="Arial" pitchFamily="34" charset="-120"/>
              </a:rPr>
              <a:t>OXOT DOES</a:t>
            </a:r>
            <a:endParaRPr lang="en-US" sz="675" dirty="0"/>
          </a:p>
        </p:txBody>
      </p:sp>
      <p:sp>
        <p:nvSpPr>
          <p:cNvPr id="30" name="Text 28"/>
          <p:cNvSpPr/>
          <p:nvPr/>
        </p:nvSpPr>
        <p:spPr>
          <a:xfrm>
            <a:off x="666750" y="5415409"/>
            <a:ext cx="3080576" cy="739080"/>
          </a:xfrm>
          <a:prstGeom prst="rect">
            <a:avLst/>
          </a:prstGeom>
          <a:noFill/>
          <a:ln/>
        </p:spPr>
        <p:txBody>
          <a:bodyPr wrap="square" lIns="25400" tIns="25400" rIns="25400" bIns="25400" rtlCol="0" anchor="t">
            <a:normAutofit/>
          </a:bodyPr>
          <a:lstStyle/>
          <a:p>
            <a:pPr algn="l" indent="0" marL="0">
              <a:lnSpc>
                <a:spcPct val="136296"/>
              </a:lnSpc>
              <a:buNone/>
            </a:pPr>
            <a:r>
              <a:rPr lang="en-US" sz="863" dirty="0">
                <a:solidFill>
                  <a:srgbClr val="3C4757"/>
                </a:solidFill>
                <a:latin typeface="Arial" pitchFamily="34" charset="0"/>
                <a:ea typeface="Arial" pitchFamily="34" charset="-122"/>
                <a:cs typeface="Arial" pitchFamily="34" charset="-120"/>
              </a:rPr>
              <a:t>Sourcing and qualification of the manufacturer · retained readiness engagement · classification and module selection · Annex I gap closure · evidence and technical file assembly · slot scheduling · post-market PSIRT and Article 14 operations.</a:t>
            </a:r>
            <a:endParaRPr lang="en-US" sz="863" dirty="0"/>
          </a:p>
        </p:txBody>
      </p:sp>
      <p:sp>
        <p:nvSpPr>
          <p:cNvPr id="31" name="Shape 29"/>
          <p:cNvSpPr/>
          <p:nvPr/>
        </p:nvSpPr>
        <p:spPr>
          <a:xfrm>
            <a:off x="3943350" y="5086796"/>
            <a:ext cx="3333750" cy="1181993"/>
          </a:xfrm>
          <a:prstGeom prst="roundRect">
            <a:avLst>
              <a:gd name="adj" fmla="val 6447"/>
            </a:avLst>
          </a:prstGeom>
          <a:solidFill>
            <a:srgbClr val="F7F5EF"/>
          </a:solidFill>
          <a:ln w="9525">
            <a:solidFill>
              <a:srgbClr val="E2DCCE"/>
            </a:solidFill>
            <a:prstDash val="solid"/>
          </a:ln>
        </p:spPr>
      </p:sp>
      <p:sp>
        <p:nvSpPr>
          <p:cNvPr id="32" name="Text 30"/>
          <p:cNvSpPr/>
          <p:nvPr/>
        </p:nvSpPr>
        <p:spPr>
          <a:xfrm>
            <a:off x="4114800" y="5239196"/>
            <a:ext cx="3289935" cy="138113"/>
          </a:xfrm>
          <a:prstGeom prst="rect">
            <a:avLst/>
          </a:prstGeom>
          <a:noFill/>
          <a:ln/>
        </p:spPr>
        <p:txBody>
          <a:bodyPr wrap="square" lIns="25400" tIns="25400" rIns="25400" bIns="25400" rtlCol="0" anchor="t">
            <a:normAutofit/>
          </a:bodyPr>
          <a:lstStyle/>
          <a:p>
            <a:pPr algn="l" indent="0" marL="0">
              <a:buNone/>
            </a:pPr>
            <a:r>
              <a:rPr lang="en-US" sz="675" b="1" spc="135" kern="0" dirty="0">
                <a:solidFill>
                  <a:srgbClr val="8A8676"/>
                </a:solidFill>
                <a:latin typeface="Arial" pitchFamily="34" charset="0"/>
                <a:ea typeface="Arial" pitchFamily="34" charset="-122"/>
                <a:cs typeface="Arial" pitchFamily="34" charset="-120"/>
              </a:rPr>
              <a:t>THE NOTIFIED BODY DOES</a:t>
            </a:r>
            <a:endParaRPr lang="en-US" sz="675" dirty="0"/>
          </a:p>
        </p:txBody>
      </p:sp>
      <p:sp>
        <p:nvSpPr>
          <p:cNvPr id="33" name="Text 31"/>
          <p:cNvSpPr/>
          <p:nvPr/>
        </p:nvSpPr>
        <p:spPr>
          <a:xfrm>
            <a:off x="4114800" y="5415409"/>
            <a:ext cx="3080576" cy="739080"/>
          </a:xfrm>
          <a:prstGeom prst="rect">
            <a:avLst/>
          </a:prstGeom>
          <a:noFill/>
          <a:ln/>
        </p:spPr>
        <p:txBody>
          <a:bodyPr wrap="square" lIns="25400" tIns="25400" rIns="25400" bIns="25400" rtlCol="0" anchor="t">
            <a:normAutofit/>
          </a:bodyPr>
          <a:lstStyle/>
          <a:p>
            <a:pPr algn="l" indent="0" marL="0">
              <a:lnSpc>
                <a:spcPct val="136296"/>
              </a:lnSpc>
              <a:buNone/>
            </a:pPr>
            <a:r>
              <a:rPr lang="en-US" sz="863" dirty="0">
                <a:solidFill>
                  <a:srgbClr val="3C4757"/>
                </a:solidFill>
                <a:latin typeface="Arial" pitchFamily="34" charset="0"/>
                <a:ea typeface="Arial" pitchFamily="34" charset="-122"/>
                <a:cs typeface="Arial" pitchFamily="34" charset="-120"/>
              </a:rPr>
              <a:t>The conformity assessment. Review, testing and evidence collection · EU-type examination or quality system audit · findings and non-conformities · the certificate decision. Independently, and without input from us.</a:t>
            </a:r>
            <a:endParaRPr lang="en-US" sz="863" dirty="0"/>
          </a:p>
        </p:txBody>
      </p:sp>
      <p:sp>
        <p:nvSpPr>
          <p:cNvPr id="34" name="Text 32"/>
          <p:cNvSpPr/>
          <p:nvPr/>
        </p:nvSpPr>
        <p:spPr>
          <a:xfrm>
            <a:off x="495300" y="6478339"/>
            <a:ext cx="7459980" cy="152400"/>
          </a:xfrm>
          <a:prstGeom prst="rect">
            <a:avLst/>
          </a:prstGeom>
          <a:noFill/>
          <a:ln/>
        </p:spPr>
        <p:txBody>
          <a:bodyPr wrap="square" lIns="25400" tIns="25400" rIns="25400" bIns="25400" rtlCol="0" anchor="t">
            <a:normAutofit/>
          </a:bodyPr>
          <a:lstStyle/>
          <a:p>
            <a:pPr algn="l" indent="0" marL="0">
              <a:buNone/>
            </a:pPr>
            <a:r>
              <a:rPr lang="en-US" sz="788" b="1" spc="180" kern="0" dirty="0">
                <a:solidFill>
                  <a:srgbClr val="14233B"/>
                </a:solidFill>
                <a:latin typeface="Arial" pitchFamily="34" charset="0"/>
                <a:ea typeface="Arial" pitchFamily="34" charset="-122"/>
                <a:cs typeface="Arial" pitchFamily="34" charset="-120"/>
              </a:rPr>
              <a:t>BECOMING A PARTNER BENCH</a:t>
            </a:r>
            <a:endParaRPr lang="en-US" sz="788" dirty="0"/>
          </a:p>
        </p:txBody>
      </p:sp>
      <p:sp>
        <p:nvSpPr>
          <p:cNvPr id="35" name="Shape 33"/>
          <p:cNvSpPr/>
          <p:nvPr/>
        </p:nvSpPr>
        <p:spPr>
          <a:xfrm>
            <a:off x="495300" y="6659314"/>
            <a:ext cx="400050" cy="19050"/>
          </a:xfrm>
          <a:prstGeom prst="rect">
            <a:avLst/>
          </a:prstGeom>
          <a:solidFill>
            <a:srgbClr val="FF7900"/>
          </a:solidFill>
          <a:ln/>
        </p:spPr>
      </p:sp>
      <p:sp>
        <p:nvSpPr>
          <p:cNvPr id="36" name="Shape 34"/>
          <p:cNvSpPr/>
          <p:nvPr/>
        </p:nvSpPr>
        <p:spPr>
          <a:xfrm>
            <a:off x="495300" y="6792664"/>
            <a:ext cx="1643063" cy="1090761"/>
          </a:xfrm>
          <a:prstGeom prst="roundRect">
            <a:avLst>
              <a:gd name="adj" fmla="val 6986"/>
            </a:avLst>
          </a:prstGeom>
          <a:solidFill>
            <a:srgbClr val="FFFFFF"/>
          </a:solidFill>
          <a:ln/>
        </p:spPr>
      </p:sp>
      <p:sp>
        <p:nvSpPr>
          <p:cNvPr id="37" name="Shape 35"/>
          <p:cNvSpPr/>
          <p:nvPr/>
        </p:nvSpPr>
        <p:spPr>
          <a:xfrm>
            <a:off x="495300" y="7873901"/>
            <a:ext cx="1643063" cy="9525"/>
          </a:xfrm>
          <a:prstGeom prst="rect">
            <a:avLst/>
          </a:prstGeom>
          <a:solidFill>
            <a:srgbClr val="E2DCCE"/>
          </a:solidFill>
          <a:ln/>
        </p:spPr>
      </p:sp>
      <p:sp>
        <p:nvSpPr>
          <p:cNvPr id="38" name="Shape 36"/>
          <p:cNvSpPr/>
          <p:nvPr/>
        </p:nvSpPr>
        <p:spPr>
          <a:xfrm>
            <a:off x="495300" y="6792664"/>
            <a:ext cx="1643063" cy="28575"/>
          </a:xfrm>
          <a:prstGeom prst="rect">
            <a:avLst/>
          </a:prstGeom>
          <a:solidFill>
            <a:srgbClr val="FF7900"/>
          </a:solidFill>
          <a:ln/>
        </p:spPr>
      </p:sp>
      <p:sp>
        <p:nvSpPr>
          <p:cNvPr id="39" name="Shape 37"/>
          <p:cNvSpPr/>
          <p:nvPr/>
        </p:nvSpPr>
        <p:spPr>
          <a:xfrm>
            <a:off x="495300" y="6792664"/>
            <a:ext cx="9525" cy="1090761"/>
          </a:xfrm>
          <a:prstGeom prst="rect">
            <a:avLst/>
          </a:prstGeom>
          <a:solidFill>
            <a:srgbClr val="E2DCCE"/>
          </a:solidFill>
          <a:ln/>
        </p:spPr>
      </p:sp>
      <p:sp>
        <p:nvSpPr>
          <p:cNvPr id="40" name="Shape 38"/>
          <p:cNvSpPr/>
          <p:nvPr/>
        </p:nvSpPr>
        <p:spPr>
          <a:xfrm>
            <a:off x="2128838" y="6792664"/>
            <a:ext cx="9525" cy="1090761"/>
          </a:xfrm>
          <a:prstGeom prst="rect">
            <a:avLst/>
          </a:prstGeom>
          <a:solidFill>
            <a:srgbClr val="E2DCCE"/>
          </a:solidFill>
          <a:ln/>
        </p:spPr>
      </p:sp>
      <p:sp>
        <p:nvSpPr>
          <p:cNvPr id="41" name="Text 39"/>
          <p:cNvSpPr/>
          <p:nvPr/>
        </p:nvSpPr>
        <p:spPr>
          <a:xfrm>
            <a:off x="638175" y="6945064"/>
            <a:ext cx="1493044" cy="219075"/>
          </a:xfrm>
          <a:prstGeom prst="rect">
            <a:avLst/>
          </a:prstGeom>
          <a:noFill/>
          <a:ln/>
        </p:spPr>
        <p:txBody>
          <a:bodyPr wrap="square" lIns="25400" tIns="25400" rIns="25400" bIns="25400" rtlCol="0" anchor="t">
            <a:normAutofit/>
          </a:bodyPr>
          <a:lstStyle/>
          <a:p>
            <a:pPr algn="l" indent="0" marL="0">
              <a:lnSpc>
                <a:spcPct val="88372"/>
              </a:lnSpc>
              <a:buNone/>
            </a:pPr>
            <a:r>
              <a:rPr lang="en-US" sz="1425" b="1" dirty="0">
                <a:solidFill>
                  <a:srgbClr val="FF7900"/>
                </a:solidFill>
                <a:latin typeface="Georgia" pitchFamily="34" charset="0"/>
                <a:ea typeface="Georgia" pitchFamily="34" charset="-122"/>
                <a:cs typeface="Georgia" pitchFamily="34" charset="-120"/>
              </a:rPr>
              <a:t>1</a:t>
            </a:r>
            <a:endParaRPr lang="en-US" sz="1425" dirty="0"/>
          </a:p>
        </p:txBody>
      </p:sp>
      <p:sp>
        <p:nvSpPr>
          <p:cNvPr id="42" name="Text 40"/>
          <p:cNvSpPr/>
          <p:nvPr/>
        </p:nvSpPr>
        <p:spPr>
          <a:xfrm>
            <a:off x="638175" y="7183189"/>
            <a:ext cx="1493044" cy="161925"/>
          </a:xfrm>
          <a:prstGeom prst="rect">
            <a:avLst/>
          </a:prstGeom>
          <a:noFill/>
          <a:ln/>
        </p:spPr>
        <p:txBody>
          <a:bodyPr wrap="square" lIns="25400" tIns="25400" rIns="25400" bIns="25400" rtlCol="0" anchor="t">
            <a:normAutofit/>
          </a:bodyPr>
          <a:lstStyle/>
          <a:p>
            <a:pPr algn="l" indent="0" marL="0">
              <a:buNone/>
            </a:pPr>
            <a:r>
              <a:rPr lang="en-US" sz="825" b="1" dirty="0">
                <a:solidFill>
                  <a:srgbClr val="14233B"/>
                </a:solidFill>
                <a:latin typeface="Arial" pitchFamily="34" charset="0"/>
                <a:ea typeface="Arial" pitchFamily="34" charset="-122"/>
                <a:cs typeface="Arial" pitchFamily="34" charset="-120"/>
              </a:rPr>
              <a:t>Scope conversation</a:t>
            </a:r>
            <a:endParaRPr lang="en-US" sz="825" dirty="0"/>
          </a:p>
        </p:txBody>
      </p:sp>
      <p:sp>
        <p:nvSpPr>
          <p:cNvPr id="43" name="Text 41"/>
          <p:cNvSpPr/>
          <p:nvPr/>
        </p:nvSpPr>
        <p:spPr>
          <a:xfrm>
            <a:off x="638175" y="7345114"/>
            <a:ext cx="1433513" cy="443061"/>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Your designation status, product categories, modules and available capacity.</a:t>
            </a:r>
            <a:endParaRPr lang="en-US" sz="788" dirty="0"/>
          </a:p>
        </p:txBody>
      </p:sp>
      <p:sp>
        <p:nvSpPr>
          <p:cNvPr id="44" name="Shape 42"/>
          <p:cNvSpPr/>
          <p:nvPr/>
        </p:nvSpPr>
        <p:spPr>
          <a:xfrm>
            <a:off x="2214563" y="6792664"/>
            <a:ext cx="1643063" cy="1090761"/>
          </a:xfrm>
          <a:prstGeom prst="roundRect">
            <a:avLst>
              <a:gd name="adj" fmla="val 6986"/>
            </a:avLst>
          </a:prstGeom>
          <a:solidFill>
            <a:srgbClr val="FFFFFF"/>
          </a:solidFill>
          <a:ln/>
        </p:spPr>
      </p:sp>
      <p:sp>
        <p:nvSpPr>
          <p:cNvPr id="45" name="Shape 43"/>
          <p:cNvSpPr/>
          <p:nvPr/>
        </p:nvSpPr>
        <p:spPr>
          <a:xfrm>
            <a:off x="2214563" y="7873901"/>
            <a:ext cx="1643063" cy="9525"/>
          </a:xfrm>
          <a:prstGeom prst="rect">
            <a:avLst/>
          </a:prstGeom>
          <a:solidFill>
            <a:srgbClr val="E2DCCE"/>
          </a:solidFill>
          <a:ln/>
        </p:spPr>
      </p:sp>
      <p:sp>
        <p:nvSpPr>
          <p:cNvPr id="46" name="Shape 44"/>
          <p:cNvSpPr/>
          <p:nvPr/>
        </p:nvSpPr>
        <p:spPr>
          <a:xfrm>
            <a:off x="2214563" y="6792664"/>
            <a:ext cx="1643063" cy="28575"/>
          </a:xfrm>
          <a:prstGeom prst="rect">
            <a:avLst/>
          </a:prstGeom>
          <a:solidFill>
            <a:srgbClr val="FF7900"/>
          </a:solidFill>
          <a:ln/>
        </p:spPr>
      </p:sp>
      <p:sp>
        <p:nvSpPr>
          <p:cNvPr id="47" name="Shape 45"/>
          <p:cNvSpPr/>
          <p:nvPr/>
        </p:nvSpPr>
        <p:spPr>
          <a:xfrm>
            <a:off x="2214563" y="6792664"/>
            <a:ext cx="9525" cy="1090761"/>
          </a:xfrm>
          <a:prstGeom prst="rect">
            <a:avLst/>
          </a:prstGeom>
          <a:solidFill>
            <a:srgbClr val="E2DCCE"/>
          </a:solidFill>
          <a:ln/>
        </p:spPr>
      </p:sp>
      <p:sp>
        <p:nvSpPr>
          <p:cNvPr id="48" name="Shape 46"/>
          <p:cNvSpPr/>
          <p:nvPr/>
        </p:nvSpPr>
        <p:spPr>
          <a:xfrm>
            <a:off x="3848100" y="6792664"/>
            <a:ext cx="9525" cy="1090761"/>
          </a:xfrm>
          <a:prstGeom prst="rect">
            <a:avLst/>
          </a:prstGeom>
          <a:solidFill>
            <a:srgbClr val="E2DCCE"/>
          </a:solidFill>
          <a:ln/>
        </p:spPr>
      </p:sp>
      <p:sp>
        <p:nvSpPr>
          <p:cNvPr id="49" name="Text 47"/>
          <p:cNvSpPr/>
          <p:nvPr/>
        </p:nvSpPr>
        <p:spPr>
          <a:xfrm>
            <a:off x="2357438" y="6945064"/>
            <a:ext cx="1493044" cy="219075"/>
          </a:xfrm>
          <a:prstGeom prst="rect">
            <a:avLst/>
          </a:prstGeom>
          <a:noFill/>
          <a:ln/>
        </p:spPr>
        <p:txBody>
          <a:bodyPr wrap="square" lIns="25400" tIns="25400" rIns="25400" bIns="25400" rtlCol="0" anchor="t">
            <a:normAutofit/>
          </a:bodyPr>
          <a:lstStyle/>
          <a:p>
            <a:pPr algn="l" indent="0" marL="0">
              <a:lnSpc>
                <a:spcPct val="88372"/>
              </a:lnSpc>
              <a:buNone/>
            </a:pPr>
            <a:r>
              <a:rPr lang="en-US" sz="1425" b="1" dirty="0">
                <a:solidFill>
                  <a:srgbClr val="FF7900"/>
                </a:solidFill>
                <a:latin typeface="Georgia" pitchFamily="34" charset="0"/>
                <a:ea typeface="Georgia" pitchFamily="34" charset="-122"/>
                <a:cs typeface="Georgia" pitchFamily="34" charset="-120"/>
              </a:rPr>
              <a:t>2</a:t>
            </a:r>
            <a:endParaRPr lang="en-US" sz="1425" dirty="0"/>
          </a:p>
        </p:txBody>
      </p:sp>
      <p:sp>
        <p:nvSpPr>
          <p:cNvPr id="50" name="Text 48"/>
          <p:cNvSpPr/>
          <p:nvPr/>
        </p:nvSpPr>
        <p:spPr>
          <a:xfrm>
            <a:off x="2357438" y="7183189"/>
            <a:ext cx="1493044" cy="161925"/>
          </a:xfrm>
          <a:prstGeom prst="rect">
            <a:avLst/>
          </a:prstGeom>
          <a:noFill/>
          <a:ln/>
        </p:spPr>
        <p:txBody>
          <a:bodyPr wrap="square" lIns="25400" tIns="25400" rIns="25400" bIns="25400" rtlCol="0" anchor="t">
            <a:normAutofit/>
          </a:bodyPr>
          <a:lstStyle/>
          <a:p>
            <a:pPr algn="l" indent="0" marL="0">
              <a:buNone/>
            </a:pPr>
            <a:r>
              <a:rPr lang="en-US" sz="825" b="1" dirty="0">
                <a:solidFill>
                  <a:srgbClr val="14233B"/>
                </a:solidFill>
                <a:latin typeface="Arial" pitchFamily="34" charset="0"/>
                <a:ea typeface="Arial" pitchFamily="34" charset="-122"/>
                <a:cs typeface="Arial" pitchFamily="34" charset="-120"/>
              </a:rPr>
              <a:t>Manifest alignment</a:t>
            </a:r>
            <a:endParaRPr lang="en-US" sz="825" dirty="0"/>
          </a:p>
        </p:txBody>
      </p:sp>
      <p:sp>
        <p:nvSpPr>
          <p:cNvPr id="51" name="Text 49"/>
          <p:cNvSpPr/>
          <p:nvPr/>
        </p:nvSpPr>
        <p:spPr>
          <a:xfrm>
            <a:off x="2357438" y="7345114"/>
            <a:ext cx="1433513" cy="443061"/>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We adapt the packet format to your intake requirements and review checklist.</a:t>
            </a:r>
            <a:endParaRPr lang="en-US" sz="788" dirty="0"/>
          </a:p>
        </p:txBody>
      </p:sp>
      <p:sp>
        <p:nvSpPr>
          <p:cNvPr id="52" name="Shape 50"/>
          <p:cNvSpPr/>
          <p:nvPr/>
        </p:nvSpPr>
        <p:spPr>
          <a:xfrm>
            <a:off x="3933825" y="6792664"/>
            <a:ext cx="1643063" cy="1090761"/>
          </a:xfrm>
          <a:prstGeom prst="roundRect">
            <a:avLst>
              <a:gd name="adj" fmla="val 6986"/>
            </a:avLst>
          </a:prstGeom>
          <a:solidFill>
            <a:srgbClr val="FFFFFF"/>
          </a:solidFill>
          <a:ln/>
        </p:spPr>
      </p:sp>
      <p:sp>
        <p:nvSpPr>
          <p:cNvPr id="53" name="Shape 51"/>
          <p:cNvSpPr/>
          <p:nvPr/>
        </p:nvSpPr>
        <p:spPr>
          <a:xfrm>
            <a:off x="3933825" y="7873901"/>
            <a:ext cx="1643063" cy="9525"/>
          </a:xfrm>
          <a:prstGeom prst="rect">
            <a:avLst/>
          </a:prstGeom>
          <a:solidFill>
            <a:srgbClr val="E2DCCE"/>
          </a:solidFill>
          <a:ln/>
        </p:spPr>
      </p:sp>
      <p:sp>
        <p:nvSpPr>
          <p:cNvPr id="54" name="Shape 52"/>
          <p:cNvSpPr/>
          <p:nvPr/>
        </p:nvSpPr>
        <p:spPr>
          <a:xfrm>
            <a:off x="3933825" y="6792664"/>
            <a:ext cx="1643063" cy="28575"/>
          </a:xfrm>
          <a:prstGeom prst="rect">
            <a:avLst/>
          </a:prstGeom>
          <a:solidFill>
            <a:srgbClr val="FF7900"/>
          </a:solidFill>
          <a:ln/>
        </p:spPr>
      </p:sp>
      <p:sp>
        <p:nvSpPr>
          <p:cNvPr id="55" name="Shape 53"/>
          <p:cNvSpPr/>
          <p:nvPr/>
        </p:nvSpPr>
        <p:spPr>
          <a:xfrm>
            <a:off x="3933825" y="6792664"/>
            <a:ext cx="9525" cy="1090761"/>
          </a:xfrm>
          <a:prstGeom prst="rect">
            <a:avLst/>
          </a:prstGeom>
          <a:solidFill>
            <a:srgbClr val="E2DCCE"/>
          </a:solidFill>
          <a:ln/>
        </p:spPr>
      </p:sp>
      <p:sp>
        <p:nvSpPr>
          <p:cNvPr id="56" name="Shape 54"/>
          <p:cNvSpPr/>
          <p:nvPr/>
        </p:nvSpPr>
        <p:spPr>
          <a:xfrm>
            <a:off x="5567363" y="6792664"/>
            <a:ext cx="9525" cy="1090761"/>
          </a:xfrm>
          <a:prstGeom prst="rect">
            <a:avLst/>
          </a:prstGeom>
          <a:solidFill>
            <a:srgbClr val="E2DCCE"/>
          </a:solidFill>
          <a:ln/>
        </p:spPr>
      </p:sp>
      <p:sp>
        <p:nvSpPr>
          <p:cNvPr id="57" name="Text 55"/>
          <p:cNvSpPr/>
          <p:nvPr/>
        </p:nvSpPr>
        <p:spPr>
          <a:xfrm>
            <a:off x="4076700" y="6945064"/>
            <a:ext cx="1493044" cy="219075"/>
          </a:xfrm>
          <a:prstGeom prst="rect">
            <a:avLst/>
          </a:prstGeom>
          <a:noFill/>
          <a:ln/>
        </p:spPr>
        <p:txBody>
          <a:bodyPr wrap="square" lIns="25400" tIns="25400" rIns="25400" bIns="25400" rtlCol="0" anchor="t">
            <a:normAutofit/>
          </a:bodyPr>
          <a:lstStyle/>
          <a:p>
            <a:pPr algn="l" indent="0" marL="0">
              <a:lnSpc>
                <a:spcPct val="88372"/>
              </a:lnSpc>
              <a:buNone/>
            </a:pPr>
            <a:r>
              <a:rPr lang="en-US" sz="1425" b="1" dirty="0">
                <a:solidFill>
                  <a:srgbClr val="FF7900"/>
                </a:solidFill>
                <a:latin typeface="Georgia" pitchFamily="34" charset="0"/>
                <a:ea typeface="Georgia" pitchFamily="34" charset="-122"/>
                <a:cs typeface="Georgia" pitchFamily="34" charset="-120"/>
              </a:rPr>
              <a:t>3</a:t>
            </a:r>
            <a:endParaRPr lang="en-US" sz="1425" dirty="0"/>
          </a:p>
        </p:txBody>
      </p:sp>
      <p:sp>
        <p:nvSpPr>
          <p:cNvPr id="58" name="Text 56"/>
          <p:cNvSpPr/>
          <p:nvPr/>
        </p:nvSpPr>
        <p:spPr>
          <a:xfrm>
            <a:off x="4076700" y="7183189"/>
            <a:ext cx="1493044" cy="161925"/>
          </a:xfrm>
          <a:prstGeom prst="rect">
            <a:avLst/>
          </a:prstGeom>
          <a:noFill/>
          <a:ln/>
        </p:spPr>
        <p:txBody>
          <a:bodyPr wrap="square" lIns="25400" tIns="25400" rIns="25400" bIns="25400" rtlCol="0" anchor="t">
            <a:normAutofit/>
          </a:bodyPr>
          <a:lstStyle/>
          <a:p>
            <a:pPr algn="l" indent="0" marL="0">
              <a:buNone/>
            </a:pPr>
            <a:r>
              <a:rPr lang="en-US" sz="825" b="1" dirty="0">
                <a:solidFill>
                  <a:srgbClr val="14233B"/>
                </a:solidFill>
                <a:latin typeface="Arial" pitchFamily="34" charset="0"/>
                <a:ea typeface="Arial" pitchFamily="34" charset="-122"/>
                <a:cs typeface="Arial" pitchFamily="34" charset="-120"/>
              </a:rPr>
              <a:t>Pilot file</a:t>
            </a:r>
            <a:endParaRPr lang="en-US" sz="825" dirty="0"/>
          </a:p>
        </p:txBody>
      </p:sp>
      <p:sp>
        <p:nvSpPr>
          <p:cNvPr id="59" name="Text 57"/>
          <p:cNvSpPr/>
          <p:nvPr/>
        </p:nvSpPr>
        <p:spPr>
          <a:xfrm>
            <a:off x="4076700" y="7345114"/>
            <a:ext cx="1433513" cy="443061"/>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5A6473"/>
                </a:solidFill>
                <a:latin typeface="Arial" pitchFamily="34" charset="0"/>
                <a:ea typeface="Arial" pitchFamily="34" charset="-122"/>
                <a:cs typeface="Arial" pitchFamily="34" charset="-120"/>
              </a:rPr>
              <a:t>One prepared submission, assessed normally, reviewed together afterwards.</a:t>
            </a:r>
            <a:endParaRPr lang="en-US" sz="788" dirty="0"/>
          </a:p>
        </p:txBody>
      </p:sp>
      <p:sp>
        <p:nvSpPr>
          <p:cNvPr id="60" name="Shape 58"/>
          <p:cNvSpPr/>
          <p:nvPr/>
        </p:nvSpPr>
        <p:spPr>
          <a:xfrm>
            <a:off x="5653088" y="6792664"/>
            <a:ext cx="1624013" cy="1090761"/>
          </a:xfrm>
          <a:prstGeom prst="roundRect">
            <a:avLst>
              <a:gd name="adj" fmla="val 6986"/>
            </a:avLst>
          </a:prstGeom>
          <a:solidFill>
            <a:srgbClr val="14233B"/>
          </a:solidFill>
          <a:ln/>
        </p:spPr>
      </p:sp>
      <p:sp>
        <p:nvSpPr>
          <p:cNvPr id="61" name="Text 59"/>
          <p:cNvSpPr/>
          <p:nvPr/>
        </p:nvSpPr>
        <p:spPr>
          <a:xfrm>
            <a:off x="5786438" y="6916489"/>
            <a:ext cx="1493044" cy="219075"/>
          </a:xfrm>
          <a:prstGeom prst="rect">
            <a:avLst/>
          </a:prstGeom>
          <a:noFill/>
          <a:ln/>
        </p:spPr>
        <p:txBody>
          <a:bodyPr wrap="square" lIns="25400" tIns="25400" rIns="25400" bIns="25400" rtlCol="0" anchor="t">
            <a:normAutofit/>
          </a:bodyPr>
          <a:lstStyle/>
          <a:p>
            <a:pPr algn="l" indent="0" marL="0">
              <a:lnSpc>
                <a:spcPct val="88372"/>
              </a:lnSpc>
              <a:buNone/>
            </a:pPr>
            <a:r>
              <a:rPr lang="en-US" sz="1425" b="1" dirty="0">
                <a:solidFill>
                  <a:srgbClr val="FF9B3D"/>
                </a:solidFill>
                <a:latin typeface="Georgia" pitchFamily="34" charset="0"/>
                <a:ea typeface="Georgia" pitchFamily="34" charset="-122"/>
                <a:cs typeface="Georgia" pitchFamily="34" charset="-120"/>
              </a:rPr>
              <a:t>4</a:t>
            </a:r>
            <a:endParaRPr lang="en-US" sz="1425" dirty="0"/>
          </a:p>
        </p:txBody>
      </p:sp>
      <p:sp>
        <p:nvSpPr>
          <p:cNvPr id="62" name="Text 60"/>
          <p:cNvSpPr/>
          <p:nvPr/>
        </p:nvSpPr>
        <p:spPr>
          <a:xfrm>
            <a:off x="5786438" y="7154614"/>
            <a:ext cx="1493044" cy="161925"/>
          </a:xfrm>
          <a:prstGeom prst="rect">
            <a:avLst/>
          </a:prstGeom>
          <a:noFill/>
          <a:ln/>
        </p:spPr>
        <p:txBody>
          <a:bodyPr wrap="square" lIns="25400" tIns="25400" rIns="25400" bIns="25400" rtlCol="0" anchor="t">
            <a:normAutofit/>
          </a:bodyPr>
          <a:lstStyle/>
          <a:p>
            <a:pPr algn="l" indent="0" marL="0">
              <a:buNone/>
            </a:pPr>
            <a:r>
              <a:rPr lang="en-US" sz="825" b="1" dirty="0">
                <a:solidFill>
                  <a:srgbClr val="FFFFFF"/>
                </a:solidFill>
                <a:latin typeface="Arial" pitchFamily="34" charset="0"/>
                <a:ea typeface="Arial" pitchFamily="34" charset="-122"/>
                <a:cs typeface="Arial" pitchFamily="34" charset="-120"/>
              </a:rPr>
              <a:t>Referral agreement</a:t>
            </a:r>
            <a:endParaRPr lang="en-US" sz="825" dirty="0"/>
          </a:p>
        </p:txBody>
      </p:sp>
      <p:sp>
        <p:nvSpPr>
          <p:cNvPr id="63" name="Text 61"/>
          <p:cNvSpPr/>
          <p:nvPr/>
        </p:nvSpPr>
        <p:spPr>
          <a:xfrm>
            <a:off x="5786438" y="7316539"/>
            <a:ext cx="1433513" cy="443061"/>
          </a:xfrm>
          <a:prstGeom prst="rect">
            <a:avLst/>
          </a:prstGeom>
          <a:noFill/>
          <a:ln/>
        </p:spPr>
        <p:txBody>
          <a:bodyPr wrap="square" lIns="25400" tIns="25400" rIns="25400" bIns="25400" rtlCol="0" anchor="t">
            <a:normAutofit/>
          </a:bodyPr>
          <a:lstStyle/>
          <a:p>
            <a:pPr algn="l" indent="0" marL="0">
              <a:lnSpc>
                <a:spcPct val="118125"/>
              </a:lnSpc>
              <a:buNone/>
            </a:pPr>
            <a:r>
              <a:rPr lang="en-US" sz="788" dirty="0">
                <a:solidFill>
                  <a:srgbClr val="B6C2D6"/>
                </a:solidFill>
                <a:latin typeface="Arial" pitchFamily="34" charset="0"/>
                <a:ea typeface="Arial" pitchFamily="34" charset="-122"/>
                <a:cs typeface="Arial" pitchFamily="34" charset="-120"/>
              </a:rPr>
              <a:t>Capacity commitment, booking horizon and pipeline reporting cadence.</a:t>
            </a:r>
            <a:endParaRPr lang="en-US" sz="788" dirty="0"/>
          </a:p>
        </p:txBody>
      </p:sp>
      <p:sp>
        <p:nvSpPr>
          <p:cNvPr id="64" name="Shape 62"/>
          <p:cNvSpPr/>
          <p:nvPr/>
        </p:nvSpPr>
        <p:spPr>
          <a:xfrm>
            <a:off x="495300" y="8131597"/>
            <a:ext cx="6781800" cy="1269578"/>
          </a:xfrm>
          <a:prstGeom prst="roundRect">
            <a:avLst>
              <a:gd name="adj" fmla="val 7502"/>
            </a:avLst>
          </a:prstGeom>
          <a:solidFill>
            <a:srgbClr val="14233B"/>
          </a:solidFill>
          <a:ln/>
        </p:spPr>
      </p:sp>
      <p:sp>
        <p:nvSpPr>
          <p:cNvPr id="65" name="Shape 63"/>
          <p:cNvSpPr/>
          <p:nvPr/>
        </p:nvSpPr>
        <p:spPr>
          <a:xfrm>
            <a:off x="495300" y="8131597"/>
            <a:ext cx="47625" cy="1269578"/>
          </a:xfrm>
          <a:prstGeom prst="rect">
            <a:avLst/>
          </a:prstGeom>
          <a:solidFill>
            <a:srgbClr val="FF7900"/>
          </a:solidFill>
          <a:ln/>
        </p:spPr>
      </p:sp>
      <p:sp>
        <p:nvSpPr>
          <p:cNvPr id="66" name="Text 64"/>
          <p:cNvSpPr/>
          <p:nvPr/>
        </p:nvSpPr>
        <p:spPr>
          <a:xfrm>
            <a:off x="762000" y="8360197"/>
            <a:ext cx="4593483" cy="138113"/>
          </a:xfrm>
          <a:prstGeom prst="rect">
            <a:avLst/>
          </a:prstGeom>
          <a:noFill/>
          <a:ln/>
        </p:spPr>
        <p:txBody>
          <a:bodyPr wrap="square" lIns="25400" tIns="25400" rIns="25400" bIns="25400" rtlCol="0" anchor="t">
            <a:normAutofit/>
          </a:bodyPr>
          <a:lstStyle/>
          <a:p>
            <a:pPr algn="l" indent="0" marL="0">
              <a:buNone/>
            </a:pPr>
            <a:r>
              <a:rPr lang="en-US" sz="675" b="1" spc="180" kern="0" dirty="0">
                <a:solidFill>
                  <a:srgbClr val="FF9B3D"/>
                </a:solidFill>
                <a:latin typeface="Arial" pitchFamily="34" charset="0"/>
                <a:ea typeface="Arial" pitchFamily="34" charset="-122"/>
                <a:cs typeface="Arial" pitchFamily="34" charset="-120"/>
              </a:rPr>
              <a:t>NEXT STEP</a:t>
            </a:r>
            <a:endParaRPr lang="en-US" sz="675" dirty="0"/>
          </a:p>
        </p:txBody>
      </p:sp>
      <p:sp>
        <p:nvSpPr>
          <p:cNvPr id="67" name="Text 65"/>
          <p:cNvSpPr/>
          <p:nvPr/>
        </p:nvSpPr>
        <p:spPr>
          <a:xfrm>
            <a:off x="762000" y="8526884"/>
            <a:ext cx="4593483" cy="289992"/>
          </a:xfrm>
          <a:prstGeom prst="rect">
            <a:avLst/>
          </a:prstGeom>
          <a:noFill/>
          <a:ln/>
        </p:spPr>
        <p:txBody>
          <a:bodyPr wrap="square" lIns="25400" tIns="25400" rIns="25400" bIns="25400" rtlCol="0" anchor="t">
            <a:normAutofit/>
          </a:bodyPr>
          <a:lstStyle/>
          <a:p>
            <a:pPr algn="l" indent="0" marL="0">
              <a:lnSpc>
                <a:spcPct val="101731"/>
              </a:lnSpc>
              <a:buNone/>
            </a:pPr>
            <a:r>
              <a:rPr lang="en-US" sz="1725" b="1" dirty="0">
                <a:solidFill>
                  <a:srgbClr val="FFFFFF"/>
                </a:solidFill>
                <a:latin typeface="Georgia" pitchFamily="34" charset="0"/>
                <a:ea typeface="Georgia" pitchFamily="34" charset="-122"/>
                <a:cs typeface="Georgia" pitchFamily="34" charset="-120"/>
              </a:rPr>
              <a:t>Let us show you a prepared file.</a:t>
            </a:r>
            <a:endParaRPr lang="en-US" sz="1725" dirty="0"/>
          </a:p>
        </p:txBody>
      </p:sp>
      <p:sp>
        <p:nvSpPr>
          <p:cNvPr id="68" name="Text 66"/>
          <p:cNvSpPr/>
          <p:nvPr/>
        </p:nvSpPr>
        <p:spPr>
          <a:xfrm>
            <a:off x="762000" y="8854976"/>
            <a:ext cx="4301171" cy="355699"/>
          </a:xfrm>
          <a:prstGeom prst="rect">
            <a:avLst/>
          </a:prstGeom>
          <a:noFill/>
          <a:ln/>
        </p:spPr>
        <p:txBody>
          <a:bodyPr wrap="square" lIns="25400" tIns="25400" rIns="25400" bIns="25400" rtlCol="0" anchor="t">
            <a:normAutofit/>
          </a:bodyPr>
          <a:lstStyle/>
          <a:p>
            <a:pPr algn="l" indent="0" marL="0">
              <a:lnSpc>
                <a:spcPct val="123519"/>
              </a:lnSpc>
              <a:buNone/>
            </a:pPr>
            <a:r>
              <a:rPr lang="en-US" sz="863" dirty="0">
                <a:solidFill>
                  <a:srgbClr val="B6C2D6"/>
                </a:solidFill>
                <a:latin typeface="Arial" pitchFamily="34" charset="0"/>
                <a:ea typeface="Arial" pitchFamily="34" charset="-122"/>
                <a:cs typeface="Arial" pitchFamily="34" charset="-120"/>
              </a:rPr>
              <a:t>A 30-minute session walks a completed handover packet end to end, so you can judge it against your own intake checklist before any commitment.</a:t>
            </a:r>
            <a:endParaRPr lang="en-US" sz="863" dirty="0"/>
          </a:p>
        </p:txBody>
      </p:sp>
      <p:sp>
        <p:nvSpPr>
          <p:cNvPr id="69" name="Shape 67"/>
          <p:cNvSpPr/>
          <p:nvPr/>
        </p:nvSpPr>
        <p:spPr>
          <a:xfrm>
            <a:off x="5166494" y="8449642"/>
            <a:ext cx="1843906" cy="395288"/>
          </a:xfrm>
          <a:prstGeom prst="roundRect">
            <a:avLst>
              <a:gd name="adj" fmla="val 19277"/>
            </a:avLst>
          </a:prstGeom>
          <a:solidFill>
            <a:srgbClr val="FF7900"/>
          </a:solidFill>
          <a:ln/>
        </p:spPr>
      </p:sp>
      <p:sp>
        <p:nvSpPr>
          <p:cNvPr id="70" name="Text 68"/>
          <p:cNvSpPr/>
          <p:nvPr/>
        </p:nvSpPr>
        <p:spPr>
          <a:xfrm>
            <a:off x="5299844" y="8573467"/>
            <a:ext cx="1501006" cy="185738"/>
          </a:xfrm>
          <a:prstGeom prst="rect">
            <a:avLst/>
          </a:prstGeom>
          <a:noFill/>
          <a:ln/>
        </p:spPr>
        <p:txBody>
          <a:bodyPr wrap="none" lIns="25400" tIns="25400" rIns="25400" bIns="25400" rtlCol="0" anchor="t">
            <a:normAutofit/>
          </a:bodyPr>
          <a:lstStyle/>
          <a:p>
            <a:pPr algn="r" indent="0" marL="0">
              <a:buNone/>
            </a:pPr>
            <a:r>
              <a:rPr lang="en-US" sz="975" b="1" dirty="0">
                <a:solidFill>
                  <a:srgbClr val="14233B"/>
                </a:solidFill>
                <a:latin typeface="Arial" pitchFamily="34" charset="0"/>
                <a:ea typeface="Arial" pitchFamily="34" charset="-122"/>
                <a:cs typeface="Arial" pitchFamily="34" charset="-120"/>
              </a:rPr>
              <a:t>Arrange a partner session</a:t>
            </a:r>
            <a:endParaRPr lang="en-US" sz="975" dirty="0"/>
          </a:p>
        </p:txBody>
      </p:sp>
      <p:sp>
        <p:nvSpPr>
          <p:cNvPr id="71" name="Text 69"/>
          <p:cNvSpPr/>
          <p:nvPr/>
        </p:nvSpPr>
        <p:spPr>
          <a:xfrm>
            <a:off x="4982103" y="8949705"/>
            <a:ext cx="2028297" cy="171450"/>
          </a:xfrm>
          <a:prstGeom prst="rect">
            <a:avLst/>
          </a:prstGeom>
          <a:noFill/>
          <a:ln/>
        </p:spPr>
        <p:txBody>
          <a:bodyPr wrap="square" lIns="25400" tIns="25400" rIns="25400" bIns="25400" rtlCol="0" anchor="t">
            <a:normAutofit/>
          </a:bodyPr>
          <a:lstStyle/>
          <a:p>
            <a:pPr algn="r" indent="0" marL="0">
              <a:buNone/>
            </a:pPr>
            <a:r>
              <a:rPr lang="en-US" sz="900" b="1" dirty="0">
                <a:solidFill>
                  <a:srgbClr val="FFFFFF"/>
                </a:solidFill>
                <a:latin typeface="Arial" pitchFamily="34" charset="0"/>
                <a:ea typeface="Arial" pitchFamily="34" charset="-122"/>
                <a:cs typeface="Arial" pitchFamily="34" charset="-120"/>
              </a:rPr>
              <a:t>vincent@oxot.nl</a:t>
            </a:r>
            <a:endParaRPr lang="en-US" sz="900" dirty="0"/>
          </a:p>
        </p:txBody>
      </p:sp>
      <p:sp>
        <p:nvSpPr>
          <p:cNvPr id="72" name="Shape 70"/>
          <p:cNvSpPr/>
          <p:nvPr/>
        </p:nvSpPr>
        <p:spPr>
          <a:xfrm>
            <a:off x="495300" y="9525000"/>
            <a:ext cx="6781800" cy="9525"/>
          </a:xfrm>
          <a:prstGeom prst="rect">
            <a:avLst/>
          </a:prstGeom>
          <a:solidFill>
            <a:srgbClr val="E2DCCE"/>
          </a:solidFill>
          <a:ln/>
        </p:spPr>
      </p:sp>
      <p:sp>
        <p:nvSpPr>
          <p:cNvPr id="73" name="Text 71"/>
          <p:cNvSpPr/>
          <p:nvPr/>
        </p:nvSpPr>
        <p:spPr>
          <a:xfrm>
            <a:off x="495300" y="9620250"/>
            <a:ext cx="3010562"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Summarises Regulation (EU) 2024/2847 for orientation; not legal advice.</a:t>
            </a:r>
            <a:endParaRPr lang="en-US" sz="675" dirty="0"/>
          </a:p>
        </p:txBody>
      </p:sp>
      <p:sp>
        <p:nvSpPr>
          <p:cNvPr id="74" name="Text 72"/>
          <p:cNvSpPr/>
          <p:nvPr/>
        </p:nvSpPr>
        <p:spPr>
          <a:xfrm>
            <a:off x="6801445" y="9620250"/>
            <a:ext cx="551855" cy="133350"/>
          </a:xfrm>
          <a:prstGeom prst="rect">
            <a:avLst/>
          </a:prstGeom>
          <a:noFill/>
          <a:ln/>
        </p:spPr>
        <p:txBody>
          <a:bodyPr wrap="square" lIns="25400" tIns="25400" rIns="25400" bIns="25400" rtlCol="0" anchor="t">
            <a:normAutofit/>
          </a:bodyPr>
          <a:lstStyle/>
          <a:p>
            <a:pPr algn="l" indent="0" marL="0">
              <a:buNone/>
            </a:pPr>
            <a:r>
              <a:rPr lang="en-US" sz="675" dirty="0">
                <a:solidFill>
                  <a:srgbClr val="8A8676"/>
                </a:solidFill>
                <a:latin typeface="Arial" pitchFamily="34" charset="0"/>
                <a:ea typeface="Arial" pitchFamily="34" charset="-122"/>
                <a:cs typeface="Arial" pitchFamily="34" charset="-120"/>
              </a:rPr>
              <a:t>oxot.nl · 4 / 4</a:t>
            </a:r>
            <a:endParaRPr lang="en-US" sz="6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2026-08-06T21:00:01Z</dcterms:created>
  <dcterms:modified xsi:type="dcterms:W3CDTF">2026-08-06T21:00:01Z</dcterms:modified>
</cp:coreProperties>
</file>